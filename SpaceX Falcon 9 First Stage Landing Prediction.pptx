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3.xml" ContentType="application/vnd.openxmlformats-officedocument.presentationml.tags+xml"/>
  <Override PartName="/ppt/notesSlides/notesSlide7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8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8"/>
  </p:notesMasterIdLst>
  <p:sldIdLst>
    <p:sldId id="256" r:id="rId5"/>
    <p:sldId id="257" r:id="rId6"/>
    <p:sldId id="258" r:id="rId7"/>
    <p:sldId id="259" r:id="rId8"/>
    <p:sldId id="260" r:id="rId9"/>
    <p:sldId id="261" r:id="rId10"/>
    <p:sldId id="278" r:id="rId11"/>
    <p:sldId id="283" r:id="rId12"/>
    <p:sldId id="277" r:id="rId13"/>
    <p:sldId id="284" r:id="rId14"/>
    <p:sldId id="285" r:id="rId15"/>
    <p:sldId id="286" r:id="rId16"/>
    <p:sldId id="281" r:id="rId17"/>
    <p:sldId id="280" r:id="rId18"/>
    <p:sldId id="287" r:id="rId19"/>
    <p:sldId id="263" r:id="rId20"/>
    <p:sldId id="264" r:id="rId21"/>
    <p:sldId id="282" r:id="rId22"/>
    <p:sldId id="265" r:id="rId23"/>
    <p:sldId id="266" r:id="rId24"/>
    <p:sldId id="270" r:id="rId25"/>
    <p:sldId id="272" r:id="rId26"/>
    <p:sldId id="273" r:id="rId27"/>
  </p:sldIdLst>
  <p:sldSz cx="12192000" cy="6858000"/>
  <p:notesSz cx="6858000" cy="1857375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33B1FF"/>
    <a:srgbClr val="007D79"/>
    <a:srgbClr val="D02670"/>
    <a:srgbClr val="231F20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1480" autoAdjust="0"/>
  </p:normalViewPr>
  <p:slideViewPr>
    <p:cSldViewPr snapToGrid="0">
      <p:cViewPr varScale="1">
        <p:scale>
          <a:sx n="73" d="100"/>
          <a:sy n="73" d="100"/>
        </p:scale>
        <p:origin x="43" y="226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commentAuthors" Target="commentAuthors.xml"/><Relationship Id="rId35" Type="http://schemas.microsoft.com/office/2018/10/relationships/authors" Target="authors.xml"/><Relationship Id="rId8" Type="http://schemas.openxmlformats.org/officeDocument/2006/relationships/slide" Target="slides/slide4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910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6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10.png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168401"/>
            <a:ext cx="7184719" cy="13207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r>
              <a:rPr lang="en-IN" sz="1800" b="1" dirty="0"/>
              <a:t>01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Executive Summary</a:t>
            </a:r>
          </a:p>
          <a:p>
            <a:r>
              <a:rPr lang="en-US" sz="2200" dirty="0"/>
              <a:t>Introduction</a:t>
            </a:r>
          </a:p>
          <a:p>
            <a:r>
              <a:rPr lang="en-US" sz="2200" dirty="0"/>
              <a:t>Methodology</a:t>
            </a:r>
          </a:p>
          <a:p>
            <a:r>
              <a:rPr lang="en-US" sz="2200" dirty="0"/>
              <a:t>Results</a:t>
            </a:r>
          </a:p>
          <a:p>
            <a:pPr lvl="1"/>
            <a:r>
              <a:rPr lang="en-US" sz="1800" dirty="0"/>
              <a:t>Visualization – Charts</a:t>
            </a:r>
          </a:p>
          <a:p>
            <a:pPr lvl="1"/>
            <a:r>
              <a:rPr lang="en-US" sz="1800" dirty="0"/>
              <a:t>Dashboard</a:t>
            </a:r>
          </a:p>
          <a:p>
            <a:r>
              <a:rPr lang="en-US" sz="2200" dirty="0"/>
              <a:t>Discussion</a:t>
            </a:r>
          </a:p>
          <a:p>
            <a:pPr lvl="1"/>
            <a:r>
              <a:rPr lang="en-US" sz="1800" dirty="0"/>
              <a:t>Findings &amp; Implications</a:t>
            </a:r>
          </a:p>
          <a:p>
            <a:r>
              <a:rPr lang="en-US" sz="2200" dirty="0"/>
              <a:t>Conclusion</a:t>
            </a:r>
          </a:p>
          <a:p>
            <a:r>
              <a:rPr lang="en-US" sz="2200" dirty="0"/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285075" y="1825624"/>
            <a:ext cx="7906925" cy="4465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b="1" dirty="0"/>
              <a:t>Objective:</a:t>
            </a:r>
            <a:r>
              <a:rPr lang="en-IN" sz="2000" dirty="0"/>
              <a:t> Predict Falcon 9 first stage landing success using historical launch data.</a:t>
            </a:r>
          </a:p>
          <a:p>
            <a:r>
              <a:rPr lang="en-IN" sz="2000" b="1" dirty="0"/>
              <a:t>Data Sources:</a:t>
            </a:r>
            <a:r>
              <a:rPr lang="en-IN" sz="2000" dirty="0"/>
              <a:t> SpaceX REST API and Wikipedia. </a:t>
            </a:r>
          </a:p>
          <a:p>
            <a:r>
              <a:rPr lang="en-IN" sz="2000" b="1" dirty="0"/>
              <a:t>Data Preparation:</a:t>
            </a:r>
            <a:r>
              <a:rPr lang="en-IN" sz="2000" dirty="0"/>
              <a:t> Cleaned, merged and transformed the dataset.</a:t>
            </a:r>
          </a:p>
          <a:p>
            <a:r>
              <a:rPr lang="en-IN" sz="2000" b="1" dirty="0"/>
              <a:t>Analysis:</a:t>
            </a:r>
            <a:r>
              <a:rPr lang="en-IN" sz="2000" dirty="0"/>
              <a:t> EDA, SQL, Folium maps and Plotly Dash dashboard.</a:t>
            </a:r>
          </a:p>
          <a:p>
            <a:r>
              <a:rPr lang="en-IN" sz="2000" b="1" dirty="0"/>
              <a:t>Predictive Modeling:</a:t>
            </a:r>
            <a:r>
              <a:rPr lang="en-IN" sz="2000" dirty="0"/>
              <a:t> Built classification models and evaluated their performance.</a:t>
            </a:r>
          </a:p>
          <a:p>
            <a:r>
              <a:rPr lang="en-IN" sz="2000" dirty="0"/>
              <a:t> </a:t>
            </a:r>
            <a:r>
              <a:rPr lang="en-IN" sz="2000" b="1" dirty="0"/>
              <a:t>Key Outcome:</a:t>
            </a:r>
            <a:r>
              <a:rPr lang="en-IN" sz="2000" dirty="0"/>
              <a:t> Identified factors affecting landing success and achieved accurate predictions.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94" y="2302762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>
                <a:solidFill>
                  <a:schemeClr val="tx1">
                    <a:lumMod val="90000"/>
                    <a:lumOff val="10000"/>
                  </a:schemeClr>
                </a:solidFill>
              </a:rPr>
              <a:t>Project Background:</a:t>
            </a:r>
            <a:r>
              <a:rPr lang="en-IN" sz="24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SpaceX reduces launch costs by reusing Falcon 9 first-stage boosters.</a:t>
            </a:r>
          </a:p>
          <a:p>
            <a:r>
              <a:rPr lang="en-IN" sz="2400" b="1" dirty="0">
                <a:solidFill>
                  <a:schemeClr val="tx1">
                    <a:lumMod val="90000"/>
                    <a:lumOff val="10000"/>
                  </a:schemeClr>
                </a:solidFill>
              </a:rPr>
              <a:t>Business Problem:</a:t>
            </a:r>
            <a:r>
              <a:rPr lang="en-IN" sz="24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Predict whether the Falcon 9 first-stage landing will be successful before launch.</a:t>
            </a:r>
          </a:p>
          <a:p>
            <a:r>
              <a:rPr lang="en-IN" sz="2400" b="1" dirty="0">
                <a:solidFill>
                  <a:schemeClr val="bg1">
                    <a:lumMod val="50000"/>
                  </a:schemeClr>
                </a:solidFill>
              </a:rPr>
              <a:t>Project Objective:</a:t>
            </a:r>
            <a:r>
              <a:rPr lang="en-IN" sz="2400" dirty="0">
                <a:solidFill>
                  <a:schemeClr val="bg1">
                    <a:lumMod val="50000"/>
                  </a:schemeClr>
                </a:solidFill>
              </a:rPr>
              <a:t> Build and evaluate a machine learning classification model using historical SpaceX launch data.</a:t>
            </a:r>
          </a:p>
          <a:p>
            <a:r>
              <a:rPr lang="en-IN" sz="2400" b="1" dirty="0">
                <a:solidFill>
                  <a:schemeClr val="tx1">
                    <a:lumMod val="90000"/>
                    <a:lumOff val="10000"/>
                  </a:schemeClr>
                </a:solidFill>
              </a:rPr>
              <a:t>Dataset:</a:t>
            </a:r>
            <a:br>
              <a:rPr lang="en-IN" sz="2400" dirty="0">
                <a:solidFill>
                  <a:schemeClr val="tx1">
                    <a:lumMod val="90000"/>
                    <a:lumOff val="10000"/>
                  </a:schemeClr>
                </a:solidFill>
              </a:rPr>
            </a:br>
            <a:r>
              <a:rPr lang="en-IN" sz="24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    • SpaceX REST API</a:t>
            </a:r>
            <a:br>
              <a:rPr lang="en-IN" sz="2400" dirty="0">
                <a:solidFill>
                  <a:schemeClr val="tx1">
                    <a:lumMod val="90000"/>
                    <a:lumOff val="10000"/>
                  </a:schemeClr>
                </a:solidFill>
              </a:rPr>
            </a:br>
            <a:r>
              <a:rPr lang="en-IN" sz="24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    • Wikipedia launch records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400" b="1" dirty="0"/>
              <a:t>Data Collection:</a:t>
            </a:r>
            <a:r>
              <a:rPr lang="en-IN" sz="2400" dirty="0"/>
              <a:t> </a:t>
            </a:r>
          </a:p>
          <a:p>
            <a:pPr lvl="1"/>
            <a:r>
              <a:rPr lang="en-IN" sz="2000" dirty="0"/>
              <a:t>Collected launch data from </a:t>
            </a:r>
            <a:r>
              <a:rPr lang="en-IN" sz="2000" b="1" dirty="0"/>
              <a:t>SpaceX REST API</a:t>
            </a:r>
            <a:r>
              <a:rPr lang="en-IN" sz="2000" dirty="0"/>
              <a:t> </a:t>
            </a:r>
          </a:p>
          <a:p>
            <a:pPr lvl="1"/>
            <a:r>
              <a:rPr lang="en-IN" sz="2000" dirty="0"/>
              <a:t>Retrieved launch records from </a:t>
            </a:r>
            <a:r>
              <a:rPr lang="en-IN" sz="2000" b="1" dirty="0"/>
              <a:t>Wikipedia</a:t>
            </a:r>
            <a:r>
              <a:rPr lang="en-IN" sz="2000" dirty="0"/>
              <a:t> </a:t>
            </a:r>
          </a:p>
          <a:p>
            <a:r>
              <a:rPr lang="en-IN" sz="2400" b="1" dirty="0"/>
              <a:t>Data Wrangling:</a:t>
            </a:r>
            <a:r>
              <a:rPr lang="en-IN" sz="2400" dirty="0"/>
              <a:t> </a:t>
            </a:r>
          </a:p>
          <a:p>
            <a:pPr lvl="1"/>
            <a:r>
              <a:rPr lang="en-IN" sz="2000" dirty="0"/>
              <a:t>Cleaned missing values </a:t>
            </a:r>
          </a:p>
          <a:p>
            <a:pPr lvl="1"/>
            <a:r>
              <a:rPr lang="en-IN" sz="2000" dirty="0"/>
              <a:t>Merged datasets and selected relevant features </a:t>
            </a:r>
          </a:p>
          <a:p>
            <a:r>
              <a:rPr lang="en-IN" sz="2400" b="1" dirty="0"/>
              <a:t>Exploratory Data Analysis (EDA):</a:t>
            </a:r>
            <a:r>
              <a:rPr lang="en-IN" sz="2400" dirty="0"/>
              <a:t> </a:t>
            </a:r>
          </a:p>
          <a:p>
            <a:pPr lvl="1"/>
            <a:r>
              <a:rPr lang="en-IN" sz="2000" dirty="0"/>
              <a:t>Performed data visualization using </a:t>
            </a:r>
            <a:r>
              <a:rPr lang="en-IN" sz="2000" b="1" dirty="0"/>
              <a:t>Matplotlib</a:t>
            </a:r>
            <a:r>
              <a:rPr lang="en-IN" sz="2000" dirty="0"/>
              <a:t> and </a:t>
            </a:r>
            <a:r>
              <a:rPr lang="en-IN" sz="2000" b="1" dirty="0"/>
              <a:t>Seaborn</a:t>
            </a:r>
            <a:r>
              <a:rPr lang="en-IN" sz="2000" dirty="0"/>
              <a:t> </a:t>
            </a:r>
          </a:p>
          <a:p>
            <a:pPr lvl="1"/>
            <a:r>
              <a:rPr lang="en-IN" sz="2000" dirty="0"/>
              <a:t>Analyzed factors affecting landing success</a:t>
            </a:r>
          </a:p>
          <a:p>
            <a:r>
              <a:rPr lang="en-IN" sz="2400" b="1" dirty="0"/>
              <a:t>Interactive Analysis:</a:t>
            </a:r>
            <a:r>
              <a:rPr lang="en-IN" sz="2400" dirty="0"/>
              <a:t> </a:t>
            </a:r>
          </a:p>
          <a:p>
            <a:pPr lvl="1"/>
            <a:r>
              <a:rPr lang="en-IN" sz="2000" dirty="0"/>
              <a:t>Executed </a:t>
            </a:r>
            <a:r>
              <a:rPr lang="en-IN" sz="2000" b="1" dirty="0"/>
              <a:t>SQL queries</a:t>
            </a:r>
            <a:r>
              <a:rPr lang="en-IN" sz="2000" dirty="0"/>
              <a:t> for data exploration </a:t>
            </a:r>
          </a:p>
          <a:p>
            <a:pPr lvl="1"/>
            <a:r>
              <a:rPr lang="en-IN" sz="2000" dirty="0"/>
              <a:t>Created </a:t>
            </a:r>
            <a:r>
              <a:rPr lang="en-IN" sz="2000" b="1" dirty="0"/>
              <a:t>Folium maps</a:t>
            </a:r>
            <a:r>
              <a:rPr lang="en-IN" sz="2000" dirty="0"/>
              <a:t> and </a:t>
            </a:r>
            <a:r>
              <a:rPr lang="en-IN" sz="2000" b="1" dirty="0"/>
              <a:t>Plotly Dash dashboard</a:t>
            </a:r>
            <a:r>
              <a:rPr lang="en-IN" sz="2000" dirty="0"/>
              <a:t> </a:t>
            </a:r>
          </a:p>
          <a:p>
            <a:r>
              <a:rPr lang="en-IN" sz="2400" b="1" dirty="0"/>
              <a:t>Predictive Modeling:</a:t>
            </a:r>
            <a:r>
              <a:rPr lang="en-IN" sz="2400" dirty="0"/>
              <a:t> </a:t>
            </a:r>
          </a:p>
          <a:p>
            <a:pPr lvl="1"/>
            <a:r>
              <a:rPr lang="en-IN" sz="2000" dirty="0"/>
              <a:t>Built classification models </a:t>
            </a:r>
          </a:p>
          <a:p>
            <a:pPr lvl="1"/>
            <a:r>
              <a:rPr lang="en-IN" sz="2000" dirty="0"/>
              <a:t>Evaluated models and selected the best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746234" y="1536174"/>
            <a:ext cx="1060756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/>
              <a:t>EDA and machine learning analyses were performed on historical Falcon 9 launch data. </a:t>
            </a:r>
          </a:p>
          <a:p>
            <a:pPr lvl="0"/>
            <a:r>
              <a:rPr lang="en-IN" sz="2400" dirty="0"/>
              <a:t>Landing success was influenced by </a:t>
            </a:r>
            <a:r>
              <a:rPr lang="en-IN" sz="2400" b="1" dirty="0"/>
              <a:t>launch site, payload mass, orbit type, and flight number</a:t>
            </a:r>
            <a:r>
              <a:rPr lang="en-IN" sz="2400" dirty="0"/>
              <a:t>. </a:t>
            </a:r>
          </a:p>
          <a:p>
            <a:pPr lvl="0"/>
            <a:r>
              <a:rPr lang="en-IN" sz="2400" b="1" dirty="0"/>
              <a:t>Launch site proximity</a:t>
            </a:r>
            <a:r>
              <a:rPr lang="en-IN" sz="2400" dirty="0"/>
              <a:t> and </a:t>
            </a:r>
            <a:r>
              <a:rPr lang="en-IN" sz="2400" b="1" dirty="0"/>
              <a:t>yearly landing success trends</a:t>
            </a:r>
            <a:r>
              <a:rPr lang="en-IN" sz="2400" dirty="0"/>
              <a:t> revealed important mission patterns. </a:t>
            </a:r>
          </a:p>
          <a:p>
            <a:pPr lvl="0"/>
            <a:r>
              <a:rPr lang="en-IN" sz="2400" dirty="0"/>
              <a:t>The findings support the development of accurate predictive models for Falcon 9 landing success.</a:t>
            </a:r>
          </a:p>
          <a:p>
            <a:pPr lvl="0"/>
            <a:endParaRPr lang="en-IN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397876"/>
            <a:ext cx="6295697" cy="4414345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3859924"/>
          </a:xfrm>
        </p:spPr>
        <p:txBody>
          <a:bodyPr>
            <a:normAutofit lnSpcReduction="1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r>
              <a:rPr lang="en-IN" sz="2400" dirty="0"/>
              <a:t>Early missions had lower landing success rates.</a:t>
            </a:r>
          </a:p>
          <a:p>
            <a:r>
              <a:rPr lang="en-IN" sz="2400" dirty="0"/>
              <a:t>Launch success increased with higher flight numbers. </a:t>
            </a:r>
          </a:p>
          <a:p>
            <a:r>
              <a:rPr lang="en-IN" sz="2400" dirty="0"/>
              <a:t>CCAFS SLC 40 had the highest number of launches. </a:t>
            </a:r>
          </a:p>
          <a:p>
            <a:r>
              <a:rPr lang="en-IN" sz="2400" dirty="0"/>
              <a:t>Later missions showed higher landing success rates, indicating improved mission reliability.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 lnSpcReduction="1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600" dirty="0"/>
              <a:t>CCAFS SLC 40 handled launches across a wide range of payload masses. </a:t>
            </a:r>
          </a:p>
          <a:p>
            <a:pPr lvl="0"/>
            <a:r>
              <a:rPr lang="en-IN" sz="2600" dirty="0"/>
              <a:t>KSC LC 39A was mainly used for medium to high payload missions. </a:t>
            </a:r>
          </a:p>
          <a:p>
            <a:pPr lvl="0"/>
            <a:r>
              <a:rPr lang="en-IN" sz="2600" dirty="0"/>
              <a:t>VAFB SLC 4E had fewer launches than the other launch sites.</a:t>
            </a:r>
          </a:p>
          <a:p>
            <a:pPr lvl="0"/>
            <a:r>
              <a:rPr lang="en-IN" sz="2400" dirty="0"/>
              <a:t>Successful and failed landings occurred across all payload mass ranges, indicating that payload mass alone does not determine landing success.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00200"/>
            <a:ext cx="6172198" cy="4411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25207" cy="4411717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r>
              <a:rPr lang="en-IN" sz="2400" dirty="0"/>
              <a:t>ES-L1, GEO, HEO and SSO achieved 100% success. </a:t>
            </a:r>
          </a:p>
          <a:p>
            <a:r>
              <a:rPr lang="en-IN" sz="2400" dirty="0"/>
              <a:t>VLEO achieved a high success rate (~86%).</a:t>
            </a:r>
          </a:p>
          <a:p>
            <a:r>
              <a:rPr lang="en-IN" sz="2400" dirty="0"/>
              <a:t>GTO had a comparatively lower success rate. </a:t>
            </a:r>
          </a:p>
          <a:p>
            <a:r>
              <a:rPr lang="en-IN" sz="2400" dirty="0"/>
              <a:t>SO recorded no successful landings in the available dataset.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LEO, ISS, and VLEO missions generally showed high landing success across many flights. </a:t>
            </a:r>
          </a:p>
          <a:p>
            <a:pPr lvl="0"/>
            <a:r>
              <a:rPr lang="en-IN" sz="2400" dirty="0"/>
              <a:t>GTO missions included both successful and failed landings. </a:t>
            </a:r>
          </a:p>
          <a:p>
            <a:pPr lvl="0"/>
            <a:r>
              <a:rPr lang="en-IN" sz="2400" dirty="0"/>
              <a:t>Later flight numbers generally showed improved landing success across multiple orbit types. </a:t>
            </a:r>
          </a:p>
          <a:p>
            <a:pPr lvl="0"/>
            <a:r>
              <a:rPr lang="en-IN" sz="2400" dirty="0"/>
              <a:t>Orbit type appears to influence the likelihood of a successful landing.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/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were conducted across a broad range of payload masses.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included low to medium payload missions. </a:t>
            </a:r>
          </a:p>
          <a:p>
            <a:pPr lvl="0"/>
            <a:r>
              <a:rPr lang="en-IN" sz="2400" dirty="0"/>
              <a:t>Payload mass varied across orbit types, suggesting that orbit type is an important factor in landing outcome analysis.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Overall launch success rates improved over the years despite minor fluctuations.</a:t>
            </a:r>
          </a:p>
          <a:p>
            <a:pPr lvl="0"/>
            <a:r>
              <a:rPr lang="en-IN" sz="24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onwards, the average success rate increased significantly.</a:t>
            </a:r>
          </a:p>
          <a:p>
            <a:pPr lvl="0"/>
            <a:r>
              <a:rPr lang="en-IN" sz="2400" dirty="0"/>
              <a:t>By 2019–2020, SpaceX achieved consistently high launch success rates.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correctly predicted </a:t>
            </a:r>
            <a:r>
              <a:rPr lang="en-IN" sz="2400" b="1" dirty="0"/>
              <a:t>12 successful landings (True Positives)</a:t>
            </a:r>
            <a:r>
              <a:rPr lang="en-IN" sz="2400" dirty="0"/>
              <a:t>. 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demonstrates strong performance in predicting successful landings, with a small number of false positive predictions.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/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KSC LC 39A recorded the highest landing success rate. </a:t>
            </a:r>
          </a:p>
          <a:p>
            <a:pPr lvl="0"/>
            <a:r>
              <a:rPr lang="en-IN" sz="2400" dirty="0"/>
              <a:t>VAFB SLC 4E also demonstrated a strong success rate. </a:t>
            </a:r>
          </a:p>
          <a:p>
            <a:pPr lvl="0"/>
            <a:r>
              <a:rPr lang="en-IN" sz="2400" dirty="0"/>
              <a:t>CCAFS SLC 40 showed a comparatively lower average success rate. </a:t>
            </a:r>
          </a:p>
          <a:p>
            <a:pPr lvl="0"/>
            <a:r>
              <a:rPr lang="en-IN" sz="2400" dirty="0"/>
              <a:t>Launch site appears to influence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b="1" dirty="0"/>
              <a:t>Key Findings:</a:t>
            </a:r>
          </a:p>
          <a:p>
            <a:pPr lvl="0"/>
            <a:r>
              <a:rPr lang="en-IN" sz="2400" dirty="0"/>
              <a:t>CCAFS launch site is located close to the coastline.</a:t>
            </a:r>
          </a:p>
          <a:p>
            <a:pPr lvl="0"/>
            <a:r>
              <a:rPr lang="en-IN" sz="2400" dirty="0"/>
              <a:t>The coastal location supports safe launch trajectories over the ocean. </a:t>
            </a:r>
          </a:p>
          <a:p>
            <a:pPr lvl="0"/>
            <a:r>
              <a:rPr lang="en-IN" sz="2400" dirty="0"/>
              <a:t>The site is positioned away from major populated areas to improve safety. </a:t>
            </a:r>
          </a:p>
          <a:p>
            <a:pPr lvl="0"/>
            <a:r>
              <a:rPr lang="en-IN" sz="2400" dirty="0"/>
              <a:t>The location provides a safe launch corridor over the Atlantic Ocean.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r>
              <a:rPr lang="en-IN" dirty="0"/>
              <a:t>Launch success rate improved over time.</a:t>
            </a:r>
            <a:endParaRPr lang="en-US" dirty="0"/>
          </a:p>
          <a:p>
            <a:r>
              <a:rPr lang="en-IN" dirty="0"/>
              <a:t>Launch site and payload significantly affected landing success.</a:t>
            </a:r>
          </a:p>
          <a:p>
            <a:r>
              <a:rPr lang="en-IN" dirty="0"/>
              <a:t>The selected classification model demonstrated good predictive performance.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r>
              <a:rPr lang="en-IN" dirty="0"/>
              <a:t>Machine learning can effectively predict Falcon 9 landing success.</a:t>
            </a:r>
          </a:p>
          <a:p>
            <a:r>
              <a:rPr lang="en-IN" dirty="0"/>
              <a:t>The prediction model can support mission planning and cost reduction.</a:t>
            </a:r>
          </a:p>
          <a:p>
            <a:r>
              <a:rPr lang="en-IN" dirty="0"/>
              <a:t>Data-driven insights help improve future SpaceX launch decisions.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b="0" dirty="0"/>
              <a:t>RESULTS – VISUALIZATIONS &amp; DASHBOARD</a:t>
            </a:r>
            <a:endParaRPr lang="en-US" sz="32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EDA Charts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Machine Learning Prediction Dashboard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lnSpcReduction="10000"/>
          </a:bodyPr>
          <a:lstStyle/>
          <a:p>
            <a:r>
              <a:rPr lang="en-IN" sz="3000" b="1" dirty="0"/>
              <a:t>Key Takeaways</a:t>
            </a:r>
          </a:p>
          <a:p>
            <a:r>
              <a:rPr lang="en-IN" sz="2600" dirty="0"/>
              <a:t>The analysis identified several factors that influence </a:t>
            </a:r>
            <a:r>
              <a:rPr lang="en-IN" sz="2600" b="1" dirty="0"/>
              <a:t>SpaceX Falcon 9 landing success</a:t>
            </a:r>
            <a:r>
              <a:rPr lang="en-IN" sz="2600" dirty="0"/>
              <a:t>.</a:t>
            </a:r>
          </a:p>
          <a:p>
            <a:r>
              <a:rPr lang="en-IN" sz="2600" b="1" dirty="0"/>
              <a:t>Flight Number</a:t>
            </a:r>
            <a:r>
              <a:rPr lang="en-IN" sz="2600" dirty="0"/>
              <a:t> showed a positive relationship with landing success, indicating improved performance over time.</a:t>
            </a:r>
          </a:p>
          <a:p>
            <a:r>
              <a:rPr lang="en-IN" sz="2600" b="1" dirty="0"/>
              <a:t>Payload Mass</a:t>
            </a:r>
            <a:r>
              <a:rPr lang="en-IN" sz="2600" dirty="0"/>
              <a:t>, </a:t>
            </a:r>
            <a:r>
              <a:rPr lang="en-IN" sz="2600" b="1" dirty="0"/>
              <a:t>Orbit Type</a:t>
            </a:r>
            <a:r>
              <a:rPr lang="en-IN" sz="2600" dirty="0"/>
              <a:t>, </a:t>
            </a:r>
            <a:r>
              <a:rPr lang="en-IN" sz="2600" b="1" dirty="0"/>
              <a:t>Launch Site</a:t>
            </a:r>
            <a:r>
              <a:rPr lang="en-IN" sz="2600" dirty="0"/>
              <a:t>, and </a:t>
            </a:r>
            <a:r>
              <a:rPr lang="en-IN" sz="2600" b="1" dirty="0"/>
              <a:t>Booster Version</a:t>
            </a:r>
            <a:r>
              <a:rPr lang="en-IN" sz="2600" dirty="0"/>
              <a:t> all had a measurable impact on mission outcomes.</a:t>
            </a:r>
            <a:endParaRPr lang="en-IN" sz="26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 lnSpcReduction="10000"/>
          </a:bodyPr>
          <a:lstStyle/>
          <a:p>
            <a:r>
              <a:rPr lang="en-IN" sz="3000" b="1" dirty="0"/>
              <a:t>Overall Findings</a:t>
            </a:r>
          </a:p>
          <a:p>
            <a:r>
              <a:rPr lang="en-IN" sz="2600" dirty="0"/>
              <a:t>The </a:t>
            </a:r>
            <a:r>
              <a:rPr lang="en-IN" sz="2600" b="1" dirty="0"/>
              <a:t>yearly trend</a:t>
            </a:r>
            <a:r>
              <a:rPr lang="en-IN" sz="2600" dirty="0"/>
              <a:t> demonstrated a significant improvement in landing success rates, with By 2019, launch success rates reached their highest levels and remained consistently high thereafter. </a:t>
            </a:r>
          </a:p>
          <a:p>
            <a:r>
              <a:rPr lang="en-IN" sz="2600" dirty="0"/>
              <a:t>Overall, the analysis indicates that </a:t>
            </a:r>
            <a:r>
              <a:rPr lang="en-IN" sz="2400" dirty="0"/>
              <a:t>SpaceX has significantly improved Falcon 9 landing reliability through technological advancements and operational experience.</a:t>
            </a:r>
            <a:endParaRPr lang="en-IN" sz="2600" dirty="0"/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85" y="365125"/>
            <a:ext cx="12094029" cy="1325563"/>
          </a:xfrm>
        </p:spPr>
        <p:txBody>
          <a:bodyPr/>
          <a:lstStyle/>
          <a:p>
            <a:pPr algn="ctr"/>
            <a:r>
              <a:rPr lang="en-IN" dirty="0"/>
              <a:t>OVERALL FINDINGS &amp; IMPLICATIONS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sz="2600" dirty="0"/>
              <a:t>Launch success rate improved significantly over the years. </a:t>
            </a:r>
          </a:p>
          <a:p>
            <a:r>
              <a:rPr lang="en-IN" sz="2400" dirty="0"/>
              <a:t>Flight number, launch site, orbit type, and payload mass were identified as key factors influencing landing success. </a:t>
            </a:r>
          </a:p>
          <a:p>
            <a:r>
              <a:rPr lang="en-IN" sz="2600" dirty="0"/>
              <a:t>Machine learning models successfully predicted Falcon 9 landing outcomes with good accuracy.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sz="2600" dirty="0"/>
              <a:t>Predictive models can support mission planning and decision-making. </a:t>
            </a:r>
          </a:p>
          <a:p>
            <a:r>
              <a:rPr lang="en-IN" sz="2600" dirty="0"/>
              <a:t>Understanding launch factors helps improve mission reliability and reduce operational costs. </a:t>
            </a:r>
          </a:p>
          <a:p>
            <a:r>
              <a:rPr lang="en-IN" sz="2600" dirty="0"/>
              <a:t>Data-driven analysis enables better forecasting of future Falcon 9 landing success.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3200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371475" y="1825625"/>
            <a:ext cx="4371975" cy="4351338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43476" y="1495425"/>
            <a:ext cx="6762750" cy="4848225"/>
          </a:xfrm>
        </p:spPr>
        <p:txBody>
          <a:bodyPr>
            <a:normAutofit/>
          </a:bodyPr>
          <a:lstStyle/>
          <a:p>
            <a:r>
              <a:rPr lang="en-IN" sz="2400" b="1" dirty="0"/>
              <a:t>Key Discussion Points</a:t>
            </a:r>
          </a:p>
          <a:p>
            <a:pPr lvl="0"/>
            <a:r>
              <a:rPr lang="en-IN" sz="2000" dirty="0"/>
              <a:t>Launch success was influenced by payload mass, launch site, and orbit type.</a:t>
            </a:r>
          </a:p>
          <a:p>
            <a:pPr lvl="0"/>
            <a:r>
              <a:rPr lang="en-IN" sz="2000" dirty="0"/>
              <a:t>EDA identified important trends in the SpaceX launch dataset. </a:t>
            </a:r>
          </a:p>
          <a:p>
            <a:pPr lvl="0"/>
            <a:r>
              <a:rPr lang="en-IN" sz="2000" dirty="0"/>
              <a:t>Plotly and Folium visualizations improved interactive data exploration. </a:t>
            </a:r>
          </a:p>
          <a:p>
            <a:pPr lvl="0"/>
            <a:r>
              <a:rPr lang="en-IN" sz="2000" dirty="0"/>
              <a:t>The classification model achieved good predictive performance. </a:t>
            </a:r>
          </a:p>
          <a:p>
            <a:pPr lvl="0"/>
            <a:r>
              <a:rPr lang="en-IN" sz="2000" dirty="0"/>
              <a:t>Historical data may limit prediction accuracy for future missions.</a:t>
            </a:r>
          </a:p>
          <a:p>
            <a:pPr lvl="0"/>
            <a:r>
              <a:rPr lang="en-IN" sz="2000" dirty="0"/>
              <a:t>Future work can include weather data, real-time launch conditions, and more advanced machine learning models.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3286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Launch success increased over time. </a:t>
            </a:r>
          </a:p>
          <a:p>
            <a:pPr lvl="0"/>
            <a:r>
              <a:rPr lang="en-IN" dirty="0"/>
              <a:t>Payload and orbit influence mission success. </a:t>
            </a:r>
          </a:p>
          <a:p>
            <a:pPr lvl="0"/>
            <a:r>
              <a:rPr lang="en-IN" dirty="0"/>
              <a:t>The classification model achieved good predictive performance.</a:t>
            </a:r>
          </a:p>
          <a:p>
            <a:pPr lvl="0"/>
            <a:r>
              <a:rPr lang="en-IN" dirty="0"/>
              <a:t>The interactive dashboard supports data exploration.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sz="3200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730086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dashboard for launch prediction. 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1113</TotalTime>
  <Words>1264</Words>
  <Application>Microsoft Office PowerPoint</Application>
  <PresentationFormat>Widescreen</PresentationFormat>
  <Paragraphs>178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EXECUTIVE SUMMARY</vt:lpstr>
      <vt:lpstr>INTRODUCTION</vt:lpstr>
      <vt:lpstr>METHODOLOGY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Conclusion </vt:lpstr>
      <vt:lpstr>OVERALL FINDINGS &amp; IMPLICATIONS</vt:lpstr>
      <vt:lpstr>DASHBOARD</vt:lpstr>
      <vt:lpstr>DISCUSSION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42</cp:revision>
  <dcterms:created xsi:type="dcterms:W3CDTF">2024-10-30T05:40:03Z</dcterms:created>
  <dcterms:modified xsi:type="dcterms:W3CDTF">2026-07-31T23:31:58Z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