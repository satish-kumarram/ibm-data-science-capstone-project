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2"/>
  </p:notesMasterIdLst>
  <p:sldIdLst>
    <p:sldId id="256" r:id="rId5"/>
    <p:sldId id="288" r:id="rId6"/>
    <p:sldId id="258" r:id="rId7"/>
    <p:sldId id="259" r:id="rId8"/>
    <p:sldId id="260" r:id="rId9"/>
    <p:sldId id="289" r:id="rId10"/>
    <p:sldId id="293" r:id="rId11"/>
    <p:sldId id="261" r:id="rId12"/>
    <p:sldId id="278" r:id="rId13"/>
    <p:sldId id="283" r:id="rId14"/>
    <p:sldId id="277" r:id="rId15"/>
    <p:sldId id="284" r:id="rId16"/>
    <p:sldId id="285" r:id="rId17"/>
    <p:sldId id="286" r:id="rId18"/>
    <p:sldId id="281" r:id="rId19"/>
    <p:sldId id="280" r:id="rId20"/>
    <p:sldId id="287" r:id="rId21"/>
    <p:sldId id="263" r:id="rId22"/>
    <p:sldId id="264" r:id="rId23"/>
    <p:sldId id="291" r:id="rId24"/>
    <p:sldId id="290" r:id="rId25"/>
    <p:sldId id="292" r:id="rId26"/>
    <p:sldId id="295" r:id="rId27"/>
    <p:sldId id="282" r:id="rId28"/>
    <p:sldId id="266" r:id="rId29"/>
    <p:sldId id="273" r:id="rId30"/>
    <p:sldId id="296" r:id="rId31"/>
  </p:sldIdLst>
  <p:sldSz cx="12192000" cy="6858000"/>
  <p:notesSz cx="6858000" cy="1857375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A054FF21-EC98-4CE8-8061-B6A003B18E50}">
          <p14:sldIdLst>
            <p14:sldId id="256"/>
            <p14:sldId id="288"/>
            <p14:sldId id="258"/>
            <p14:sldId id="259"/>
            <p14:sldId id="260"/>
            <p14:sldId id="289"/>
            <p14:sldId id="293"/>
            <p14:sldId id="261"/>
            <p14:sldId id="278"/>
            <p14:sldId id="283"/>
            <p14:sldId id="277"/>
            <p14:sldId id="284"/>
            <p14:sldId id="285"/>
            <p14:sldId id="286"/>
            <p14:sldId id="281"/>
            <p14:sldId id="280"/>
            <p14:sldId id="287"/>
            <p14:sldId id="263"/>
            <p14:sldId id="264"/>
            <p14:sldId id="291"/>
            <p14:sldId id="290"/>
            <p14:sldId id="292"/>
            <p14:sldId id="295"/>
            <p14:sldId id="282"/>
            <p14:sldId id="266"/>
            <p14:sldId id="273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FFFFFF"/>
    <a:srgbClr val="33B1FF"/>
    <a:srgbClr val="007D79"/>
    <a:srgbClr val="D02670"/>
    <a:srgbClr val="231F20"/>
    <a:srgbClr val="262626"/>
    <a:srgbClr val="525252"/>
    <a:srgbClr val="BE95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1480" autoAdjust="0"/>
  </p:normalViewPr>
  <p:slideViewPr>
    <p:cSldViewPr snapToGrid="0">
      <p:cViewPr varScale="1">
        <p:scale>
          <a:sx n="73" d="100"/>
          <a:sy n="73" d="100"/>
        </p:scale>
        <p:origin x="43" y="226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268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839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208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82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722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370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817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678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403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373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772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028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419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996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 dirty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hyperlink" Target="https://github.com/Satish-KumarRam/IBM-Data-Science-Capstone-Project" TargetMode="Externa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70.png"/><Relationship Id="rId15" Type="http://schemas.openxmlformats.org/officeDocument/2006/relationships/hyperlink" Target="https://github.com/Satish-KumarRam/IBM-Data-Science-Capstone-Project" TargetMode="External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80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5" Type="http://schemas.openxmlformats.org/officeDocument/2006/relationships/hyperlink" Target="https://github.com/Satish-KumarRam/IBM-Data-Science-Capstone-Project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hyperlink" Target="https://github.com/Satish-KumarRam/IBM-Data-Science-Capstone-Projec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Satish-KumarRam/IBM-Data-Science-Capstone-Project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tish-KumarRam/IBM-Data-Science-Capstone-Project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tish-KumarRam/IBM-Data-Science-Capstone-Project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tish-KumarRam/IBM-Data-Science-Capstone-Project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tish-KumarRam/IBM-Data-Science-Capstone-Project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tish-KumarRam/IBM-Data-Science-Capstone-Project/upload/main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5" Type="http://schemas.openxmlformats.org/officeDocument/2006/relationships/image" Target="../media/image25.png"/><Relationship Id="rId4" Type="http://schemas.openxmlformats.org/officeDocument/2006/relationships/hyperlink" Target="https://github.com/Satish-KumarRam/IBM-Data-Science-Capstone-Project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Relationship Id="rId5" Type="http://schemas.openxmlformats.org/officeDocument/2006/relationships/hyperlink" Target="https://github.com/Satish-KumarRam/IBM-Data-Science-Capstone-Project" TargetMode="Externa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233681"/>
            <a:ext cx="7184720" cy="1777999"/>
          </a:xfrm>
          <a:noFill/>
        </p:spPr>
        <p:txBody>
          <a:bodyPr>
            <a:normAutofit fontScale="90000"/>
          </a:bodyPr>
          <a:lstStyle/>
          <a:p>
            <a:r>
              <a:rPr lang="en-IN" dirty="0"/>
              <a:t>SpaceX Falcon 9 First Stage Landing Prediction</a:t>
            </a:r>
            <a:endParaRPr lang="en-US" sz="1600" dirty="0">
              <a:solidFill>
                <a:srgbClr val="0072C3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731247"/>
            <a:ext cx="7074692" cy="840753"/>
          </a:xfrm>
          <a:noFill/>
        </p:spPr>
        <p:txBody>
          <a:bodyPr>
            <a:noAutofit/>
          </a:bodyPr>
          <a:lstStyle/>
          <a:p>
            <a:r>
              <a:rPr lang="en-IN" b="1" dirty="0"/>
              <a:t>IBM Data Science Professional Certificate</a:t>
            </a:r>
            <a:br>
              <a:rPr lang="en-IN" dirty="0"/>
            </a:br>
            <a:r>
              <a:rPr lang="en-IN" b="1" dirty="0"/>
              <a:t>Capstone Project</a:t>
            </a:r>
          </a:p>
          <a:p>
            <a:endParaRPr lang="en-IN" b="1" dirty="0"/>
          </a:p>
          <a:p>
            <a:r>
              <a:rPr lang="en-IN" b="1" dirty="0"/>
              <a:t>Satish Kumar Ram</a:t>
            </a:r>
          </a:p>
          <a:p>
            <a:pPr algn="l"/>
            <a:r>
              <a:rPr lang="en-IN" sz="1800" b="1" dirty="0"/>
              <a:t>                                             5 August 2026   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4719" y="387350"/>
            <a:ext cx="4794861" cy="4351338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E19822-A94B-3390-47E6-908CD50533E4}"/>
              </a:ext>
            </a:extLst>
          </p:cNvPr>
          <p:cNvSpPr txBox="1"/>
          <p:nvPr/>
        </p:nvSpPr>
        <p:spPr>
          <a:xfrm>
            <a:off x="489857" y="2329538"/>
            <a:ext cx="61939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GitHub Repository:</a:t>
            </a:r>
          </a:p>
          <a:p>
            <a:pPr algn="ctr"/>
            <a:endParaRPr lang="en-IN" sz="1600" b="1" dirty="0"/>
          </a:p>
          <a:p>
            <a:pPr algn="ctr"/>
            <a:r>
              <a:rPr lang="en-IN" sz="16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https://github.com/Satish-KumarRam/IBM-Data-Science-Capstone-Project</a:t>
            </a:r>
            <a:endParaRPr lang="en-IN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DA0D6-819E-F3F9-D97B-1AA14A037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CCC8A1-01EA-24FA-9310-CEBBC3CFB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89" y="1894174"/>
            <a:ext cx="4505605" cy="318945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4210998-3D1A-F46C-CC36-CAEAA08DE009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6D78DA1-C8CA-F9E4-D103-A5E66840A01B}"/>
              </a:ext>
            </a:extLst>
          </p:cNvPr>
          <p:cNvSpPr txBox="1">
            <a:spLocks/>
          </p:cNvSpPr>
          <p:nvPr/>
        </p:nvSpPr>
        <p:spPr>
          <a:xfrm>
            <a:off x="6172199" y="1589373"/>
            <a:ext cx="4833257" cy="318945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IN" sz="3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1EDC8C2-155F-326D-23AD-3F500CBED7C9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1EDC8C2-155F-326D-23AD-3F500CBED7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B7D0E6D-458F-0320-7899-AE28CBCECC8C}"/>
                  </a:ext>
                </a:extLst>
              </p14:cNvPr>
              <p14:cNvContentPartPr/>
              <p14:nvPr/>
            </p14:nvContentPartPr>
            <p14:xfrm>
              <a:off x="5800663" y="39347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B7D0E6D-458F-0320-7899-AE28CBCECC8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0663" y="37547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8FE6AC8-A31C-192A-7181-A0CECA6640F2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8FE6AC8-A31C-192A-7181-A0CECA6640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E42D43A-0AE2-5ED9-8FE7-2979BB31236D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E42D43A-0AE2-5ED9-8FE7-2979BB31236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E8E173D-FA9F-7974-17F8-D5B5927D770B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E8E173D-FA9F-7974-17F8-D5B5927D77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DCE78E9-CD74-62ED-AEDD-33AB71C9F18E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DCE78E9-CD74-62ED-AEDD-33AB71C9F1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AC18E88-CC96-F7E6-35A5-95EC54BE6C04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AC18E88-CC96-F7E6-35A5-95EC54BE6C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6A6BB95-5359-DAB7-2E6F-A6E9AD13A61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6A6BB95-5359-DAB7-2E6F-A6E9AD13A6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F09FAE4-E92D-B550-69F3-335FB31E765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F09FAE4-E92D-B550-69F3-335FB31E76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F9AA929-A325-F4BA-690A-0FE40911FB85}"/>
              </a:ext>
            </a:extLst>
          </p:cNvPr>
          <p:cNvSpPr txBox="1"/>
          <p:nvPr/>
        </p:nvSpPr>
        <p:spPr>
          <a:xfrm>
            <a:off x="859971" y="489680"/>
            <a:ext cx="3374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525252"/>
                </a:solidFill>
                <a:latin typeface="IBM Plex Sans SemiBold" panose="020B0503050203000203" pitchFamily="34" charset="0"/>
              </a:rPr>
              <a:t>OUTLINE</a:t>
            </a:r>
            <a:endParaRPr lang="en-IN" sz="4000" b="1" dirty="0">
              <a:solidFill>
                <a:srgbClr val="525252"/>
              </a:solidFill>
              <a:latin typeface="IBM Plex Sans SemiBold" panose="020B050305020300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92ADE-DA61-C50A-02E8-5E658C03AFD5}"/>
              </a:ext>
            </a:extLst>
          </p:cNvPr>
          <p:cNvSpPr txBox="1"/>
          <p:nvPr/>
        </p:nvSpPr>
        <p:spPr>
          <a:xfrm>
            <a:off x="6680880" y="1589373"/>
            <a:ext cx="46957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Executive Summary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Methodology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Results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Appendix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1E3D6-7198-4E3F-82FC-DA27C57FA003}"/>
              </a:ext>
            </a:extLst>
          </p:cNvPr>
          <p:cNvSpPr txBox="1"/>
          <p:nvPr/>
        </p:nvSpPr>
        <p:spPr>
          <a:xfrm>
            <a:off x="4234543" y="5203371"/>
            <a:ext cx="72916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GitHub Repository:</a:t>
            </a:r>
          </a:p>
          <a:p>
            <a:pPr algn="ctr"/>
            <a:endParaRPr lang="en-US" dirty="0"/>
          </a:p>
          <a:p>
            <a:pPr algn="ctr"/>
            <a:r>
              <a:rPr lang="en-IN" sz="1400" dirty="0"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https://github.com/Satish-KumarRam/IBM-Data-Science-Capstone-Project</a:t>
            </a:r>
            <a:endParaRPr lang="en-IN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7939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3783725" y="1460938"/>
            <a:ext cx="8408276" cy="40581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/>
              <a:t>Objective</a:t>
            </a:r>
          </a:p>
          <a:p>
            <a:pPr lvl="0"/>
            <a:r>
              <a:rPr lang="en-IN" sz="1800" dirty="0"/>
              <a:t>Predict Falcon 9 first-stage landing success using historical launch data. </a:t>
            </a:r>
          </a:p>
          <a:p>
            <a:r>
              <a:rPr lang="en-IN" sz="1800" b="1" dirty="0"/>
              <a:t>Methodology Summary</a:t>
            </a:r>
          </a:p>
          <a:p>
            <a:pPr lvl="1"/>
            <a:r>
              <a:rPr lang="en-IN" sz="1600" dirty="0"/>
              <a:t>Data Collection through </a:t>
            </a:r>
            <a:r>
              <a:rPr lang="en-IN" sz="1600" b="1" dirty="0"/>
              <a:t>SpaceX REST API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Data Collection with </a:t>
            </a:r>
            <a:r>
              <a:rPr lang="en-IN" sz="1600" b="1" dirty="0"/>
              <a:t>Web Scraping (Wikipedia)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Data Wrangling </a:t>
            </a:r>
          </a:p>
          <a:p>
            <a:pPr lvl="1"/>
            <a:r>
              <a:rPr lang="en-IN" sz="1600" dirty="0"/>
              <a:t>Exploratory Data Analysis (</a:t>
            </a:r>
            <a:r>
              <a:rPr lang="en-IN" sz="1600" b="1" dirty="0"/>
              <a:t>Visualization &amp; SQL</a:t>
            </a:r>
            <a:r>
              <a:rPr lang="en-IN" sz="1600" dirty="0"/>
              <a:t>) </a:t>
            </a:r>
          </a:p>
          <a:p>
            <a:pPr lvl="1"/>
            <a:r>
              <a:rPr lang="en-IN" sz="1600" dirty="0"/>
              <a:t>Interactive Visual Analytics (</a:t>
            </a:r>
            <a:r>
              <a:rPr lang="en-IN" sz="1600" b="1" dirty="0"/>
              <a:t>Folium &amp; Plotly Dash</a:t>
            </a:r>
            <a:r>
              <a:rPr lang="en-IN" sz="1600" dirty="0"/>
              <a:t>) </a:t>
            </a:r>
          </a:p>
          <a:p>
            <a:pPr lvl="1"/>
            <a:r>
              <a:rPr lang="en-IN" sz="1600" dirty="0"/>
              <a:t>Predictive Analysis using Machine Learning</a:t>
            </a:r>
          </a:p>
          <a:p>
            <a:r>
              <a:rPr lang="en-IN" sz="1800" b="1" dirty="0"/>
              <a:t>Key Results</a:t>
            </a:r>
          </a:p>
          <a:p>
            <a:pPr lvl="1"/>
            <a:r>
              <a:rPr lang="en-IN" sz="1600" dirty="0"/>
              <a:t>Landing success increased over time. </a:t>
            </a:r>
          </a:p>
          <a:p>
            <a:pPr lvl="1"/>
            <a:r>
              <a:rPr lang="en-IN" sz="1600" dirty="0"/>
              <a:t>Payload mass, orbit, and launch site significantly affected landing success. </a:t>
            </a:r>
          </a:p>
          <a:p>
            <a:pPr lvl="1"/>
            <a:r>
              <a:rPr lang="en-IN" sz="1600" dirty="0"/>
              <a:t>The best machine learning model achieved the highest prediction accuracy.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2021641"/>
            <a:ext cx="3783724" cy="38783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93BA98-7562-0C73-3F5F-21EF0490EE49}"/>
              </a:ext>
            </a:extLst>
          </p:cNvPr>
          <p:cNvSpPr txBox="1"/>
          <p:nvPr/>
        </p:nvSpPr>
        <p:spPr>
          <a:xfrm>
            <a:off x="2993571" y="5627914"/>
            <a:ext cx="65749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GitHub Repository (Completed Notebooks, Python Files, and Presentation):</a:t>
            </a:r>
          </a:p>
          <a:p>
            <a:pPr algn="ctr"/>
            <a:endParaRPr lang="en-IN" b="1" dirty="0"/>
          </a:p>
          <a:p>
            <a:pPr algn="ctr"/>
            <a:r>
              <a:rPr lang="en-IN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https://github.com/Satish-KumarRam/IBM-Data-Science-Capstone-Project</a:t>
            </a:r>
            <a:endParaRPr lang="en-IN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21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3983421" y="1450427"/>
            <a:ext cx="7840717" cy="48959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2200" b="1" dirty="0">
                <a:solidFill>
                  <a:schemeClr val="tx1"/>
                </a:solidFill>
              </a:rPr>
              <a:t>Project Background:</a:t>
            </a:r>
            <a:r>
              <a:rPr lang="en-IN" sz="2200" dirty="0">
                <a:solidFill>
                  <a:schemeClr val="tx1"/>
                </a:solidFill>
              </a:rPr>
              <a:t> SpaceX reduces launch costs by successfully recovering and reusing Falcon 9 first-stage boosters, making launches more efficient and cost-effective. </a:t>
            </a:r>
          </a:p>
          <a:p>
            <a:pPr lvl="0"/>
            <a:r>
              <a:rPr lang="en-IN" sz="2400" b="1" dirty="0">
                <a:solidFill>
                  <a:schemeClr val="tx1"/>
                </a:solidFill>
              </a:rPr>
              <a:t>Problem Statement</a:t>
            </a:r>
            <a:r>
              <a:rPr lang="en-IN" sz="2200" b="1" dirty="0">
                <a:solidFill>
                  <a:schemeClr val="tx1"/>
                </a:solidFill>
              </a:rPr>
              <a:t>:</a:t>
            </a:r>
            <a:r>
              <a:rPr lang="en-IN" sz="2200" dirty="0">
                <a:solidFill>
                  <a:schemeClr val="tx1"/>
                </a:solidFill>
              </a:rPr>
              <a:t> Predict whether the Falcon 9 first-stage landing will be successful before launch using historical mission data and machine learning techniques. </a:t>
            </a:r>
          </a:p>
          <a:p>
            <a:pPr lvl="0"/>
            <a:r>
              <a:rPr lang="en-IN" sz="2200" b="1" dirty="0">
                <a:solidFill>
                  <a:schemeClr val="tx1"/>
                </a:solidFill>
              </a:rPr>
              <a:t>Project Objective:</a:t>
            </a:r>
            <a:r>
              <a:rPr lang="en-IN" sz="2200" dirty="0">
                <a:solidFill>
                  <a:schemeClr val="tx1"/>
                </a:solidFill>
              </a:rPr>
              <a:t> Build, train, and evaluate machine learning classification models to predict Falcon 9 first-stage landing success using historical launch data. </a:t>
            </a:r>
          </a:p>
          <a:p>
            <a:pPr lvl="0"/>
            <a:r>
              <a:rPr lang="en-IN" sz="2200" b="1" dirty="0">
                <a:solidFill>
                  <a:schemeClr val="tx1"/>
                </a:solidFill>
              </a:rPr>
              <a:t>Data Sources:</a:t>
            </a:r>
          </a:p>
          <a:p>
            <a:pPr lvl="1"/>
            <a:r>
              <a:rPr lang="en-IN" sz="2000" b="1" dirty="0">
                <a:solidFill>
                  <a:schemeClr val="tx1"/>
                </a:solidFill>
              </a:rPr>
              <a:t>SpaceX REST API:</a:t>
            </a:r>
            <a:r>
              <a:rPr lang="en-IN" sz="2000" dirty="0">
                <a:solidFill>
                  <a:schemeClr val="tx1"/>
                </a:solidFill>
              </a:rPr>
              <a:t> Launch information, payload details, booster version, launch site, and mission outcomes. </a:t>
            </a:r>
          </a:p>
          <a:p>
            <a:pPr lvl="1"/>
            <a:r>
              <a:rPr lang="en-IN" sz="2000" b="1" dirty="0">
                <a:solidFill>
                  <a:schemeClr val="tx1"/>
                </a:solidFill>
              </a:rPr>
              <a:t>Wikipedia (Web Scraping):</a:t>
            </a:r>
            <a:r>
              <a:rPr lang="en-IN" sz="2000" dirty="0">
                <a:solidFill>
                  <a:schemeClr val="tx1"/>
                </a:solidFill>
              </a:rPr>
              <a:t> Additional Falcon 9 launch records used to validate and enrich the dataset.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114800" y="1360714"/>
            <a:ext cx="8077200" cy="5120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/>
              <a:t>Data Collection:</a:t>
            </a:r>
          </a:p>
          <a:p>
            <a:pPr lvl="1"/>
            <a:r>
              <a:rPr lang="en-IN" sz="1400" dirty="0"/>
              <a:t>Collected Falcon 9 launch data using the </a:t>
            </a:r>
            <a:r>
              <a:rPr lang="en-IN" sz="1400" b="1" dirty="0"/>
              <a:t>SpaceX REST API</a:t>
            </a:r>
            <a:r>
              <a:rPr lang="en-IN" sz="1400" dirty="0"/>
              <a:t>. </a:t>
            </a:r>
          </a:p>
          <a:p>
            <a:pPr lvl="1"/>
            <a:r>
              <a:rPr lang="en-IN" sz="1400" dirty="0"/>
              <a:t>Collected additional launch records through </a:t>
            </a:r>
            <a:r>
              <a:rPr lang="en-IN" sz="1400" b="1" dirty="0"/>
              <a:t>Wikipedia Web Scraping</a:t>
            </a:r>
            <a:r>
              <a:rPr lang="en-IN" sz="1400" dirty="0"/>
              <a:t>.</a:t>
            </a:r>
          </a:p>
          <a:p>
            <a:r>
              <a:rPr lang="en-IN" sz="1600" b="1" dirty="0"/>
              <a:t>Data Wrangling:</a:t>
            </a:r>
          </a:p>
          <a:p>
            <a:pPr lvl="1"/>
            <a:r>
              <a:rPr lang="en-IN" sz="1400" dirty="0"/>
              <a:t>Cleaned missing values and standardized the dataset. </a:t>
            </a:r>
          </a:p>
          <a:p>
            <a:pPr lvl="1"/>
            <a:r>
              <a:rPr lang="en-IN" sz="1400" dirty="0"/>
              <a:t>Merged API and Wikipedia datasets. </a:t>
            </a:r>
          </a:p>
          <a:p>
            <a:r>
              <a:rPr lang="en-IN" sz="1600" b="1" dirty="0"/>
              <a:t>Exploratory Data Analysis (EDA):</a:t>
            </a:r>
          </a:p>
          <a:p>
            <a:pPr lvl="1"/>
            <a:r>
              <a:rPr lang="en-IN" sz="1400" dirty="0"/>
              <a:t>Created visualizations using Matplotlib and Seaborn. </a:t>
            </a:r>
          </a:p>
          <a:p>
            <a:pPr lvl="1"/>
            <a:r>
              <a:rPr lang="en-IN" sz="1400" dirty="0"/>
              <a:t>Analyzed relationships between mission features and landing success. </a:t>
            </a:r>
          </a:p>
          <a:p>
            <a:r>
              <a:rPr lang="en-IN" sz="1600" b="1" dirty="0"/>
              <a:t>SQL Analysis:</a:t>
            </a:r>
          </a:p>
          <a:p>
            <a:pPr lvl="1"/>
            <a:r>
              <a:rPr lang="en-IN" sz="1400" dirty="0"/>
              <a:t>Queried the database to analyze launch statistics. </a:t>
            </a:r>
          </a:p>
          <a:p>
            <a:pPr lvl="1"/>
            <a:r>
              <a:rPr lang="en-IN" sz="1400" dirty="0"/>
              <a:t>Retrieved insights using SQL queries. </a:t>
            </a:r>
          </a:p>
          <a:p>
            <a:r>
              <a:rPr lang="en-IN" sz="1600" b="1" dirty="0"/>
              <a:t>Interactive Visualization:</a:t>
            </a:r>
          </a:p>
          <a:p>
            <a:pPr lvl="1"/>
            <a:r>
              <a:rPr lang="en-IN" sz="1400" dirty="0"/>
              <a:t>Built interactive </a:t>
            </a:r>
            <a:r>
              <a:rPr lang="en-IN" sz="1400" b="1" dirty="0"/>
              <a:t>Folium</a:t>
            </a:r>
            <a:r>
              <a:rPr lang="en-IN" sz="1400" dirty="0"/>
              <a:t> maps. </a:t>
            </a:r>
          </a:p>
          <a:p>
            <a:pPr lvl="1"/>
            <a:r>
              <a:rPr lang="en-IN" sz="1400" dirty="0"/>
              <a:t>Developed a </a:t>
            </a:r>
            <a:r>
              <a:rPr lang="en-IN" sz="1400" b="1" dirty="0"/>
              <a:t>Plotly Dash</a:t>
            </a:r>
            <a:r>
              <a:rPr lang="en-IN" sz="1400" dirty="0"/>
              <a:t> dashboard. </a:t>
            </a:r>
          </a:p>
          <a:p>
            <a:r>
              <a:rPr lang="en-IN" sz="1600" b="1" dirty="0"/>
              <a:t>Predictive Analysis:</a:t>
            </a:r>
          </a:p>
          <a:p>
            <a:pPr lvl="1"/>
            <a:r>
              <a:rPr lang="en-IN" sz="1400" dirty="0"/>
              <a:t>Built and evaluated multiple classification models. </a:t>
            </a:r>
          </a:p>
          <a:p>
            <a:pPr lvl="1"/>
            <a:r>
              <a:rPr lang="en-IN" sz="1400" dirty="0"/>
              <a:t>Selected the best-performing model.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8344"/>
            <a:ext cx="3233057" cy="42038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BB075-4270-E344-414F-B8B7EA07C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6116"/>
          </a:xfrm>
        </p:spPr>
        <p:txBody>
          <a:bodyPr/>
          <a:lstStyle/>
          <a:p>
            <a:pPr algn="ctr"/>
            <a:r>
              <a:rPr lang="en-IN" dirty="0"/>
              <a:t>EDA Using SQL Queries (Part 1)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9EF32F8-B127-B654-AE26-A31508520C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172" y="2365507"/>
            <a:ext cx="3174125" cy="38461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591042-D361-F493-9751-841FDC547DE1}"/>
              </a:ext>
            </a:extLst>
          </p:cNvPr>
          <p:cNvSpPr txBox="1"/>
          <p:nvPr/>
        </p:nvSpPr>
        <p:spPr>
          <a:xfrm>
            <a:off x="5517931" y="1471448"/>
            <a:ext cx="610651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Key Findings: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Used SQL to calculate total launches for each Falcon 9 launch site.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CCAFS SLC-40</a:t>
            </a:r>
            <a:r>
              <a:rPr lang="en-IN" sz="2000" dirty="0"/>
              <a:t> recorded the highest number of launches (</a:t>
            </a:r>
            <a:r>
              <a:rPr lang="en-IN" sz="2000" b="1" dirty="0"/>
              <a:t>34</a:t>
            </a:r>
            <a:r>
              <a:rPr lang="en-IN" sz="2000" dirty="0"/>
              <a:t>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CCAFS LC-40</a:t>
            </a:r>
            <a:r>
              <a:rPr lang="en-IN" sz="2000" dirty="0"/>
              <a:t> completed </a:t>
            </a:r>
            <a:r>
              <a:rPr lang="en-IN" sz="2000" b="1" dirty="0"/>
              <a:t>26</a:t>
            </a:r>
            <a:r>
              <a:rPr lang="en-IN" sz="2000" dirty="0"/>
              <a:t> launches during the analyzed period.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KSC LC-39A completed 25 launches.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VAFB SLC-4E</a:t>
            </a:r>
            <a:r>
              <a:rPr lang="en-IN" sz="2000" dirty="0"/>
              <a:t> recorded the fewest launches (</a:t>
            </a:r>
            <a:r>
              <a:rPr lang="en-IN" sz="2000" b="1" dirty="0"/>
              <a:t>16</a:t>
            </a:r>
            <a:r>
              <a:rPr lang="en-IN" sz="2000" dirty="0"/>
              <a:t>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These SQL results identified the busiest launch sites and supported subsequent visualization and predictive analysis.</a:t>
            </a:r>
            <a:endParaRPr lang="en-US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0D9C96-8F48-F04D-BA82-E19D41B2413F}"/>
              </a:ext>
            </a:extLst>
          </p:cNvPr>
          <p:cNvSpPr txBox="1"/>
          <p:nvPr/>
        </p:nvSpPr>
        <p:spPr>
          <a:xfrm>
            <a:off x="273270" y="1534510"/>
            <a:ext cx="4866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SQL Query Output – Launch Site Analysis</a:t>
            </a:r>
          </a:p>
        </p:txBody>
      </p:sp>
    </p:spTree>
    <p:extLst>
      <p:ext uri="{BB962C8B-B14F-4D97-AF65-F5344CB8AC3E}">
        <p14:creationId xmlns:p14="http://schemas.microsoft.com/office/powerpoint/2010/main" val="2352422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6DD5-8827-E17A-8330-A74F43C34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585"/>
          </a:xfrm>
        </p:spPr>
        <p:txBody>
          <a:bodyPr/>
          <a:lstStyle/>
          <a:p>
            <a:pPr algn="ctr"/>
            <a:r>
              <a:rPr lang="en-IN" dirty="0"/>
              <a:t>EDA Using SQL Queries (Part 2)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98C5EF-D576-D376-7E0E-7EEAB20A6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28" y="1355834"/>
            <a:ext cx="11873686" cy="4761937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010C7F7F-F651-75DC-6AC9-61164C1C0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2230820"/>
            <a:ext cx="3972909" cy="34973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33D808-704B-4284-EA3A-6CCC267B7F70}"/>
              </a:ext>
            </a:extLst>
          </p:cNvPr>
          <p:cNvSpPr txBox="1"/>
          <p:nvPr/>
        </p:nvSpPr>
        <p:spPr>
          <a:xfrm>
            <a:off x="609602" y="1347624"/>
            <a:ext cx="45299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2400" b="1" dirty="0"/>
              <a:t>Mission Outcome Analysis (SQL Query Result)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422D46-62B2-40B7-DCFE-B211539E2EFE}"/>
              </a:ext>
            </a:extLst>
          </p:cNvPr>
          <p:cNvSpPr txBox="1"/>
          <p:nvPr/>
        </p:nvSpPr>
        <p:spPr>
          <a:xfrm>
            <a:off x="5812221" y="1355834"/>
            <a:ext cx="629269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Key Findings: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SQL was used to summarize mission outcomes.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30 missions</a:t>
            </a:r>
            <a:r>
              <a:rPr lang="en-IN" sz="2400" dirty="0"/>
              <a:t> were completed successfully.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Only </a:t>
            </a:r>
            <a:r>
              <a:rPr lang="en-IN" sz="2400" b="1" dirty="0"/>
              <a:t>1 mission</a:t>
            </a:r>
            <a:r>
              <a:rPr lang="en-IN" sz="2400" dirty="0"/>
              <a:t> resulted in failure during the selected period.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high success rate indicates improved Falcon 9 reliability.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SQL aggregation helped validate mission performance before predictive modeling.</a:t>
            </a:r>
            <a:endParaRPr lang="en-US" sz="24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64971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F900-F166-BEB7-F740-8C872536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10DC-B757-47AF-44F4-D6EC9F4B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1D05E-A3D3-356F-EB51-94E7A1AE2A61}"/>
              </a:ext>
            </a:extLst>
          </p:cNvPr>
          <p:cNvSpPr txBox="1">
            <a:spLocks/>
          </p:cNvSpPr>
          <p:nvPr/>
        </p:nvSpPr>
        <p:spPr>
          <a:xfrm>
            <a:off x="409903" y="1408386"/>
            <a:ext cx="11540359" cy="4477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1800" dirty="0"/>
          </a:p>
          <a:p>
            <a:pPr marL="0" indent="0">
              <a:buFont typeface="Arial"/>
              <a:buNone/>
            </a:pPr>
            <a:endParaRPr lang="en-US" sz="1800" dirty="0"/>
          </a:p>
          <a:p>
            <a:pPr marL="0" indent="0">
              <a:buFont typeface="Arial"/>
              <a:buNone/>
            </a:pP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69CF1-93F4-8EB1-2010-62FE5F37A7DF}"/>
              </a:ext>
            </a:extLst>
          </p:cNvPr>
          <p:cNvSpPr txBox="1"/>
          <p:nvPr/>
        </p:nvSpPr>
        <p:spPr>
          <a:xfrm>
            <a:off x="441435" y="1536174"/>
            <a:ext cx="113406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Landing Success Trend:</a:t>
            </a:r>
            <a:r>
              <a:rPr lang="en-IN" sz="2400" dirty="0"/>
              <a:t> Landing success improved steadily over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Key Factors:</a:t>
            </a:r>
            <a:r>
              <a:rPr lang="en-IN" sz="2400" dirty="0"/>
              <a:t> Payload mass, launch site, orbit type, flight number, and booster version influenced landing success.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EDA, SQL &amp; Visualization:</a:t>
            </a:r>
            <a:r>
              <a:rPr lang="en-IN" sz="2400" dirty="0"/>
              <a:t> SQL queries, Folium maps, and the Plotly Dash dashboard provided interactive insights.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Predictive Analysis:</a:t>
            </a:r>
            <a:r>
              <a:rPr lang="en-IN" sz="2400" dirty="0"/>
              <a:t> The best classification model achieved the highest prediction accuracy.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Overall Outcome:</a:t>
            </a:r>
            <a:r>
              <a:rPr lang="en-IN" sz="2400" dirty="0"/>
              <a:t> Historical launch data can effectively predict Falcon 9 first-stage landing success and support mission planning.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E55EF-D581-9CF3-9BA3-939D83937186}"/>
              </a:ext>
            </a:extLst>
          </p:cNvPr>
          <p:cNvSpPr txBox="1"/>
          <p:nvPr/>
        </p:nvSpPr>
        <p:spPr>
          <a:xfrm>
            <a:off x="1861457" y="5061857"/>
            <a:ext cx="73260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GitHub Repository:</a:t>
            </a:r>
          </a:p>
          <a:p>
            <a:pPr algn="ctr"/>
            <a:endParaRPr lang="en-US" b="1" dirty="0"/>
          </a:p>
          <a:p>
            <a:pPr algn="ctr"/>
            <a:r>
              <a:rPr lang="en-US" sz="1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https://github.com/Satish-KumarRam/IBM-Data-Science-Capstone-Project</a:t>
            </a:r>
            <a:endParaRPr 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5908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4988-88C2-64FE-D96F-5FAEDB782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Flight Number vs. Launch Site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BFF1992-6B02-B279-E196-437EBDE73E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" y="1450427"/>
            <a:ext cx="6096000" cy="456411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0622A-975B-D3C1-CFE7-E8E2245C3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600200"/>
            <a:ext cx="5935717" cy="4414344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Key Findings</a:t>
            </a:r>
            <a:endParaRPr lang="en-IN" dirty="0"/>
          </a:p>
          <a:p>
            <a:pPr lvl="0"/>
            <a:r>
              <a:rPr lang="en-IN" sz="2400" dirty="0"/>
              <a:t>Early Falcon 9 missions had lower landing success, while later missions showed higher success rates.</a:t>
            </a:r>
          </a:p>
          <a:p>
            <a:pPr lvl="0"/>
            <a:r>
              <a:rPr lang="en-IN" sz="2400" dirty="0"/>
              <a:t>Launch success improved as the </a:t>
            </a:r>
            <a:r>
              <a:rPr lang="en-IN" sz="2400" b="1" dirty="0"/>
              <a:t>flight number</a:t>
            </a:r>
            <a:r>
              <a:rPr lang="en-IN" sz="2400" dirty="0"/>
              <a:t> increased, indicating continuous improvements in booster recovery and operational experience. </a:t>
            </a:r>
          </a:p>
          <a:p>
            <a:pPr lvl="0"/>
            <a:r>
              <a:rPr lang="en-IN" sz="2400" b="1" dirty="0"/>
              <a:t>CCAFS SLC 40</a:t>
            </a:r>
            <a:r>
              <a:rPr lang="en-IN" sz="2400" dirty="0"/>
              <a:t> recorded the highest number of Falcon 9 launches, making it the most frequently used launch site. </a:t>
            </a:r>
          </a:p>
          <a:p>
            <a:pPr lvl="0"/>
            <a:r>
              <a:rPr lang="en-IN" sz="2400" b="1" dirty="0"/>
              <a:t>KSC LC 39A</a:t>
            </a:r>
            <a:r>
              <a:rPr lang="en-IN" sz="2400" dirty="0"/>
              <a:t> and </a:t>
            </a:r>
            <a:r>
              <a:rPr lang="en-IN" sz="2400" b="1" dirty="0"/>
              <a:t>VAFB SLC 4E</a:t>
            </a:r>
            <a:r>
              <a:rPr lang="en-IN" sz="2400" dirty="0"/>
              <a:t> also demonstrated successful landings, although with fewer launches than CCAFS SLC 40. </a:t>
            </a:r>
          </a:p>
          <a:p>
            <a:r>
              <a:rPr lang="en-IN" sz="2400" dirty="0"/>
              <a:t>Overall, both launch site and flight number influenced Falcon 9 first-stage landing success.</a:t>
            </a:r>
          </a:p>
        </p:txBody>
      </p:sp>
    </p:spTree>
    <p:extLst>
      <p:ext uri="{BB962C8B-B14F-4D97-AF65-F5344CB8AC3E}">
        <p14:creationId xmlns:p14="http://schemas.microsoft.com/office/powerpoint/2010/main" val="3517882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B2CF-DEB3-BE2F-832B-ABD069D83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/>
              <a:t>Payload Mass vs. Launch Site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36E3C-5569-0A2E-3A1B-32AFA41E5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8345" y="1600200"/>
            <a:ext cx="6253653" cy="4572000"/>
          </a:xfrm>
        </p:spPr>
        <p:txBody>
          <a:bodyPr>
            <a:normAutofit fontScale="85000" lnSpcReduction="20000"/>
          </a:bodyPr>
          <a:lstStyle/>
          <a:p>
            <a:r>
              <a:rPr lang="en-IN" sz="3000" b="1" dirty="0"/>
              <a:t>Key Findings</a:t>
            </a:r>
          </a:p>
          <a:p>
            <a:pPr lvl="0"/>
            <a:r>
              <a:rPr lang="en-IN" sz="2400" b="1" dirty="0"/>
              <a:t>CCAFS SLC 40</a:t>
            </a:r>
            <a:r>
              <a:rPr lang="en-IN" sz="2400" dirty="0"/>
              <a:t> handled the widest range of payload masses and was the most frequently used launch site.</a:t>
            </a:r>
          </a:p>
          <a:p>
            <a:pPr lvl="0"/>
            <a:r>
              <a:rPr lang="en-IN" sz="2400" b="1" dirty="0"/>
              <a:t>KSC LC 39A</a:t>
            </a:r>
            <a:r>
              <a:rPr lang="en-IN" sz="2400" dirty="0"/>
              <a:t> primarily handled medium- to high-payload missions and achieved several successful landings. </a:t>
            </a:r>
          </a:p>
          <a:p>
            <a:pPr lvl="0"/>
            <a:r>
              <a:rPr lang="en-IN" sz="2400" b="1" dirty="0"/>
              <a:t>VAFB SLC 4E</a:t>
            </a:r>
            <a:r>
              <a:rPr lang="en-IN" sz="2400" dirty="0"/>
              <a:t> conducted fewer launches but demonstrated successful missions across different payload categories. </a:t>
            </a:r>
          </a:p>
          <a:p>
            <a:pPr lvl="0"/>
            <a:r>
              <a:rPr lang="en-IN" sz="2400" dirty="0"/>
              <a:t>Both </a:t>
            </a:r>
            <a:r>
              <a:rPr lang="en-IN" sz="2400" b="1" dirty="0"/>
              <a:t>successful</a:t>
            </a:r>
            <a:r>
              <a:rPr lang="en-IN" sz="2400" dirty="0"/>
              <a:t> and </a:t>
            </a:r>
            <a:r>
              <a:rPr lang="en-IN" sz="2400" b="1" dirty="0"/>
              <a:t>unsuccessful</a:t>
            </a:r>
            <a:r>
              <a:rPr lang="en-IN" sz="2400" dirty="0"/>
              <a:t> landings occurred at low, medium, and high payload masses, indicating that </a:t>
            </a:r>
            <a:r>
              <a:rPr lang="en-IN" sz="2400" b="1" dirty="0"/>
              <a:t>payload mass alone was not the primary factor affecting landing success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Overall, launch site and payload mass together influenced Falcon 9 landing success.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4D663B-C687-577E-4BE2-C0232181AC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600200"/>
            <a:ext cx="5759669" cy="434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73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9511-0C4E-7201-C73B-240A3CC51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Success Rate by Orbit</a:t>
            </a:r>
            <a:br>
              <a:rPr lang="en-IN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ED8DE1-F132-69DA-9999-21690FCAD3B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0" y="1387366"/>
            <a:ext cx="6019801" cy="462455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B98BF-3152-047E-DBDF-BBFACB511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1" y="1387366"/>
            <a:ext cx="6172199" cy="4624551"/>
          </a:xfrm>
        </p:spPr>
        <p:txBody>
          <a:bodyPr>
            <a:normAutofit fontScale="85000" lnSpcReduction="20000"/>
          </a:bodyPr>
          <a:lstStyle/>
          <a:p>
            <a:r>
              <a:rPr lang="en-IN" sz="2600" b="1" dirty="0"/>
              <a:t>Key Findings</a:t>
            </a:r>
          </a:p>
          <a:p>
            <a:pPr lvl="0"/>
            <a:r>
              <a:rPr lang="en-IN" sz="2400" b="1" dirty="0"/>
              <a:t>ES-L1, GEO, HEO,</a:t>
            </a:r>
            <a:r>
              <a:rPr lang="en-IN" sz="2400" dirty="0"/>
              <a:t> and </a:t>
            </a:r>
            <a:r>
              <a:rPr lang="en-IN" sz="2400" b="1" dirty="0"/>
              <a:t>SSO</a:t>
            </a:r>
            <a:r>
              <a:rPr lang="en-IN" sz="2400" dirty="0"/>
              <a:t> achieved a </a:t>
            </a:r>
            <a:r>
              <a:rPr lang="en-IN" sz="2400" b="1" dirty="0"/>
              <a:t>100% landing success rate</a:t>
            </a:r>
            <a:r>
              <a:rPr lang="en-IN" sz="2400" dirty="0"/>
              <a:t>, indicating highly reliable mission outcomes for these orbit types. </a:t>
            </a:r>
          </a:p>
          <a:p>
            <a:pPr lvl="0"/>
            <a:r>
              <a:rPr lang="en-IN" sz="2400" b="1" dirty="0"/>
              <a:t>VLEO</a:t>
            </a:r>
            <a:r>
              <a:rPr lang="en-IN" sz="2400" dirty="0"/>
              <a:t> also demonstrated a high landing success rate of approximately </a:t>
            </a:r>
            <a:r>
              <a:rPr lang="en-IN" sz="2400" b="1" dirty="0"/>
              <a:t>86%</a:t>
            </a:r>
            <a:r>
              <a:rPr lang="en-IN" sz="2400" dirty="0"/>
              <a:t>, showing strong booster recovery performance. </a:t>
            </a:r>
          </a:p>
          <a:p>
            <a:pPr lvl="0"/>
            <a:r>
              <a:rPr lang="en-IN" sz="2400" dirty="0"/>
              <a:t>LEO, MEO, ISS, and PO achieved moderate landing success rates, indicating variable mission outcomes across these orbit types.</a:t>
            </a:r>
          </a:p>
          <a:p>
            <a:pPr lvl="0"/>
            <a:r>
              <a:rPr lang="en-IN" sz="2400" b="1" dirty="0"/>
              <a:t>GTO</a:t>
            </a:r>
            <a:r>
              <a:rPr lang="en-IN" sz="2400" dirty="0"/>
              <a:t> recorded a comparatively lower landing success rate, while </a:t>
            </a:r>
            <a:r>
              <a:rPr lang="en-IN" sz="2400" b="1" dirty="0"/>
              <a:t>SO</a:t>
            </a:r>
            <a:r>
              <a:rPr lang="en-IN" sz="2400" dirty="0"/>
              <a:t> showed </a:t>
            </a:r>
            <a:r>
              <a:rPr lang="en-IN" sz="2400" b="1" dirty="0"/>
              <a:t>no successful landings</a:t>
            </a:r>
            <a:r>
              <a:rPr lang="en-IN" sz="2400" dirty="0"/>
              <a:t> in the available dataset. </a:t>
            </a:r>
          </a:p>
          <a:p>
            <a:pPr lvl="0"/>
            <a:r>
              <a:rPr lang="en-IN" sz="2400" dirty="0"/>
              <a:t>Overall, orbit type significantly influenced Falcon 9 landing success, although mission characteristics and operational factors also played important roles.</a:t>
            </a:r>
          </a:p>
        </p:txBody>
      </p:sp>
    </p:spTree>
    <p:extLst>
      <p:ext uri="{BB962C8B-B14F-4D97-AF65-F5344CB8AC3E}">
        <p14:creationId xmlns:p14="http://schemas.microsoft.com/office/powerpoint/2010/main" val="610547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C6A39-2DD4-700D-2971-070040B14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Flight Number vs. Orbit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6CCA3-587F-AAFF-57E4-F9BCE1496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600200"/>
            <a:ext cx="6019799" cy="4390697"/>
          </a:xfrm>
        </p:spPr>
        <p:txBody>
          <a:bodyPr>
            <a:normAutofit/>
          </a:bodyPr>
          <a:lstStyle/>
          <a:p>
            <a:r>
              <a:rPr lang="en-IN" b="1" dirty="0"/>
              <a:t>Key Findings</a:t>
            </a:r>
          </a:p>
          <a:p>
            <a:r>
              <a:rPr lang="en-IN" sz="2200" dirty="0"/>
              <a:t>LEO, ISS, and VLEO missions generally achieved high landing success rates.</a:t>
            </a:r>
          </a:p>
          <a:p>
            <a:r>
              <a:rPr lang="en-IN" sz="2200" dirty="0"/>
              <a:t>GTO missions showed mixed landing outcomes, with both successful and failed landings.</a:t>
            </a:r>
          </a:p>
          <a:p>
            <a:pPr lvl="0"/>
            <a:r>
              <a:rPr lang="en-IN" sz="2200" dirty="0"/>
              <a:t>Landing success generally improved with increasing flight numbers, especially in later missions. </a:t>
            </a:r>
          </a:p>
          <a:p>
            <a:r>
              <a:rPr lang="en-IN" sz="2200" dirty="0"/>
              <a:t>Orbit type influenced landing success, while payload mass and launch site also played important roles.</a:t>
            </a:r>
          </a:p>
          <a:p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B728AF-1456-2365-66BD-56CAF31A19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600200"/>
            <a:ext cx="6019800" cy="439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340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F2725-F169-453F-7665-66C5A942F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Payload Mass vs. Orbit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DD030-A55E-4E81-597D-6066EC90C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376855"/>
            <a:ext cx="6019799" cy="4645573"/>
          </a:xfrm>
        </p:spPr>
        <p:txBody>
          <a:bodyPr>
            <a:normAutofit/>
          </a:bodyPr>
          <a:lstStyle/>
          <a:p>
            <a:r>
              <a:rPr lang="en-IN" b="1" dirty="0"/>
              <a:t>Key Findings</a:t>
            </a:r>
          </a:p>
          <a:p>
            <a:pPr lvl="0"/>
            <a:r>
              <a:rPr lang="en-IN" sz="2400" dirty="0"/>
              <a:t>GTO missions covered a wide range of payload masses, with both successful and unsuccessful landings observed.</a:t>
            </a:r>
          </a:p>
          <a:p>
            <a:pPr lvl="0"/>
            <a:r>
              <a:rPr lang="en-IN" sz="2400" dirty="0"/>
              <a:t>VLEO missions were associated with the highest payload masses. </a:t>
            </a:r>
          </a:p>
          <a:p>
            <a:pPr lvl="0"/>
            <a:r>
              <a:rPr lang="en-IN" sz="2400" dirty="0"/>
              <a:t>LEO and ISS missions generally carried low to medium payload masses.</a:t>
            </a:r>
          </a:p>
          <a:p>
            <a:pPr lvl="0"/>
            <a:r>
              <a:rPr lang="en-IN" sz="2400" dirty="0"/>
              <a:t>Payload mass alone did not determine Falcon 9 landing success; orbit type and mission characteristics also influenced landing outcomes.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7A5151-B27F-DD19-F7F0-25A3D473CB2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600200"/>
            <a:ext cx="60198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84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77B56-629A-FD69-8C31-3E6F2481C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Yearly Launch Success Trend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7DB9F-10F9-E9E4-2A55-5C8C74947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600200"/>
            <a:ext cx="6019799" cy="4169979"/>
          </a:xfrm>
        </p:spPr>
        <p:txBody>
          <a:bodyPr>
            <a:normAutofit/>
          </a:bodyPr>
          <a:lstStyle/>
          <a:p>
            <a:r>
              <a:rPr lang="en-IN" sz="2400" b="1" dirty="0"/>
              <a:t>Key Findings</a:t>
            </a:r>
          </a:p>
          <a:p>
            <a:pPr lvl="0"/>
            <a:r>
              <a:rPr lang="en-IN" sz="2200" dirty="0"/>
              <a:t>Overall launch success rates improved over the years despite minor fluctuations.</a:t>
            </a:r>
          </a:p>
          <a:p>
            <a:pPr lvl="0"/>
            <a:r>
              <a:rPr lang="en-IN" sz="2200" dirty="0"/>
              <a:t>Success rates were very low during the early years (2010–2013). </a:t>
            </a:r>
          </a:p>
          <a:p>
            <a:pPr lvl="0"/>
            <a:r>
              <a:rPr lang="en-IN" sz="2400" dirty="0"/>
              <a:t>From 2016 onward, average launch success rates increased significantly.</a:t>
            </a:r>
          </a:p>
          <a:p>
            <a:pPr lvl="0"/>
            <a:r>
              <a:rPr lang="en-IN" sz="2200" dirty="0"/>
              <a:t>By 2019–2020, SpaceX consistently achieved high launch success rates, demonstrating improved booster recovery and mission reliability.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4EC76C-F2B7-5ED9-6C3C-ADB136229A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706690"/>
            <a:ext cx="5927834" cy="446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331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9C2EF-6B42-0E80-4D37-BF39736D7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/>
              <a:t>Model Evaluation – Confusion Matrix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CDDAF-3B94-F041-8097-EFCED477D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6095999" cy="4572000"/>
          </a:xfrm>
        </p:spPr>
        <p:txBody>
          <a:bodyPr>
            <a:normAutofit lnSpcReduction="10000"/>
          </a:bodyPr>
          <a:lstStyle/>
          <a:p>
            <a:r>
              <a:rPr lang="en-IN" sz="2400" b="1" dirty="0"/>
              <a:t>Key Findings</a:t>
            </a:r>
          </a:p>
          <a:p>
            <a:pPr lvl="0"/>
            <a:r>
              <a:rPr lang="en-IN" sz="2400" dirty="0"/>
              <a:t>The model correctly predicted </a:t>
            </a:r>
            <a:r>
              <a:rPr lang="en-IN" sz="2400" b="1" dirty="0"/>
              <a:t>12 successful landings (True Positives)</a:t>
            </a:r>
            <a:r>
              <a:rPr lang="en-IN" sz="2400" dirty="0"/>
              <a:t>. </a:t>
            </a:r>
          </a:p>
          <a:p>
            <a:pPr lvl="0"/>
            <a:r>
              <a:rPr lang="en-IN" sz="2400" b="1" dirty="0"/>
              <a:t>2 unsuccessful landings</a:t>
            </a:r>
            <a:r>
              <a:rPr lang="en-IN" sz="2400" dirty="0"/>
              <a:t> were correctly classified (True Negatives). </a:t>
            </a:r>
          </a:p>
          <a:p>
            <a:pPr lvl="0"/>
            <a:r>
              <a:rPr lang="en-IN" sz="2400" b="1" dirty="0"/>
              <a:t>4 unsuccessful landings</a:t>
            </a:r>
            <a:r>
              <a:rPr lang="en-IN" sz="2400" dirty="0"/>
              <a:t> were incorrectly predicted as successful (False Positives). </a:t>
            </a:r>
          </a:p>
          <a:p>
            <a:pPr lvl="0"/>
            <a:r>
              <a:rPr lang="en-IN" sz="2400" dirty="0"/>
              <a:t>The model demonstrated strong performance in identifying successful landings, with no false negatives, although some unsuccessful missions were incorrectly classified as successful.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5104F8-5136-26EF-9AFC-1242A0574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600200"/>
            <a:ext cx="6019800" cy="4572000"/>
          </a:xfrm>
        </p:spPr>
        <p:txBody>
          <a:bodyPr>
            <a:normAutofit lnSpcReduction="10000"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52B133-92AA-31E9-7740-61951F6EB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7744"/>
            <a:ext cx="60198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640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2497-7C26-C452-3B75-7C083BA3A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Landing Success by Launch Site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91ABDF-F27C-11B6-6503-5F96EEFD1F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0" y="1631538"/>
            <a:ext cx="6019800" cy="404404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2FAC5-C8B1-DBB2-90D4-EA67DED14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904186" cy="4075386"/>
          </a:xfrm>
        </p:spPr>
        <p:txBody>
          <a:bodyPr>
            <a:normAutofit fontScale="92500"/>
          </a:bodyPr>
          <a:lstStyle/>
          <a:p>
            <a:r>
              <a:rPr lang="en-IN" sz="2400" b="1" dirty="0"/>
              <a:t>Key Findings</a:t>
            </a:r>
          </a:p>
          <a:p>
            <a:pPr lvl="0"/>
            <a:r>
              <a:rPr lang="en-IN" sz="2400" b="1" dirty="0"/>
              <a:t>KSC LC 39A</a:t>
            </a:r>
            <a:r>
              <a:rPr lang="en-IN" sz="2400" dirty="0"/>
              <a:t> achieved the </a:t>
            </a:r>
            <a:r>
              <a:rPr lang="en-IN" sz="2400" b="1" dirty="0"/>
              <a:t>highest average landing success rate</a:t>
            </a:r>
            <a:r>
              <a:rPr lang="en-IN" sz="2400" dirty="0"/>
              <a:t> among all launch sites. </a:t>
            </a:r>
          </a:p>
          <a:p>
            <a:pPr lvl="0"/>
            <a:r>
              <a:rPr lang="en-IN" sz="2400" b="1" dirty="0"/>
              <a:t>VAFB SLC 4E</a:t>
            </a:r>
            <a:r>
              <a:rPr lang="en-IN" sz="2400" dirty="0"/>
              <a:t> also recorded a </a:t>
            </a:r>
            <a:r>
              <a:rPr lang="en-IN" sz="2400" b="1" dirty="0"/>
              <a:t>high landing success rate</a:t>
            </a:r>
            <a:r>
              <a:rPr lang="en-IN" sz="2400" dirty="0"/>
              <a:t>, indicating strong mission performance. </a:t>
            </a:r>
          </a:p>
          <a:p>
            <a:pPr lvl="0"/>
            <a:r>
              <a:rPr lang="en-IN" sz="2400" b="1" dirty="0"/>
              <a:t>CCAFS SLC 40</a:t>
            </a:r>
            <a:r>
              <a:rPr lang="en-IN" sz="2400" dirty="0"/>
              <a:t> showed the </a:t>
            </a:r>
            <a:r>
              <a:rPr lang="en-IN" sz="2400" b="1" dirty="0"/>
              <a:t>lowest average landing success rate</a:t>
            </a:r>
            <a:r>
              <a:rPr lang="en-IN" sz="2400" dirty="0"/>
              <a:t> in the dataset. </a:t>
            </a:r>
          </a:p>
          <a:p>
            <a:pPr lvl="0"/>
            <a:r>
              <a:rPr lang="en-IN" sz="2400" dirty="0"/>
              <a:t>Launch site significantly influenced Falcon 9 first-stage landing success.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19EBCE-247E-F036-3E10-3B3C8C95FFA9}"/>
              </a:ext>
            </a:extLst>
          </p:cNvPr>
          <p:cNvSpPr txBox="1"/>
          <p:nvPr/>
        </p:nvSpPr>
        <p:spPr>
          <a:xfrm>
            <a:off x="3603171" y="5632406"/>
            <a:ext cx="642257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GitHub Repository:</a:t>
            </a:r>
          </a:p>
          <a:p>
            <a:pPr algn="ctr"/>
            <a:endParaRPr lang="en-US" dirty="0"/>
          </a:p>
          <a:p>
            <a:pPr algn="ctr"/>
            <a:r>
              <a:rPr lang="en-IN" sz="1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https://github.com/Satish-KumarRam/IBM-Data-Science-Capstone-Project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470063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0A9BF-FA1A-16B2-22A0-10DE7D349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/>
          <a:lstStyle/>
          <a:p>
            <a:pPr algn="ctr"/>
            <a:r>
              <a:rPr lang="en-IN" dirty="0"/>
              <a:t>Launch Site Proximity Analysis (CCAFS)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E324E-4C98-8046-1238-B0DE803EC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8759" y="1600200"/>
            <a:ext cx="5738647" cy="4064876"/>
          </a:xfrm>
        </p:spPr>
        <p:txBody>
          <a:bodyPr>
            <a:normAutofit/>
          </a:bodyPr>
          <a:lstStyle/>
          <a:p>
            <a:r>
              <a:rPr lang="en-IN" sz="2400" b="1" dirty="0"/>
              <a:t>Key Findings:</a:t>
            </a:r>
          </a:p>
          <a:p>
            <a:pPr lvl="0"/>
            <a:r>
              <a:rPr lang="en-IN" sz="2200" dirty="0"/>
              <a:t>CCAFS launch site is located close to the coastline.</a:t>
            </a:r>
          </a:p>
          <a:p>
            <a:pPr lvl="0"/>
            <a:r>
              <a:rPr lang="en-IN" sz="2200" dirty="0"/>
              <a:t>The coastal location supports safe launch trajectories over the ocean. </a:t>
            </a:r>
          </a:p>
          <a:p>
            <a:pPr lvl="0"/>
            <a:r>
              <a:rPr lang="en-IN" sz="2200" dirty="0"/>
              <a:t>The site is positioned away from major populated areas to improve safety. </a:t>
            </a:r>
          </a:p>
          <a:p>
            <a:pPr lvl="0"/>
            <a:r>
              <a:rPr lang="en-IN" sz="2200" dirty="0"/>
              <a:t>The proximity map highlights CCAFS's strategic coastal location for safe launch operations.</a:t>
            </a:r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8C70AC36-1D4C-3B7C-48B1-E1C29AEA5D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-1" y="1600200"/>
            <a:ext cx="6358759" cy="406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264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SPACEX FALCON 9 –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Findings</a:t>
            </a:r>
            <a:endParaRPr lang="en-US" dirty="0"/>
          </a:p>
          <a:p>
            <a:r>
              <a:rPr lang="en-IN" sz="2400" dirty="0"/>
              <a:t>Launch success rate improved over time.</a:t>
            </a:r>
            <a:endParaRPr lang="en-US" sz="2400" dirty="0"/>
          </a:p>
          <a:p>
            <a:r>
              <a:rPr lang="en-IN" sz="2400" dirty="0"/>
              <a:t>Launch site, payload mass, flight number, and orbit type significantly influenced landing success.</a:t>
            </a:r>
          </a:p>
          <a:p>
            <a:r>
              <a:rPr lang="en-IN" sz="2400" dirty="0"/>
              <a:t>The best-performing classification model demonstrated strong predictive performance.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Implications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IN" sz="2400" dirty="0"/>
              <a:t>Machine learning can effectively predict Falcon 9 landing success. </a:t>
            </a:r>
          </a:p>
          <a:p>
            <a:r>
              <a:rPr lang="en-IN" sz="2400" dirty="0"/>
              <a:t>The predictive model can support mission planning and reduce launch costs.</a:t>
            </a:r>
          </a:p>
          <a:p>
            <a:pPr lvl="0"/>
            <a:r>
              <a:rPr lang="en-IN" sz="2400" dirty="0"/>
              <a:t>Data-driven insights help improve future SpaceX launch decisions.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Results – Visualizations &amp; Dashboard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486" y="1754331"/>
            <a:ext cx="3374572" cy="5732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EDA Visualizations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614948" cy="5019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Interactive Dashboard</a:t>
            </a:r>
            <a:endParaRPr lang="en-US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E86EFD-B801-5996-879A-7A13CF75507C}"/>
              </a:ext>
            </a:extLst>
          </p:cNvPr>
          <p:cNvSpPr txBox="1">
            <a:spLocks/>
          </p:cNvSpPr>
          <p:nvPr/>
        </p:nvSpPr>
        <p:spPr>
          <a:xfrm>
            <a:off x="483477" y="2496151"/>
            <a:ext cx="4969672" cy="3242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2400" dirty="0">
                <a:solidFill>
                  <a:schemeClr val="tx1"/>
                </a:solidFill>
              </a:rPr>
              <a:t>Flight Number vs. Launch Site 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Payload Mass vs. Launch Site 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Success Rate by Orbit 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Flight Number vs. Orbit 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Payload Mass vs. Orbit 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Yearly Launch Success Trend 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Landing Success by Launch Site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288C39-3E30-44CF-06C3-D46763CC8E0C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2400" dirty="0">
                <a:solidFill>
                  <a:schemeClr val="tx1"/>
                </a:solidFill>
              </a:rPr>
              <a:t>SQL Query Results 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Folium Launch Site Map 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Plotly Dash Dashboard 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Confusion Matrix (Model Evaluation)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A59009-3D5A-F6B4-540B-109E6E6FD047}"/>
              </a:ext>
            </a:extLst>
          </p:cNvPr>
          <p:cNvSpPr txBox="1"/>
          <p:nvPr/>
        </p:nvSpPr>
        <p:spPr>
          <a:xfrm>
            <a:off x="5334000" y="4985657"/>
            <a:ext cx="64987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GitHub Repository:</a:t>
            </a:r>
          </a:p>
          <a:p>
            <a:pPr algn="ctr"/>
            <a:endParaRPr lang="en-US" b="1" dirty="0"/>
          </a:p>
          <a:p>
            <a:pPr algn="ctr"/>
            <a:r>
              <a:rPr lang="en-IN" sz="1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https://github.com/Satish-KumarRam/IBM-Data-Science-Capstone-Project</a:t>
            </a:r>
            <a:endParaRPr lang="en-IN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9813-A814-1BC2-62A6-93F767A71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9510"/>
            <a:ext cx="10515600" cy="1300751"/>
          </a:xfrm>
        </p:spPr>
        <p:txBody>
          <a:bodyPr/>
          <a:lstStyle/>
          <a:p>
            <a:pPr algn="ctr"/>
            <a:r>
              <a:rPr lang="en-IN" dirty="0"/>
              <a:t>Interactive Dashboard (Plotly Dash)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195187-D8E7-1445-177F-C01F1184E1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91862"/>
            <a:ext cx="7273160" cy="36611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81C8C4-68A1-2EE2-5BB7-1D90EA1B7AB5}"/>
              </a:ext>
            </a:extLst>
          </p:cNvPr>
          <p:cNvSpPr txBox="1"/>
          <p:nvPr/>
        </p:nvSpPr>
        <p:spPr>
          <a:xfrm>
            <a:off x="304800" y="1305004"/>
            <a:ext cx="6968360" cy="899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Total Success Launches by All Sites (Pie Chart)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716A18-9365-1CC9-E029-E790959521D5}"/>
              </a:ext>
            </a:extLst>
          </p:cNvPr>
          <p:cNvSpPr txBox="1"/>
          <p:nvPr/>
        </p:nvSpPr>
        <p:spPr>
          <a:xfrm>
            <a:off x="7525406" y="1524000"/>
            <a:ext cx="4666593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Key Findings:</a:t>
            </a:r>
          </a:p>
          <a:p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Interactive dashboard developed using Plotly Dash.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Displays successful launches across all launch sites.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KSC LC-39A recorded the highest number of successful launches.</a:t>
            </a:r>
          </a:p>
          <a:p>
            <a:endParaRPr lang="en-IN" b="1" dirty="0"/>
          </a:p>
          <a:p>
            <a:pPr algn="ctr"/>
            <a:r>
              <a:rPr lang="en-IN" b="1" dirty="0"/>
              <a:t>GitHub Repository:</a:t>
            </a:r>
          </a:p>
          <a:p>
            <a:pPr algn="ctr"/>
            <a:endParaRPr lang="en-IN" b="1" dirty="0"/>
          </a:p>
          <a:p>
            <a:pPr algn="ctr"/>
            <a:r>
              <a:rPr lang="en-IN" sz="16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https://github.com/Satish-KumarRam/IBM-Data-Science-Capstone-Project</a:t>
            </a:r>
            <a:endParaRPr lang="en-IN" sz="1600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73682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BCB6F-FDDE-4983-F5C9-64134F73A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166"/>
            <a:ext cx="10515600" cy="1103585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Launch Site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2A1914-EB1F-F6D5-D0EA-9612FBDD35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333" y="2090770"/>
            <a:ext cx="6378184" cy="37233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1438A3-4C72-BAC9-E68E-5A5A41E90A9F}"/>
              </a:ext>
            </a:extLst>
          </p:cNvPr>
          <p:cNvSpPr txBox="1"/>
          <p:nvPr/>
        </p:nvSpPr>
        <p:spPr>
          <a:xfrm>
            <a:off x="641131" y="1450428"/>
            <a:ext cx="5244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KSC LC-39A: Success vs Failure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280D13-CE90-B962-BD21-B43E71A82956}"/>
              </a:ext>
            </a:extLst>
          </p:cNvPr>
          <p:cNvSpPr txBox="1"/>
          <p:nvPr/>
        </p:nvSpPr>
        <p:spPr>
          <a:xfrm>
            <a:off x="7052441" y="1545021"/>
            <a:ext cx="50554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Key Findings:</a:t>
            </a: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Payload mass is compared with launch success.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Different colors represent booster versions.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dashboard allows interactive payload range filtering.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visualization helps identify payload-related launch patterns.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endParaRPr lang="en-IN" b="1" dirty="0"/>
          </a:p>
          <a:p>
            <a:pPr algn="ctr"/>
            <a:r>
              <a:rPr lang="en-IN" b="1" dirty="0"/>
              <a:t>GitHub Repository:</a:t>
            </a:r>
          </a:p>
          <a:p>
            <a:pPr algn="ctr"/>
            <a:endParaRPr lang="en-IN" b="1" dirty="0"/>
          </a:p>
          <a:p>
            <a:pPr algn="ctr"/>
            <a:r>
              <a:rPr lang="en-IN" sz="1600" dirty="0">
                <a:solidFill>
                  <a:srgbClr val="0072C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https://github.com/Satish-KumarRam/IBM-Data-Science-Capstone-Project</a:t>
            </a:r>
            <a:endParaRPr lang="en-IN" sz="1600" dirty="0">
              <a:solidFill>
                <a:srgbClr val="0072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226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E5FB-429A-F315-DCE0-C13A1100F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8668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Interactive Launch Site Map (Folium)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D86E98-4263-2F1D-5287-315E04DC5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1833019"/>
            <a:ext cx="5875284" cy="41894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413E06-F946-BEBE-D121-BE68ED4BE8E5}"/>
              </a:ext>
            </a:extLst>
          </p:cNvPr>
          <p:cNvSpPr txBox="1"/>
          <p:nvPr/>
        </p:nvSpPr>
        <p:spPr>
          <a:xfrm>
            <a:off x="268014" y="1342574"/>
            <a:ext cx="5092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Launch Site Distribution (Folium)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E726F-C34A-346B-82B1-9374006BC031}"/>
              </a:ext>
            </a:extLst>
          </p:cNvPr>
          <p:cNvSpPr txBox="1"/>
          <p:nvPr/>
        </p:nvSpPr>
        <p:spPr>
          <a:xfrm>
            <a:off x="5948855" y="1314189"/>
            <a:ext cx="5975131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Key Findings: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Visualized Falcon 9 launch sites using Folium.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Interactive markers display launch site locations and launch counts.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CCAFS SLC-40 recorded the highest number of Falcon 9 launches, indicating it was the most active launch site.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Geographic analysis helped compare launch site distribution.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Location-based visualization helped identify launch site patterns and supported predictive analysis.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1060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0697E-E9ED-A44D-FEBB-F5AA6CFBC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61241"/>
          </a:xfrm>
        </p:spPr>
        <p:txBody>
          <a:bodyPr/>
          <a:lstStyle/>
          <a:p>
            <a:pPr algn="ctr"/>
            <a:r>
              <a:rPr lang="en-IN" dirty="0"/>
              <a:t>Payload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804D26-1F0B-5B1C-791A-130630574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122300"/>
            <a:ext cx="7420302" cy="33738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7E8BA3-6A6E-E744-C144-36D5F640DA76}"/>
              </a:ext>
            </a:extLst>
          </p:cNvPr>
          <p:cNvSpPr txBox="1"/>
          <p:nvPr/>
        </p:nvSpPr>
        <p:spPr>
          <a:xfrm>
            <a:off x="241738" y="1460938"/>
            <a:ext cx="6894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Payload vs Launch Success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9292C6-04FE-466A-2AA9-2884D4A0E718}"/>
              </a:ext>
            </a:extLst>
          </p:cNvPr>
          <p:cNvSpPr txBox="1"/>
          <p:nvPr/>
        </p:nvSpPr>
        <p:spPr>
          <a:xfrm>
            <a:off x="7420302" y="1460938"/>
            <a:ext cx="4771697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Key Findings: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Shows the relationship between payload mass and launch success.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Interactive payload range slider enables dynamic filtering.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Different booster versions are represented by different colors.</a:t>
            </a:r>
          </a:p>
          <a:p>
            <a:endParaRPr lang="en-IN" sz="2400" b="1" dirty="0"/>
          </a:p>
          <a:p>
            <a:pPr algn="ctr"/>
            <a:r>
              <a:rPr lang="en-IN" sz="2000" b="1" dirty="0"/>
              <a:t>GitHub Repository:</a:t>
            </a:r>
          </a:p>
          <a:p>
            <a:pPr algn="ctr"/>
            <a:endParaRPr lang="en-IN" sz="2400" b="1" dirty="0"/>
          </a:p>
          <a:p>
            <a:pPr algn="ctr"/>
            <a:r>
              <a:rPr lang="en-IN" sz="1600" dirty="0">
                <a:solidFill>
                  <a:srgbClr val="0072C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https://github.com/Satish-KumarRam/IBM-Data-Science-Capstone-Project</a:t>
            </a:r>
            <a:endParaRPr lang="en-IN" sz="1600" dirty="0">
              <a:solidFill>
                <a:srgbClr val="0072C3"/>
              </a:solidFill>
            </a:endParaRP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565568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6390B-BCF3-2BD1-8DB7-8DC8D4641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FE341-37B6-1A7A-43AB-27E7F7AFAE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600200"/>
            <a:ext cx="6019800" cy="4572000"/>
          </a:xfrm>
        </p:spPr>
        <p:txBody>
          <a:bodyPr>
            <a:normAutofit/>
          </a:bodyPr>
          <a:lstStyle/>
          <a:p>
            <a:r>
              <a:rPr lang="en-IN" b="1" dirty="0"/>
              <a:t>Key Takeaways</a:t>
            </a:r>
          </a:p>
          <a:p>
            <a:r>
              <a:rPr lang="en-IN" sz="2400" dirty="0"/>
              <a:t>The analysis identified several factors that influence </a:t>
            </a:r>
            <a:r>
              <a:rPr lang="en-IN" sz="2400" b="1" dirty="0"/>
              <a:t>SpaceX Falcon 9 landing success</a:t>
            </a:r>
            <a:r>
              <a:rPr lang="en-IN" sz="2400" dirty="0"/>
              <a:t>.</a:t>
            </a:r>
          </a:p>
          <a:p>
            <a:r>
              <a:rPr lang="en-IN" sz="2400" b="1" dirty="0"/>
              <a:t>Flight Number</a:t>
            </a:r>
            <a:r>
              <a:rPr lang="en-IN" sz="2400" dirty="0"/>
              <a:t> showed a positive relationship with landing success, indicating improved performance over time.</a:t>
            </a:r>
          </a:p>
          <a:p>
            <a:r>
              <a:rPr lang="en-IN" sz="2400" dirty="0"/>
              <a:t>Payload mass, orbit type, and launch site were key factors influencing landing success.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4C101-A308-275B-9441-A1EEAF8E0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600200"/>
            <a:ext cx="6019799" cy="4572000"/>
          </a:xfrm>
        </p:spPr>
        <p:txBody>
          <a:bodyPr>
            <a:normAutofit/>
          </a:bodyPr>
          <a:lstStyle/>
          <a:p>
            <a:r>
              <a:rPr lang="en-IN" b="1" dirty="0"/>
              <a:t>Overall Findings</a:t>
            </a:r>
          </a:p>
          <a:p>
            <a:r>
              <a:rPr lang="en-IN" sz="2400" dirty="0"/>
              <a:t>Landing success rates improved significantly over time, reaching their highest levels by 2019 and remaining consistently high thereafter.</a:t>
            </a:r>
          </a:p>
          <a:p>
            <a:r>
              <a:rPr lang="en-IN" sz="2400" dirty="0"/>
              <a:t>Historical launch data provides valuable insights into Falcon 9 landing success and supports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398671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IN" dirty="0"/>
              <a:t>GITHUB REPOSITORY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/>
              <a:t>GitHub Repository</a:t>
            </a:r>
            <a:endParaRPr lang="en-US" sz="2200" b="1" u="sng" dirty="0">
              <a:solidFill>
                <a:srgbClr val="0072C3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sz="2200" u="sng" dirty="0">
                <a:solidFill>
                  <a:srgbClr val="0072C3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https://github.com/Satish-KumarRam/IBM-Data-Science-Capstone-Project</a:t>
            </a:r>
            <a:endParaRPr lang="en-US" sz="2200" u="sng" dirty="0">
              <a:solidFill>
                <a:srgbClr val="0072C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1901819"/>
            <a:ext cx="4131836" cy="38096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APPENDIX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589314"/>
            <a:ext cx="7300868" cy="3156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Additional Analysis</a:t>
            </a:r>
            <a:endParaRPr lang="en-IN" dirty="0"/>
          </a:p>
          <a:p>
            <a:pPr lvl="0"/>
            <a:r>
              <a:rPr lang="en-IN" sz="2400" dirty="0"/>
              <a:t>SQL query outputs used for exploratory analysis. </a:t>
            </a:r>
          </a:p>
          <a:p>
            <a:pPr lvl="0"/>
            <a:r>
              <a:rPr lang="en-IN" sz="2400" dirty="0"/>
              <a:t>Interactive Plotly Dash dashboard for exploratory data analysis.</a:t>
            </a:r>
          </a:p>
          <a:p>
            <a:pPr lvl="0"/>
            <a:r>
              <a:rPr lang="en-IN" sz="2400" dirty="0"/>
              <a:t>Folium map showing launch site proximity. </a:t>
            </a:r>
          </a:p>
          <a:p>
            <a:pPr lvl="0"/>
            <a:r>
              <a:rPr lang="en-IN" sz="2400" dirty="0"/>
              <a:t>Additional EDA charts supporting model development.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68166" y="1682804"/>
            <a:ext cx="4035972" cy="42765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EC41F8-6A38-74E6-2697-E8E27733B4D6}"/>
              </a:ext>
            </a:extLst>
          </p:cNvPr>
          <p:cNvSpPr txBox="1"/>
          <p:nvPr/>
        </p:nvSpPr>
        <p:spPr>
          <a:xfrm>
            <a:off x="4865914" y="4963886"/>
            <a:ext cx="64878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GitHub Repository:</a:t>
            </a:r>
          </a:p>
          <a:p>
            <a:pPr algn="ctr"/>
            <a:endParaRPr lang="en-IN" b="1" dirty="0"/>
          </a:p>
          <a:p>
            <a:pPr algn="ctr"/>
            <a:r>
              <a:rPr lang="en-IN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https://github.com/Satish-KumarRam/IBM-Data-Science-Capstone-Project</a:t>
            </a:r>
            <a:endParaRPr lang="en-IN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851AAAE-35F9-B79F-6905-4E8B93B93625}"/>
              </a:ext>
            </a:extLst>
          </p:cNvPr>
          <p:cNvSpPr txBox="1"/>
          <p:nvPr/>
        </p:nvSpPr>
        <p:spPr>
          <a:xfrm>
            <a:off x="0" y="-12312"/>
            <a:ext cx="12192000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pPr algn="ctr"/>
            <a:r>
              <a:rPr lang="en-US" sz="9600" dirty="0"/>
              <a:t>Thank You!</a:t>
            </a:r>
          </a:p>
          <a:p>
            <a:endParaRPr lang="en-US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pPr algn="ctr"/>
            <a:r>
              <a:rPr lang="en-US" sz="3000" dirty="0"/>
              <a:t>IBM Data Science Professional Certificate </a:t>
            </a:r>
          </a:p>
          <a:p>
            <a:pPr algn="ctr"/>
            <a:r>
              <a:rPr lang="en-US" sz="3000" dirty="0"/>
              <a:t>Capstone Project</a:t>
            </a:r>
            <a:endParaRPr lang="en-IN" sz="30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4110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DA07C5-A406-4A0D-B3E6-3856C94AC7F3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f80a141d-92ca-4d3d-9308-f7e7b1d44ce8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55be751-a274-42e8-93fb-f39d3b9bccc8"/>
  </ds:schemaRefs>
</ds:datastoreItem>
</file>

<file path=customXml/itemProps2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1913</TotalTime>
  <Words>1886</Words>
  <Application>Microsoft Office PowerPoint</Application>
  <PresentationFormat>Widescreen</PresentationFormat>
  <Paragraphs>268</Paragraphs>
  <Slides>27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Helv</vt:lpstr>
      <vt:lpstr>IBM Plex Mono</vt:lpstr>
      <vt:lpstr>IBM Plex Sans</vt:lpstr>
      <vt:lpstr>IBM Plex Sans SemiBold</vt:lpstr>
      <vt:lpstr>SLIDE_TEMPLATE_skill_network</vt:lpstr>
      <vt:lpstr>SpaceX Falcon 9 First Stage Landing Prediction</vt:lpstr>
      <vt:lpstr>PowerPoint Presentation</vt:lpstr>
      <vt:lpstr>EXECUTIVE SUMMARY</vt:lpstr>
      <vt:lpstr>INTRODUCTION</vt:lpstr>
      <vt:lpstr>METHODOLOGY</vt:lpstr>
      <vt:lpstr>EDA Using SQL Queries (Part 1)</vt:lpstr>
      <vt:lpstr>EDA Using SQL Queries (Part 2)</vt:lpstr>
      <vt:lpstr>Results</vt:lpstr>
      <vt:lpstr>Flight Number vs. Launch Site</vt:lpstr>
      <vt:lpstr>Payload Mass vs. Launch Site</vt:lpstr>
      <vt:lpstr>Success Rate by Orbit </vt:lpstr>
      <vt:lpstr>Flight Number vs. Orbit</vt:lpstr>
      <vt:lpstr>Payload Mass vs. Orbit </vt:lpstr>
      <vt:lpstr>Yearly Launch Success Trend</vt:lpstr>
      <vt:lpstr>Model Evaluation – Confusion Matrix</vt:lpstr>
      <vt:lpstr>Landing Success by Launch Site</vt:lpstr>
      <vt:lpstr>Launch Site Proximity Analysis (CCAFS)</vt:lpstr>
      <vt:lpstr>SPACEX FALCON 9 – FINDINGS &amp; IMPLICATIONS</vt:lpstr>
      <vt:lpstr>Results – Visualizations &amp; Dashboard</vt:lpstr>
      <vt:lpstr>Interactive Dashboard (Plotly Dash)</vt:lpstr>
      <vt:lpstr>Launch Site Analysis</vt:lpstr>
      <vt:lpstr>Interactive Launch Site Map (Folium)</vt:lpstr>
      <vt:lpstr>Payload Analysis</vt:lpstr>
      <vt:lpstr>Conclusion </vt:lpstr>
      <vt:lpstr>GITHUB REPOSITORY</vt:lpstr>
      <vt:lpstr>APPENDIX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Satish Thakur</cp:lastModifiedBy>
  <cp:revision>115</cp:revision>
  <dcterms:created xsi:type="dcterms:W3CDTF">2024-10-30T05:40:03Z</dcterms:created>
  <dcterms:modified xsi:type="dcterms:W3CDTF">2026-08-05T18:49:11Z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