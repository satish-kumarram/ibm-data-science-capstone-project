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9.xml" ContentType="application/vnd.openxmlformats-officedocument.presentationml.tags+xml"/>
  <Override PartName="/ppt/notesSlides/notesSlide2.xml" ContentType="application/vnd.openxmlformats-officedocument.presentationml.notesSlide+xml"/>
  <Override PartName="/ppt/tags/tag10.xml" ContentType="application/vnd.openxmlformats-officedocument.presentationml.tags+xml"/>
  <Override PartName="/ppt/notesSlides/notesSlide3.xml" ContentType="application/vnd.openxmlformats-officedocument.presentationml.notesSlide+xml"/>
  <Override PartName="/ppt/tags/tag11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2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tags/tag14.xml" ContentType="application/vnd.openxmlformats-officedocument.presentationml.tags+xml"/>
  <Override PartName="/ppt/notesSlides/notesSlide13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41"/>
  </p:notesMasterIdLst>
  <p:sldIdLst>
    <p:sldId id="256" r:id="rId5"/>
    <p:sldId id="288" r:id="rId6"/>
    <p:sldId id="259" r:id="rId7"/>
    <p:sldId id="258" r:id="rId8"/>
    <p:sldId id="260" r:id="rId9"/>
    <p:sldId id="297" r:id="rId10"/>
    <p:sldId id="303" r:id="rId11"/>
    <p:sldId id="302" r:id="rId12"/>
    <p:sldId id="300" r:id="rId13"/>
    <p:sldId id="301" r:id="rId14"/>
    <p:sldId id="289" r:id="rId15"/>
    <p:sldId id="293" r:id="rId16"/>
    <p:sldId id="304" r:id="rId17"/>
    <p:sldId id="299" r:id="rId18"/>
    <p:sldId id="298" r:id="rId19"/>
    <p:sldId id="261" r:id="rId20"/>
    <p:sldId id="278" r:id="rId21"/>
    <p:sldId id="283" r:id="rId22"/>
    <p:sldId id="284" r:id="rId23"/>
    <p:sldId id="277" r:id="rId24"/>
    <p:sldId id="285" r:id="rId25"/>
    <p:sldId id="286" r:id="rId26"/>
    <p:sldId id="281" r:id="rId27"/>
    <p:sldId id="280" r:id="rId28"/>
    <p:sldId id="287" r:id="rId29"/>
    <p:sldId id="263" r:id="rId30"/>
    <p:sldId id="264" r:id="rId31"/>
    <p:sldId id="291" r:id="rId32"/>
    <p:sldId id="290" r:id="rId33"/>
    <p:sldId id="292" r:id="rId34"/>
    <p:sldId id="305" r:id="rId35"/>
    <p:sldId id="295" r:id="rId36"/>
    <p:sldId id="282" r:id="rId37"/>
    <p:sldId id="266" r:id="rId38"/>
    <p:sldId id="273" r:id="rId39"/>
    <p:sldId id="296" r:id="rId40"/>
  </p:sldIdLst>
  <p:sldSz cx="12192000" cy="6858000"/>
  <p:notesSz cx="6858000" cy="1857375"/>
  <p:custDataLst>
    <p:tags r:id="rId4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054FF21-EC98-4CE8-8061-B6A003B18E50}">
          <p14:sldIdLst>
            <p14:sldId id="256"/>
            <p14:sldId id="288"/>
            <p14:sldId id="259"/>
            <p14:sldId id="258"/>
            <p14:sldId id="260"/>
            <p14:sldId id="297"/>
            <p14:sldId id="303"/>
            <p14:sldId id="302"/>
            <p14:sldId id="300"/>
            <p14:sldId id="301"/>
            <p14:sldId id="289"/>
            <p14:sldId id="293"/>
            <p14:sldId id="304"/>
            <p14:sldId id="299"/>
            <p14:sldId id="298"/>
            <p14:sldId id="261"/>
            <p14:sldId id="278"/>
            <p14:sldId id="283"/>
            <p14:sldId id="284"/>
            <p14:sldId id="277"/>
            <p14:sldId id="285"/>
            <p14:sldId id="286"/>
            <p14:sldId id="281"/>
            <p14:sldId id="280"/>
            <p14:sldId id="287"/>
            <p14:sldId id="263"/>
            <p14:sldId id="264"/>
            <p14:sldId id="291"/>
            <p14:sldId id="290"/>
            <p14:sldId id="292"/>
            <p14:sldId id="305"/>
            <p14:sldId id="295"/>
            <p14:sldId id="282"/>
            <p14:sldId id="266"/>
            <p14:sldId id="273"/>
            <p14:sldId id="29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FFFFFF"/>
    <a:srgbClr val="33B1FF"/>
    <a:srgbClr val="007D79"/>
    <a:srgbClr val="D02670"/>
    <a:srgbClr val="231F20"/>
    <a:srgbClr val="262626"/>
    <a:srgbClr val="525252"/>
    <a:srgbClr val="BE95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92" autoAdjust="0"/>
    <p:restoredTop sz="91480" autoAdjust="0"/>
  </p:normalViewPr>
  <p:slideViewPr>
    <p:cSldViewPr snapToGrid="0">
      <p:cViewPr varScale="1">
        <p:scale>
          <a:sx n="75" d="100"/>
          <a:sy n="75" d="100"/>
        </p:scale>
        <p:origin x="926" y="62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gs" Target="tags/tag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commentAuthors" Target="commentAuthors.xml"/><Relationship Id="rId48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497948-54D2-43F8-9A63-A99FE3051738}" type="datetimeFigureOut">
              <a:rPr lang="en-US" smtClean="0"/>
              <a:t>8/3/2026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en-US" dirty="0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2688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2081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48398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4705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82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7228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3705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48179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678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64036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3373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72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0286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4197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BDA0E2-FEBD-4B65-8F16-724CF984F377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29967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13873" y="1168401"/>
            <a:ext cx="10964254" cy="2387600"/>
          </a:xfrm>
          <a:solidFill>
            <a:schemeClr val="bg2"/>
          </a:solidFill>
        </p:spPr>
        <p:txBody>
          <a:bodyPr anchor="b">
            <a:normAutofit/>
          </a:bodyPr>
          <a:lstStyle>
            <a:lvl1pPr algn="ctr">
              <a:defRPr sz="4800" b="0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8273" y="3731247"/>
            <a:ext cx="9135454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 b="0" i="0">
                <a:solidFill>
                  <a:srgbClr val="525252"/>
                </a:solidFill>
                <a:latin typeface="IBM Plex Sans" panose="020B0503050203000203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2880360" y="3649111"/>
            <a:ext cx="6431280" cy="0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>
            <a:spLocks noChangeArrowheads="1"/>
          </p:cNvSpPr>
          <p:nvPr/>
        </p:nvSpPr>
        <p:spPr bwMode="black">
          <a:xfrm>
            <a:off x="4093580" y="5537419"/>
            <a:ext cx="4004840" cy="3043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2075" tIns="46038" rIns="92075" bIns="46038"/>
          <a:lstStyle>
            <a:lvl1pPr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sz="1400" b="0" dirty="0">
                <a:solidFill>
                  <a:srgbClr val="000000"/>
                </a:solidFill>
                <a:latin typeface="Helv"/>
              </a:rPr>
              <a:t>© IBM Corporation. All rights reserved.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B5BAB42-A6B6-D2DB-EC91-721CA287B900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D9DAF80D-4D83-4EA4-3B9A-B4DEAA21CF43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AA1B3EED-0A38-9B4D-C031-B7CFB1F16CD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D8BA40FF-052F-CEA2-8570-24062BFE0A7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3" name="Graphic 12" hidden="1">
              <a:extLst>
                <a:ext uri="{FF2B5EF4-FFF2-40B4-BE49-F238E27FC236}">
                  <a16:creationId xmlns:a16="http://schemas.microsoft.com/office/drawing/2014/main" id="{10305589-4F05-9658-71A7-2F6E7BFE952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EEFE9B80-1CD0-9614-4D99-C0FA5B74A8B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361523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52525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00199"/>
            <a:ext cx="107442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262626"/>
                </a:solidFill>
              </a:defRPr>
            </a:lvl4pPr>
            <a:lvl5pPr>
              <a:defRPr>
                <a:solidFill>
                  <a:srgbClr val="262626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7" name="Straight Connector 6"/>
          <p:cNvCxnSpPr/>
          <p:nvPr/>
        </p:nvCxnSpPr>
        <p:spPr>
          <a:xfrm>
            <a:off x="838200" y="1296645"/>
            <a:ext cx="10515600" cy="368"/>
          </a:xfrm>
          <a:prstGeom prst="line">
            <a:avLst/>
          </a:prstGeom>
          <a:ln>
            <a:solidFill>
              <a:srgbClr val="6C4D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497029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solidFill>
                  <a:srgbClr val="525252"/>
                </a:solidFill>
                <a:latin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181600" cy="4572000"/>
          </a:xfrm>
        </p:spPr>
        <p:txBody>
          <a:bodyPr/>
          <a:lstStyle>
            <a:lvl1pPr>
              <a:defRPr>
                <a:solidFill>
                  <a:srgbClr val="262626"/>
                </a:solidFill>
              </a:defRPr>
            </a:lvl1pPr>
            <a:lvl2pPr>
              <a:defRPr>
                <a:solidFill>
                  <a:srgbClr val="262626"/>
                </a:solidFill>
              </a:defRPr>
            </a:lvl2pPr>
            <a:lvl3pPr>
              <a:defRPr>
                <a:solidFill>
                  <a:srgbClr val="262626"/>
                </a:solidFill>
              </a:defRPr>
            </a:lvl3pPr>
            <a:lvl4pPr>
              <a:defRPr>
                <a:solidFill>
                  <a:srgbClr val="525252"/>
                </a:solidFill>
              </a:defRPr>
            </a:lvl4pPr>
            <a:lvl5pPr>
              <a:defRPr>
                <a:solidFill>
                  <a:srgbClr val="52525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134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4800" b="1" i="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3270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Blank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724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2.xml"/><Relationship Id="rId13" Type="http://schemas.openxmlformats.org/officeDocument/2006/relationships/image" Target="../media/image4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3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4785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05161552-D656-B925-AB2F-4CA5F6FE72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alphaModFix amt="5000"/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E377BDD-6725-68B2-639C-E47C9B4601F2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8771CE0-19C9-5FCF-1B71-ACF36DEE6664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2A3F44-3AAC-9557-E214-F323108F6B65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6EA0613-E945-E437-C733-F9F008F63B76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0EC5687-C25A-A73E-5192-674F560F89FA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1F4021-33FE-506B-3C0D-688FEF669647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6B112C-C780-5B47-83AA-D580E668C866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2FC597-9201-21C6-383D-67750826F14D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4A6D56-917B-72D3-81F7-A59A36FC4198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9512372-0859-45E3-8DD7-AE730B4AFD19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197D57-5F46-DB39-F81D-9205CC53189F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0AA9B1-D6E7-98E2-49EF-C98B6F0E7E2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0A9DFA7-88D2-04F7-451C-7A2C388B178F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C98F8E-1DCD-3647-3613-DFFC7CDFF372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29F1073-373D-249D-C1F2-A527EB0210C9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D12B31A-8903-A616-B756-B8695FC8F38A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892CDF-E500-AD18-C0DB-5405AF35ADE4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F072D-B1FC-4829-B71E-556F57965D46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8BBA60-CCFF-F95A-ECC9-46204EA2214B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3F05CFF-A449-FBB3-5F13-F7A72C2E43DE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895BC4-B52A-2D00-62C1-71A44604BBB4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5B5B6C5-97CB-45FD-FDEC-1F5C2A0BDC3E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4DCC439-D448-E0FC-26EF-94C7A8B8D0DB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4B7B48-2E66-50BA-96FE-D24C4E60BFD7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C767BF-EB72-86A2-DBA6-0D26C6C02894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FEDF829-6CB0-F03B-E025-85D510B4DC26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FF97BF5-A64D-02F2-4B04-BC95CE39DF3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738F9B-27C5-3C49-8FD7-0731EE9AC3BF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7194F16-D83C-3057-9151-A884EA8F0931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0C7A661-0FF9-B849-2771-84AA24CF5EFF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84675A9-3F9A-460D-D8D6-C5D9516859D4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8C7787-7D0E-ED5D-DB99-53C4B52AA8F2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0CCBF62-5F94-E366-51BD-6C8DCBF90955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5880850-0EBA-AD14-E6FD-BB1DC94F3DA5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6209ACE-A4F7-EAC9-E98F-D141BE77F99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60" name="Graphic 59">
              <a:extLst>
                <a:ext uri="{FF2B5EF4-FFF2-40B4-BE49-F238E27FC236}">
                  <a16:creationId xmlns:a16="http://schemas.microsoft.com/office/drawing/2014/main" id="{EFEE4105-67FB-F40B-E7BD-8C9B80C32F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61" name="Graphic 60" hidden="1">
              <a:extLst>
                <a:ext uri="{FF2B5EF4-FFF2-40B4-BE49-F238E27FC236}">
                  <a16:creationId xmlns:a16="http://schemas.microsoft.com/office/drawing/2014/main" id="{9AB2407C-B3E2-DCDD-0692-DD32E3C452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62" name="Graphic 61" hidden="1">
              <a:extLst>
                <a:ext uri="{FF2B5EF4-FFF2-40B4-BE49-F238E27FC236}">
                  <a16:creationId xmlns:a16="http://schemas.microsoft.com/office/drawing/2014/main" id="{9128FFA9-E729-6051-FE44-5C57854D2B9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63" name="Graphic 62" hidden="1">
              <a:extLst>
                <a:ext uri="{FF2B5EF4-FFF2-40B4-BE49-F238E27FC236}">
                  <a16:creationId xmlns:a16="http://schemas.microsoft.com/office/drawing/2014/main" id="{21D1BE07-55D7-FEB6-D90F-FC214DFBDA4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66" name="Graphic 65">
            <a:extLst>
              <a:ext uri="{FF2B5EF4-FFF2-40B4-BE49-F238E27FC236}">
                <a16:creationId xmlns:a16="http://schemas.microsoft.com/office/drawing/2014/main" id="{FD0E63E5-36ED-0A5F-F2A0-E31AD11555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67" name="Rectangle 66" hidden="1">
            <a:extLst>
              <a:ext uri="{FF2B5EF4-FFF2-40B4-BE49-F238E27FC236}">
                <a16:creationId xmlns:a16="http://schemas.microsoft.com/office/drawing/2014/main" id="{04EE5960-43EB-4B14-0782-2876BE85A607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custDataLst>
      <p:tags r:id="rId8"/>
    </p:custDataLst>
    <p:extLst>
      <p:ext uri="{BB962C8B-B14F-4D97-AF65-F5344CB8AC3E}">
        <p14:creationId xmlns:p14="http://schemas.microsoft.com/office/powerpoint/2010/main" val="1270442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4" r:id="rId3"/>
    <p:sldLayoutId id="2147483666" r:id="rId4"/>
    <p:sldLayoutId id="2147483667" r:id="rId5"/>
    <p:sldLayoutId id="214748367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rgbClr val="525252"/>
          </a:solidFill>
          <a:latin typeface="IBM Plex Sans SemiBold" panose="020B0503050203000203" pitchFamily="34" charset="0"/>
          <a:ea typeface="IBM Plex Sans SemiBold" panose="020B0503050203000203" pitchFamily="34" charset="0"/>
          <a:cs typeface="IBM Plex Sans SemiBold" panose="020B050305020300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rgbClr val="262626"/>
          </a:solidFill>
          <a:latin typeface="IBM Plex Sans" panose="020B050305020300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70.png"/><Relationship Id="rId10" Type="http://schemas.openxmlformats.org/officeDocument/2006/relationships/customXml" Target="../ink/ink5.xml"/><Relationship Id="rId9" Type="http://schemas.openxmlformats.org/officeDocument/2006/relationships/image" Target="../media/image80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github.com/Satish-KumarRam/IBM-Data-Science-Capstone-Project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Relationship Id="rId4" Type="http://schemas.openxmlformats.org/officeDocument/2006/relationships/hyperlink" Target="https://github.com/Satish-KumarRam/IBM-Data-Science-Capstone-Project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atish-KumarRam/IBM-Data-Science-Capstone-Project" TargetMode="Externa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tish-KumarRam/IBM-Data-Science-Capstone-Project/upload/main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5" Type="http://schemas.openxmlformats.org/officeDocument/2006/relationships/image" Target="../media/image29.png"/><Relationship Id="rId4" Type="http://schemas.openxmlformats.org/officeDocument/2006/relationships/hyperlink" Target="https://github.com/Satish-KumarRam/IBM-Data-Science-Capstone-Project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5" Type="http://schemas.openxmlformats.org/officeDocument/2006/relationships/hyperlink" Target="https://github.com/Satish-KumarRam/IBM-Data-Science-Capstone-Project" TargetMode="External"/><Relationship Id="rId4" Type="http://schemas.openxmlformats.org/officeDocument/2006/relationships/image" Target="../media/image3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233681"/>
            <a:ext cx="7184720" cy="1777999"/>
          </a:xfrm>
          <a:noFill/>
        </p:spPr>
        <p:txBody>
          <a:bodyPr>
            <a:normAutofit fontScale="90000"/>
          </a:bodyPr>
          <a:lstStyle/>
          <a:p>
            <a:r>
              <a:rPr lang="en-IN" dirty="0"/>
              <a:t>SpaceX Falcon 9 First Stage Landing Prediction</a:t>
            </a:r>
            <a:endParaRPr lang="en-US" sz="1600" dirty="0">
              <a:solidFill>
                <a:srgbClr val="0072C3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731247"/>
            <a:ext cx="7074692" cy="840753"/>
          </a:xfrm>
          <a:noFill/>
        </p:spPr>
        <p:txBody>
          <a:bodyPr>
            <a:noAutofit/>
          </a:bodyPr>
          <a:lstStyle/>
          <a:p>
            <a:r>
              <a:rPr lang="en-IN" b="1" dirty="0"/>
              <a:t>IBM Data Science Professional Certificate</a:t>
            </a:r>
            <a:br>
              <a:rPr lang="en-IN" dirty="0"/>
            </a:br>
            <a:r>
              <a:rPr lang="en-IN" b="1" dirty="0"/>
              <a:t>Capstone Project</a:t>
            </a:r>
          </a:p>
          <a:p>
            <a:endParaRPr lang="en-IN" b="1" dirty="0"/>
          </a:p>
          <a:p>
            <a:r>
              <a:rPr lang="en-IN" b="1" dirty="0"/>
              <a:t>Satish Kumar Ram</a:t>
            </a:r>
          </a:p>
          <a:p>
            <a:pPr algn="l"/>
            <a:r>
              <a:rPr lang="en-IN" sz="1800" b="1" dirty="0"/>
              <a:t>                                             4 August 2026       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4719" y="387350"/>
            <a:ext cx="4794861" cy="4351338"/>
          </a:xfrm>
          <a:prstGeom prst="rect">
            <a:avLst/>
          </a:prstGeom>
          <a:noFill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E19822-A94B-3390-47E6-908CD50533E4}"/>
              </a:ext>
            </a:extLst>
          </p:cNvPr>
          <p:cNvSpPr txBox="1"/>
          <p:nvPr/>
        </p:nvSpPr>
        <p:spPr>
          <a:xfrm>
            <a:off x="489857" y="2329538"/>
            <a:ext cx="61939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sz="1600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DA0D6-819E-F3F9-D97B-1AA14A037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24210998-3D1A-F46C-CC36-CAEAA08DE009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6D78DA1-C8CA-F9E4-D103-A5E66840A01B}"/>
              </a:ext>
            </a:extLst>
          </p:cNvPr>
          <p:cNvSpPr txBox="1">
            <a:spLocks/>
          </p:cNvSpPr>
          <p:nvPr/>
        </p:nvSpPr>
        <p:spPr>
          <a:xfrm>
            <a:off x="6172199" y="1589373"/>
            <a:ext cx="4833257" cy="31894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endParaRPr lang="en-IN" sz="3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1EDC8C2-155F-326D-23AD-3F500CBED7C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14:cNvPr>
              <p14:cNvContentPartPr/>
              <p14:nvPr/>
            </p14:nvContentPartPr>
            <p14:xfrm>
              <a:off x="5800663" y="39347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9B7D0E6D-458F-0320-7899-AE28CBCECC8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10663" y="37547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A8FE6AC8-A31C-192A-7181-A0CECA6640F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0E42D43A-0AE2-5ED9-8FE7-2979BB31236D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E8E173D-FA9F-7974-17F8-D5B5927D770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9DCE78E9-CD74-62ED-AEDD-33AB71C9F18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7AC18E88-CC96-F7E6-35A5-95EC54BE6C0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D6A6BB95-5359-DAB7-2E6F-A6E9AD13A61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F09FAE4-E92D-B550-69F3-335FB31E765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F9AA929-A325-F4BA-690A-0FE40911FB85}"/>
              </a:ext>
            </a:extLst>
          </p:cNvPr>
          <p:cNvSpPr txBox="1"/>
          <p:nvPr/>
        </p:nvSpPr>
        <p:spPr>
          <a:xfrm>
            <a:off x="782053" y="121340"/>
            <a:ext cx="1075830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rgbClr val="525252"/>
                </a:solidFill>
                <a:latin typeface="IBM Plex Sans SemiBold" panose="020B0503050203000203" pitchFamily="34" charset="0"/>
              </a:rPr>
              <a:t>Outline</a:t>
            </a:r>
            <a:endParaRPr lang="en-IN" sz="4000" b="1" dirty="0">
              <a:solidFill>
                <a:srgbClr val="525252"/>
              </a:solidFill>
              <a:latin typeface="IBM Plex Sans SemiBold" panose="020B050305020300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92ADE-DA61-C50A-02E8-5E658C03AFD5}"/>
              </a:ext>
            </a:extLst>
          </p:cNvPr>
          <p:cNvSpPr txBox="1"/>
          <p:nvPr/>
        </p:nvSpPr>
        <p:spPr>
          <a:xfrm>
            <a:off x="782054" y="1287303"/>
            <a:ext cx="733920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Executive Summary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Introduction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Data Collection &amp; Data Wrangling Methodology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&amp; Data Visualization Methodology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with Visualization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EDA with SQL Queries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Folium Map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Plotly Dash Dashboard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Predictive Analysis (Classification)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Predictive Analysis Results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Conclusion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Appendix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7939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03" y="105104"/>
            <a:ext cx="11897711" cy="735724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Introduction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105103" y="840828"/>
            <a:ext cx="11719036" cy="55055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>
                <a:solidFill>
                  <a:schemeClr val="tx1"/>
                </a:solidFill>
              </a:rPr>
              <a:t>• </a:t>
            </a:r>
            <a:r>
              <a:rPr lang="en-IN" sz="2400" b="1" dirty="0">
                <a:solidFill>
                  <a:schemeClr val="tx1"/>
                </a:solidFill>
              </a:rPr>
              <a:t>Project Background and Context:</a:t>
            </a:r>
          </a:p>
          <a:p>
            <a:r>
              <a:rPr lang="en-IN" sz="2000" dirty="0">
                <a:solidFill>
                  <a:schemeClr val="tx1"/>
                </a:solidFill>
              </a:rPr>
              <a:t>SpaceX has significantly reduced the cost of space missions by successfully recovering and reusing Falcon 9 first-stage boosters. Traditional rocket launches are expensive because rockets are usually discarded after launch. By predicting whether the Falcon 9 first stage will land successfully, organizations can estimate mission costs, improve planning, and support data-driven decision-making. This project uses historical SpaceX launch data to analyze landing outcomes and build machine learning models for landing prediction.</a:t>
            </a:r>
          </a:p>
          <a:p>
            <a:r>
              <a:rPr lang="en-IN" sz="2400" b="1" dirty="0">
                <a:solidFill>
                  <a:schemeClr val="tx1"/>
                </a:solidFill>
              </a:rPr>
              <a:t>Project Objective:</a:t>
            </a:r>
          </a:p>
          <a:p>
            <a:r>
              <a:rPr lang="en-IN" sz="2000" dirty="0">
                <a:solidFill>
                  <a:schemeClr val="tx1"/>
                </a:solidFill>
              </a:rPr>
              <a:t>The project aims to identify the factors influencing Falcon 9 first-stage landing success and develop a machine learning model to predict landing outcomes.</a:t>
            </a:r>
            <a:endParaRPr lang="en-IN" sz="2000" b="1" dirty="0">
              <a:solidFill>
                <a:schemeClr val="tx1"/>
              </a:solidFill>
            </a:endParaRPr>
          </a:p>
          <a:p>
            <a:r>
              <a:rPr lang="en-IN" sz="2000" dirty="0">
                <a:solidFill>
                  <a:schemeClr val="tx1"/>
                </a:solidFill>
              </a:rPr>
              <a:t>Collect Falcon 9 launch data using the SpaceX REST API and </a:t>
            </a:r>
            <a:r>
              <a:rPr lang="en-IN" sz="2000" b="1" dirty="0">
                <a:solidFill>
                  <a:schemeClr val="tx1"/>
                </a:solidFill>
              </a:rPr>
              <a:t>Wikipedia Web Scraping</a:t>
            </a:r>
            <a:r>
              <a:rPr lang="en-IN" sz="2000" dirty="0">
                <a:solidFill>
                  <a:schemeClr val="tx1"/>
                </a:solidFill>
              </a:rPr>
              <a:t>. 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Perform </a:t>
            </a:r>
            <a:r>
              <a:rPr lang="en-IN" sz="2000" b="1" dirty="0">
                <a:solidFill>
                  <a:schemeClr val="tx1"/>
                </a:solidFill>
              </a:rPr>
              <a:t>data wrangling, SQL analysis, and exploratory data analysis (EDA).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Build interactive visualizations using SQL, Folium, and Plotly Dash. </a:t>
            </a:r>
          </a:p>
          <a:p>
            <a:pPr lvl="0"/>
            <a:r>
              <a:rPr lang="en-IN" sz="2000" dirty="0">
                <a:solidFill>
                  <a:schemeClr val="tx1"/>
                </a:solidFill>
              </a:rPr>
              <a:t>Develop, evaluate, and compare machine learning classification models to predict Falcon 9 first-stage landing success.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614" y="73573"/>
            <a:ext cx="11960772" cy="935730"/>
          </a:xfrm>
        </p:spPr>
        <p:txBody>
          <a:bodyPr anchor="ctr"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0" y="756746"/>
            <a:ext cx="12192001" cy="54548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9B7B3B-8652-5980-CA50-B93EB13E927F}"/>
              </a:ext>
            </a:extLst>
          </p:cNvPr>
          <p:cNvSpPr txBox="1"/>
          <p:nvPr/>
        </p:nvSpPr>
        <p:spPr>
          <a:xfrm>
            <a:off x="189186" y="1040526"/>
            <a:ext cx="11813628" cy="5201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Objective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Predict Falcon 9 first-stage landing success using historical launch data and machine learning.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Summary of Methodology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Collection through </a:t>
            </a:r>
            <a:r>
              <a:rPr lang="en-IN" sz="2000" b="1" dirty="0"/>
              <a:t>SpaceX REST API.</a:t>
            </a:r>
            <a:endParaRPr lang="en-I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Collection using </a:t>
            </a:r>
            <a:r>
              <a:rPr lang="en-IN" sz="2000" b="1" dirty="0"/>
              <a:t>Wikipedia Web Scraping.</a:t>
            </a:r>
            <a:endParaRPr lang="en-IN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Data Wrangling and Feature Engineering.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Exploratory Data Analysis (EDA) using SQL Queries, Python Visualizations (Matplotlib &amp; Seaborn), and Plotly Dash.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Visual Analytics using </a:t>
            </a:r>
            <a:r>
              <a:rPr lang="en-IN" sz="2000" b="1" dirty="0"/>
              <a:t>Folium</a:t>
            </a:r>
            <a:r>
              <a:rPr lang="en-IN" sz="2000" dirty="0"/>
              <a:t> and </a:t>
            </a:r>
            <a:r>
              <a:rPr lang="en-IN" sz="2000" b="1" dirty="0"/>
              <a:t>Plotly Dash.</a:t>
            </a:r>
            <a:r>
              <a:rPr lang="en-IN" sz="2000" dirty="0"/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Predictive Analysis using </a:t>
            </a:r>
            <a:r>
              <a:rPr lang="en-IN" sz="2000" b="1" dirty="0"/>
              <a:t>Classification Models.</a:t>
            </a:r>
            <a:endParaRPr lang="en-I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Summary of Results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Landing success rate improved significantly over time.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mass, orbit type, and launch site influenced landing success.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SQL and visualizations revealed important launch patterns.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Interactive dashboards provided deeper insights into launch data.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IN" sz="2000" dirty="0"/>
              <a:t>The best classification model achieved the highest prediction accuracy.</a:t>
            </a:r>
            <a:endParaRPr lang="en-IN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103" y="73572"/>
            <a:ext cx="11981794" cy="798787"/>
          </a:xfrm>
        </p:spPr>
        <p:txBody>
          <a:bodyPr anchor="ctr">
            <a:normAutofit/>
          </a:bodyPr>
          <a:lstStyle/>
          <a:p>
            <a:r>
              <a:rPr lang="en-US" dirty="0"/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105103" y="872359"/>
            <a:ext cx="11855669" cy="544435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600" b="1" dirty="0"/>
              <a:t>Data Collection Methodology</a:t>
            </a:r>
          </a:p>
          <a:p>
            <a:pPr lvl="0"/>
            <a:r>
              <a:rPr lang="en-IN" sz="1600" dirty="0"/>
              <a:t>Collected Falcon 9 launch data using the </a:t>
            </a:r>
            <a:r>
              <a:rPr lang="en-IN" sz="1600" b="1" dirty="0"/>
              <a:t>SpaceX REST API</a:t>
            </a:r>
            <a:r>
              <a:rPr lang="en-IN" sz="1600" dirty="0"/>
              <a:t>. </a:t>
            </a:r>
          </a:p>
          <a:p>
            <a:pPr lvl="0"/>
            <a:r>
              <a:rPr lang="en-IN" sz="1600" dirty="0"/>
              <a:t>Collected additional launch records through </a:t>
            </a:r>
            <a:r>
              <a:rPr lang="en-IN" sz="1600" b="1" dirty="0"/>
              <a:t>Wikipedia Web Scraping</a:t>
            </a:r>
            <a:r>
              <a:rPr lang="en-IN" sz="1600" dirty="0"/>
              <a:t>. </a:t>
            </a:r>
          </a:p>
          <a:p>
            <a:r>
              <a:rPr lang="en-IN" sz="1600" b="1" dirty="0"/>
              <a:t>Data Wrangling</a:t>
            </a:r>
          </a:p>
          <a:p>
            <a:pPr lvl="0"/>
            <a:r>
              <a:rPr lang="en-IN" sz="1600" dirty="0"/>
              <a:t>Cleaned missing values and standardized the dataset. </a:t>
            </a:r>
          </a:p>
          <a:p>
            <a:pPr lvl="0"/>
            <a:r>
              <a:rPr lang="en-IN" sz="1600" dirty="0"/>
              <a:t>Created the landing success label and prepared features for analysis. </a:t>
            </a:r>
          </a:p>
          <a:p>
            <a:r>
              <a:rPr lang="en-IN" sz="1600" b="1" dirty="0"/>
              <a:t>Exploratory Data Analysis (EDA)</a:t>
            </a:r>
          </a:p>
          <a:p>
            <a:pPr lvl="0"/>
            <a:r>
              <a:rPr lang="en-IN" sz="1600" dirty="0"/>
              <a:t>Performed </a:t>
            </a:r>
            <a:r>
              <a:rPr lang="en-IN" sz="1600" b="1" dirty="0"/>
              <a:t>SQL queries</a:t>
            </a:r>
            <a:r>
              <a:rPr lang="en-IN" sz="1600" dirty="0"/>
              <a:t> to analyze launch statistics. </a:t>
            </a:r>
          </a:p>
          <a:p>
            <a:pPr lvl="0"/>
            <a:r>
              <a:rPr lang="en-IN" sz="1600" dirty="0"/>
              <a:t>Created visualizations using Matplotlib and Seaborn.</a:t>
            </a:r>
          </a:p>
          <a:p>
            <a:pPr lvl="0"/>
            <a:r>
              <a:rPr lang="en-IN" sz="1600" b="1" dirty="0"/>
              <a:t>Interactive Visual Analytics</a:t>
            </a:r>
          </a:p>
          <a:p>
            <a:pPr lvl="0"/>
            <a:r>
              <a:rPr lang="en-IN" sz="1600" dirty="0"/>
              <a:t>Built an interactive </a:t>
            </a:r>
            <a:r>
              <a:rPr lang="en-IN" sz="1600" b="1" dirty="0"/>
              <a:t>Folium</a:t>
            </a:r>
            <a:r>
              <a:rPr lang="en-IN" sz="1600" dirty="0"/>
              <a:t> map to analyze launch site locations. </a:t>
            </a:r>
          </a:p>
          <a:p>
            <a:pPr lvl="0"/>
            <a:r>
              <a:rPr lang="en-IN" sz="1600" dirty="0"/>
              <a:t>Developed an interactive Plotly Dash dashboard with dropdown filters, charts, and data visualizations for launch analysis.</a:t>
            </a:r>
          </a:p>
          <a:p>
            <a:pPr lvl="0"/>
            <a:r>
              <a:rPr lang="en-IN" sz="1600" b="1" dirty="0"/>
              <a:t>Predictive Analysis</a:t>
            </a:r>
          </a:p>
          <a:p>
            <a:pPr lvl="0"/>
            <a:r>
              <a:rPr lang="en-IN" sz="1600" dirty="0"/>
              <a:t>Built, trained, and evaluated multiple machine learning classification models. </a:t>
            </a:r>
          </a:p>
          <a:p>
            <a:pPr lvl="0"/>
            <a:r>
              <a:rPr lang="en-IN" sz="1600" dirty="0"/>
              <a:t>Compared model performance and selected the best-performing model based on prediction accuracy.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04FCD-52D4-3BF7-F049-C6D7E36B6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372" y="157654"/>
            <a:ext cx="10975428" cy="872359"/>
          </a:xfrm>
        </p:spPr>
        <p:txBody>
          <a:bodyPr/>
          <a:lstStyle/>
          <a:p>
            <a:r>
              <a:rPr lang="en-IN" dirty="0"/>
              <a:t>Data Collection using SpaceX API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46AB85-5D65-5515-B010-1DAC960964F2}"/>
              </a:ext>
            </a:extLst>
          </p:cNvPr>
          <p:cNvSpPr txBox="1"/>
          <p:nvPr/>
        </p:nvSpPr>
        <p:spPr>
          <a:xfrm>
            <a:off x="1" y="1313793"/>
            <a:ext cx="5864772" cy="3827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Collected Falcon 9 launch data using the </a:t>
            </a:r>
            <a:r>
              <a:rPr lang="en-IN" sz="2400" b="1" dirty="0"/>
              <a:t>SpaceX REST API</a:t>
            </a:r>
            <a:r>
              <a:rPr lang="en-IN" sz="24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Retrieved launch date, payload mass, orbit, launch site, booster version, and mission outcome.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Converted JSON responses into a structured Pandas DataFrame for analysis.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Right side:</a:t>
            </a:r>
            <a:r>
              <a:rPr lang="en-IN" sz="2400" dirty="0"/>
              <a:t> SpaceX API notebook screenshot.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A5CA74-3BE6-05EF-B674-AD060009B3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4773" y="1030013"/>
            <a:ext cx="6327226" cy="405111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84FE305-3D90-F245-AD38-862BC9D2639D}"/>
              </a:ext>
            </a:extLst>
          </p:cNvPr>
          <p:cNvSpPr txBox="1"/>
          <p:nvPr/>
        </p:nvSpPr>
        <p:spPr>
          <a:xfrm>
            <a:off x="483477" y="5244663"/>
            <a:ext cx="943829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b="1" dirty="0"/>
              <a:t>GitHub Repository:</a:t>
            </a:r>
            <a:endParaRPr lang="en-IN" dirty="0"/>
          </a:p>
          <a:p>
            <a:pPr lvl="2"/>
            <a:endParaRPr lang="en-IN" dirty="0"/>
          </a:p>
          <a:p>
            <a:pPr lvl="2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30060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EE966-B69D-65EC-3F45-25BD7760D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3269" y="365125"/>
            <a:ext cx="11382703" cy="969689"/>
          </a:xfrm>
        </p:spPr>
        <p:txBody>
          <a:bodyPr>
            <a:noAutofit/>
          </a:bodyPr>
          <a:lstStyle/>
          <a:p>
            <a:r>
              <a:rPr lang="en-IN" dirty="0">
                <a:solidFill>
                  <a:schemeClr val="bg1"/>
                </a:solidFill>
              </a:rPr>
              <a:t>Data Collection using Wikipedia Web Scraping</a:t>
            </a:r>
            <a:br>
              <a:rPr lang="en-IN" dirty="0">
                <a:solidFill>
                  <a:schemeClr val="bg1"/>
                </a:solidFill>
              </a:rPr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42D724-D96E-A607-212A-47E0616864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-1" y="1042934"/>
            <a:ext cx="5507418" cy="3697232"/>
          </a:xfrm>
        </p:spPr>
        <p:txBody>
          <a:bodyPr>
            <a:norm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Extracted additional Falcon 9 launch records from </a:t>
            </a:r>
            <a:r>
              <a:rPr lang="en-IN" sz="2200" b="1" dirty="0"/>
              <a:t>Wikipedia</a:t>
            </a:r>
            <a:r>
              <a:rPr lang="en-IN" sz="2200" dirty="0"/>
              <a:t> using </a:t>
            </a:r>
            <a:r>
              <a:rPr lang="en-IN" sz="2200" b="1" dirty="0"/>
              <a:t>BeautifulSoup</a:t>
            </a:r>
            <a:r>
              <a:rPr lang="en-IN" sz="22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Parsed HTML tables and converted them into a Pandas DataFrame.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Used the scraped data to enrich and validate the dataset.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Successfully extracted Falcon 9 launch tables using BeautifulSoup for further analysis.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BE81469-0444-B094-FFC6-3B330E3E2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6097" y="1042934"/>
            <a:ext cx="5507418" cy="29615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47EDCC-84C2-B525-4733-B1291F87A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6097" y="4004440"/>
            <a:ext cx="5507418" cy="1843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604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A637-0D76-B729-E4AC-966ADB530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66951"/>
          </a:xfrm>
        </p:spPr>
        <p:txBody>
          <a:bodyPr/>
          <a:lstStyle/>
          <a:p>
            <a:r>
              <a:rPr lang="en-IN" dirty="0"/>
              <a:t> Data Wrangling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C2033-F342-834F-4A68-4883B0DE5B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-1" y="872359"/>
            <a:ext cx="4792717" cy="3268717"/>
          </a:xfrm>
        </p:spPr>
        <p:txBody>
          <a:bodyPr>
            <a:normAutofit/>
          </a:bodyPr>
          <a:lstStyle/>
          <a:p>
            <a:pPr lvl="0"/>
            <a:endParaRPr lang="en-IN" sz="2200" dirty="0"/>
          </a:p>
          <a:p>
            <a:pPr lvl="0"/>
            <a:r>
              <a:rPr lang="en-IN" sz="2200" dirty="0"/>
              <a:t>Cleaned missing and inconsistent values. </a:t>
            </a:r>
          </a:p>
          <a:p>
            <a:pPr lvl="0"/>
            <a:r>
              <a:rPr lang="en-IN" sz="2200" dirty="0"/>
              <a:t>Selected relevant features for analysis. </a:t>
            </a:r>
          </a:p>
          <a:p>
            <a:pPr lvl="0"/>
            <a:r>
              <a:rPr lang="en-IN" sz="2200" dirty="0"/>
              <a:t>Created the landing success label. </a:t>
            </a:r>
          </a:p>
          <a:p>
            <a:pPr lvl="0"/>
            <a:r>
              <a:rPr lang="en-IN" sz="2200" dirty="0"/>
              <a:t>Prepared the final dataset for EDA and machine learning.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20E0DB7-3A43-1EDD-F6E4-491DE1803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392" y="1162841"/>
            <a:ext cx="6434331" cy="461404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BC2AF16-9FB9-0AE0-F109-2CC172631F52}"/>
              </a:ext>
            </a:extLst>
          </p:cNvPr>
          <p:cNvSpPr txBox="1"/>
          <p:nvPr/>
        </p:nvSpPr>
        <p:spPr>
          <a:xfrm>
            <a:off x="0" y="4656080"/>
            <a:ext cx="496939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2007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C4734-2A4F-3231-376A-38F409CCC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14399"/>
          </a:xfrm>
        </p:spPr>
        <p:txBody>
          <a:bodyPr/>
          <a:lstStyle/>
          <a:p>
            <a:r>
              <a:rPr lang="en-IN" dirty="0"/>
              <a:t>EDA using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5B336-DEFD-1F02-9289-0E8CEC170F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914401"/>
            <a:ext cx="5013434" cy="2238702"/>
          </a:xfrm>
        </p:spPr>
        <p:txBody>
          <a:bodyPr>
            <a:normAutofit/>
          </a:bodyPr>
          <a:lstStyle/>
          <a:p>
            <a:pPr lvl="0"/>
            <a:r>
              <a:rPr lang="en-IN" sz="2200" dirty="0"/>
              <a:t>Launch success increased over time. </a:t>
            </a:r>
          </a:p>
          <a:p>
            <a:pPr lvl="0"/>
            <a:r>
              <a:rPr lang="en-IN" sz="2200" dirty="0"/>
              <a:t>Success rates differed across orbit classes. </a:t>
            </a:r>
          </a:p>
          <a:p>
            <a:pPr lvl="0"/>
            <a:r>
              <a:rPr lang="en-IN" sz="2200" dirty="0"/>
              <a:t>EDA revealed patterns influencing landing success.</a:t>
            </a:r>
          </a:p>
          <a:p>
            <a:pPr marL="0" indent="0">
              <a:buNone/>
            </a:pP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8A9616-DC58-3C70-B0EB-7F074A2E82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958" y="852974"/>
            <a:ext cx="6358759" cy="315793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08497B-6F82-BE14-6713-EB3DC5A6E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3281740"/>
            <a:ext cx="5255172" cy="29885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6D14618-3CD2-9885-4E2C-7C32950D14CA}"/>
              </a:ext>
            </a:extLst>
          </p:cNvPr>
          <p:cNvSpPr txBox="1"/>
          <p:nvPr/>
        </p:nvSpPr>
        <p:spPr>
          <a:xfrm>
            <a:off x="5549462" y="4435366"/>
            <a:ext cx="622212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</a:p>
          <a:p>
            <a:pPr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0175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4B41E-0926-FE17-2CFA-01FEC859E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5103"/>
            <a:ext cx="10515600" cy="1103587"/>
          </a:xfrm>
        </p:spPr>
        <p:txBody>
          <a:bodyPr/>
          <a:lstStyle/>
          <a:p>
            <a:pPr algn="ctr"/>
            <a:r>
              <a:rPr lang="en-IN" dirty="0"/>
              <a:t>EDA using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7A916-7C8B-6F91-6FA3-0543D0D6BC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00200"/>
            <a:ext cx="10515600" cy="2194034"/>
          </a:xfrm>
        </p:spPr>
        <p:txBody>
          <a:bodyPr/>
          <a:lstStyle/>
          <a:p>
            <a:pPr lvl="0"/>
            <a:r>
              <a:rPr lang="en-IN" dirty="0"/>
              <a:t>Used SQL queries to summarize launch statistics. </a:t>
            </a:r>
          </a:p>
          <a:p>
            <a:pPr lvl="0"/>
            <a:r>
              <a:rPr lang="en-IN" dirty="0"/>
              <a:t>Analyzed launches by launch site, mission outcome, and booster version. </a:t>
            </a:r>
          </a:p>
          <a:p>
            <a:pPr lvl="0"/>
            <a:r>
              <a:rPr lang="en-IN" dirty="0"/>
              <a:t>Identified trends and generated insights from the data.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F717F0-BEA8-DA2E-296E-94B406E348BF}"/>
              </a:ext>
            </a:extLst>
          </p:cNvPr>
          <p:cNvSpPr txBox="1"/>
          <p:nvPr/>
        </p:nvSpPr>
        <p:spPr>
          <a:xfrm>
            <a:off x="1051034" y="3962400"/>
            <a:ext cx="888124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endParaRPr lang="en-IN" dirty="0"/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44562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BB075-4270-E344-414F-B8B7EA07C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231568"/>
          </a:xfrm>
        </p:spPr>
        <p:txBody>
          <a:bodyPr/>
          <a:lstStyle/>
          <a:p>
            <a:pPr algn="ctr"/>
            <a:r>
              <a:rPr lang="en-IN" dirty="0"/>
              <a:t>EDA Using SQL Queries (Part 1)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9EF32F8-B127-B654-AE26-A31508520C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2759" y="1991730"/>
            <a:ext cx="3957144" cy="42409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9591042-D361-F493-9751-841FDC547DE1}"/>
              </a:ext>
            </a:extLst>
          </p:cNvPr>
          <p:cNvSpPr txBox="1"/>
          <p:nvPr/>
        </p:nvSpPr>
        <p:spPr>
          <a:xfrm>
            <a:off x="5454869" y="1324304"/>
            <a:ext cx="6169572" cy="38472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Used SQL to calculate total launches for each Falcon 9 launch site.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SLC-40</a:t>
            </a:r>
            <a:r>
              <a:rPr lang="en-IN" sz="2000" dirty="0"/>
              <a:t> recorded the highest number of launches (</a:t>
            </a:r>
            <a:r>
              <a:rPr lang="en-IN" sz="2000" b="1" dirty="0"/>
              <a:t>34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CCAFS LC-40</a:t>
            </a:r>
            <a:r>
              <a:rPr lang="en-IN" sz="2000" dirty="0"/>
              <a:t> completed </a:t>
            </a:r>
            <a:r>
              <a:rPr lang="en-IN" sz="2000" b="1" dirty="0"/>
              <a:t>26</a:t>
            </a:r>
            <a:r>
              <a:rPr lang="en-IN" sz="2000" dirty="0"/>
              <a:t> launches during the analyzed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KSC LC-39A completed 25 launches.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VAFB SLC-4E</a:t>
            </a:r>
            <a:r>
              <a:rPr lang="en-IN" sz="2000" dirty="0"/>
              <a:t> recorded the fewest launches (</a:t>
            </a:r>
            <a:r>
              <a:rPr lang="en-IN" sz="2000" b="1" dirty="0"/>
              <a:t>16</a:t>
            </a:r>
            <a:r>
              <a:rPr lang="en-IN" sz="2000" dirty="0"/>
              <a:t>).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These SQL results identified the busiest launch sites and supported subsequent visualization and predictive analysis.</a:t>
            </a:r>
            <a:endParaRPr lang="en-US" sz="2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0D9C96-8F48-F04D-BA82-E19D41B2413F}"/>
              </a:ext>
            </a:extLst>
          </p:cNvPr>
          <p:cNvSpPr txBox="1"/>
          <p:nvPr/>
        </p:nvSpPr>
        <p:spPr>
          <a:xfrm>
            <a:off x="262759" y="1324304"/>
            <a:ext cx="487680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200" b="1" dirty="0"/>
              <a:t>SQL Query Output – Launch Site Analysis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AA0D1C-78D0-83B3-A4F2-4FE2FFD94DF8}"/>
              </a:ext>
            </a:extLst>
          </p:cNvPr>
          <p:cNvSpPr txBox="1"/>
          <p:nvPr/>
        </p:nvSpPr>
        <p:spPr>
          <a:xfrm>
            <a:off x="4593021" y="5297214"/>
            <a:ext cx="689478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2422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76DD5-8827-E17A-8330-A74F43C34B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64585"/>
          </a:xfrm>
        </p:spPr>
        <p:txBody>
          <a:bodyPr/>
          <a:lstStyle/>
          <a:p>
            <a:pPr algn="ctr"/>
            <a:r>
              <a:rPr lang="en-IN" dirty="0"/>
              <a:t>EDA Using SQL Queries (Part 2)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98C5EF-D576-D376-7E0E-7EEAB20A6B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228" y="1355834"/>
            <a:ext cx="11873686" cy="4761937"/>
          </a:xfrm>
        </p:spPr>
        <p:txBody>
          <a:bodyPr/>
          <a:lstStyle/>
          <a:p>
            <a:endParaRPr lang="en-US" dirty="0"/>
          </a:p>
          <a:p>
            <a:endParaRPr lang="en-IN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010C7F7F-F651-75DC-6AC9-61164C1C05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1" y="2230819"/>
            <a:ext cx="4529958" cy="398768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33D808-704B-4284-EA3A-6CCC267B7F70}"/>
              </a:ext>
            </a:extLst>
          </p:cNvPr>
          <p:cNvSpPr txBox="1"/>
          <p:nvPr/>
        </p:nvSpPr>
        <p:spPr>
          <a:xfrm>
            <a:off x="609602" y="1347624"/>
            <a:ext cx="452995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/>
            <a:r>
              <a:rPr lang="en-IN" sz="2400" b="1" dirty="0"/>
              <a:t>Mission Outcome Analysis (SQL Query Result)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422D46-62B2-40B7-DCFE-B211539E2EFE}"/>
              </a:ext>
            </a:extLst>
          </p:cNvPr>
          <p:cNvSpPr txBox="1"/>
          <p:nvPr/>
        </p:nvSpPr>
        <p:spPr>
          <a:xfrm>
            <a:off x="5812221" y="1355834"/>
            <a:ext cx="629269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SQL was used to summarize mission outcomes.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b="1" dirty="0"/>
              <a:t>30 missions</a:t>
            </a:r>
            <a:r>
              <a:rPr lang="en-IN" sz="2200" dirty="0"/>
              <a:t> were completed successfully.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Only </a:t>
            </a:r>
            <a:r>
              <a:rPr lang="en-IN" sz="2200" b="1" dirty="0"/>
              <a:t>1 mission</a:t>
            </a:r>
            <a:r>
              <a:rPr lang="en-IN" sz="2200" dirty="0"/>
              <a:t> resulted in failure during the selected period.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The high success rate indicates improved Falcon 9 reliability.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SQL aggregation helped validate mission performance before predictive modelling.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These SQL results supported exploratory data analysis and feature selection for machine learning.</a:t>
            </a:r>
          </a:p>
        </p:txBody>
      </p:sp>
    </p:spTree>
    <p:extLst>
      <p:ext uri="{BB962C8B-B14F-4D97-AF65-F5344CB8AC3E}">
        <p14:creationId xmlns:p14="http://schemas.microsoft.com/office/powerpoint/2010/main" val="1364971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80374-BAAF-7C5A-03BE-0A954980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353800" cy="1282261"/>
          </a:xfrm>
        </p:spPr>
        <p:txBody>
          <a:bodyPr/>
          <a:lstStyle/>
          <a:p>
            <a:pPr algn="ctr"/>
            <a:r>
              <a:rPr lang="en-IN" dirty="0"/>
              <a:t>EDA Using SQL Queries (Part 3)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CD3B15C1-801C-52FC-E70A-5EB734182C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0" y="1376855"/>
            <a:ext cx="6632028" cy="4204138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SQL was used to identify booster versions carrying payloads between </a:t>
            </a:r>
            <a:r>
              <a:rPr lang="en-IN" sz="2200" b="1" dirty="0"/>
              <a:t>4000 kg and 6000 kg</a:t>
            </a:r>
            <a:r>
              <a:rPr lang="en-IN" sz="22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Multiple Falcon 9 booster versions operated within this payload range.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Medium-weight payload missions were common across several booster versions.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These findings support payload trend analysis and provide useful insights for predictive modelling.</a:t>
            </a:r>
            <a:endParaRPr lang="en-IN" sz="2200" b="1" dirty="0"/>
          </a:p>
          <a:p>
            <a:endParaRPr lang="en-IN" sz="20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3E6B5ED-A492-8CD3-83B0-A1AFA4751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875" y="1376855"/>
            <a:ext cx="4617884" cy="46350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F78E521-92F1-8223-A90B-B2166FE17498}"/>
              </a:ext>
            </a:extLst>
          </p:cNvPr>
          <p:cNvSpPr txBox="1"/>
          <p:nvPr/>
        </p:nvSpPr>
        <p:spPr>
          <a:xfrm>
            <a:off x="3373821" y="5381297"/>
            <a:ext cx="760948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42987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AFC7-9943-6F04-208E-BD1EC4083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5310" y="365125"/>
            <a:ext cx="11288110" cy="990709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Interactive Visual Analytics (Folium &amp; Plotly Dash)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A25C6-F943-0F4A-935D-C79B390A73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10" y="1545022"/>
            <a:ext cx="11038490" cy="2354316"/>
          </a:xfrm>
        </p:spPr>
        <p:txBody>
          <a:bodyPr/>
          <a:lstStyle/>
          <a:p>
            <a:pPr lvl="0"/>
            <a:r>
              <a:rPr lang="en-IN" dirty="0"/>
              <a:t>Built interactive </a:t>
            </a:r>
            <a:r>
              <a:rPr lang="en-IN" b="1" dirty="0"/>
              <a:t>Folium</a:t>
            </a:r>
            <a:r>
              <a:rPr lang="en-IN" dirty="0"/>
              <a:t> maps to visualize launch site locations. </a:t>
            </a:r>
          </a:p>
          <a:p>
            <a:pPr lvl="0"/>
            <a:r>
              <a:rPr lang="en-IN" dirty="0"/>
              <a:t>Developed a </a:t>
            </a:r>
            <a:r>
              <a:rPr lang="en-IN" b="1" dirty="0"/>
              <a:t>Plotly Dash</a:t>
            </a:r>
            <a:r>
              <a:rPr lang="en-IN" dirty="0"/>
              <a:t> dashboard with filters and interactive charts. </a:t>
            </a:r>
          </a:p>
          <a:p>
            <a:pPr lvl="0"/>
            <a:r>
              <a:rPr lang="en-IN" dirty="0"/>
              <a:t>Enabled dynamic exploration of launch data.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38580A-F97F-C8B1-2F63-B1880C78A143}"/>
              </a:ext>
            </a:extLst>
          </p:cNvPr>
          <p:cNvSpPr txBox="1"/>
          <p:nvPr/>
        </p:nvSpPr>
        <p:spPr>
          <a:xfrm>
            <a:off x="493986" y="4204138"/>
            <a:ext cx="101214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r>
              <a:rPr lang="en-IN" sz="2000" dirty="0"/>
              <a:t> </a:t>
            </a:r>
            <a:r>
              <a:rPr lang="en-IN" dirty="0"/>
              <a:t> </a:t>
            </a:r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1180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E551B-8823-E8DA-794B-7E85F392B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0709"/>
          </a:xfrm>
        </p:spPr>
        <p:txBody>
          <a:bodyPr/>
          <a:lstStyle/>
          <a:p>
            <a:pPr algn="ctr"/>
            <a:r>
              <a:rPr lang="en-IN" dirty="0"/>
              <a:t>Predictive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13146-62C1-1DDA-C130-6B225233B4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600200"/>
            <a:ext cx="10334297" cy="2446283"/>
          </a:xfrm>
        </p:spPr>
        <p:txBody>
          <a:bodyPr/>
          <a:lstStyle/>
          <a:p>
            <a:pPr lvl="0"/>
            <a:r>
              <a:rPr lang="en-IN" dirty="0"/>
              <a:t>Built multiple classification models to predict landing success. </a:t>
            </a:r>
          </a:p>
          <a:p>
            <a:pPr lvl="0"/>
            <a:r>
              <a:rPr lang="en-IN" dirty="0"/>
              <a:t>Compared model performance using evaluation metrics. </a:t>
            </a:r>
          </a:p>
          <a:p>
            <a:pPr lvl="0"/>
            <a:r>
              <a:rPr lang="en-IN" dirty="0"/>
              <a:t>Selected the best-performing model based on prediction accuracy.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D76B4E-F21C-2A32-5B48-C9E19C7E4FA5}"/>
              </a:ext>
            </a:extLst>
          </p:cNvPr>
          <p:cNvSpPr txBox="1"/>
          <p:nvPr/>
        </p:nvSpPr>
        <p:spPr>
          <a:xfrm>
            <a:off x="1008993" y="4046483"/>
            <a:ext cx="9375228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2" algn="ctr"/>
            <a:r>
              <a:rPr lang="en-IN" sz="2000" b="1" dirty="0"/>
              <a:t>GitHub Repository:</a:t>
            </a:r>
            <a:r>
              <a:rPr lang="en-IN" sz="2000" dirty="0"/>
              <a:t> </a:t>
            </a:r>
            <a:r>
              <a:rPr lang="en-IN" dirty="0"/>
              <a:t> </a:t>
            </a:r>
          </a:p>
          <a:p>
            <a:pPr lvl="2"/>
            <a:endParaRPr lang="en-IN" sz="1600" dirty="0">
              <a:solidFill>
                <a:srgbClr val="0072C3"/>
              </a:solidFill>
              <a:hlinkClick r:id="rId2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lvl="2" algn="ctr"/>
            <a:r>
              <a:rPr lang="en-IN" sz="16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21391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F900-F166-BEB7-F740-8C872536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210DC-B757-47AF-44F4-D6EC9F4BF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1D05E-A3D3-356F-EB51-94E7A1AE2A61}"/>
              </a:ext>
            </a:extLst>
          </p:cNvPr>
          <p:cNvSpPr txBox="1">
            <a:spLocks/>
          </p:cNvSpPr>
          <p:nvPr/>
        </p:nvSpPr>
        <p:spPr>
          <a:xfrm>
            <a:off x="409903" y="1408386"/>
            <a:ext cx="11540359" cy="4477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869CF1-93F4-8EB1-2010-62FE5F37A7DF}"/>
              </a:ext>
            </a:extLst>
          </p:cNvPr>
          <p:cNvSpPr txBox="1"/>
          <p:nvPr/>
        </p:nvSpPr>
        <p:spPr>
          <a:xfrm>
            <a:off x="441435" y="1536174"/>
            <a:ext cx="11340662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Landing Success Trend:</a:t>
            </a:r>
            <a:r>
              <a:rPr lang="en-IN" sz="2400" dirty="0"/>
              <a:t> This project integrates data collection, EDA, SQL, interactive dashboards, and machine learning to predict Falcon 9 landing success.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Factors:</a:t>
            </a:r>
            <a:r>
              <a:rPr lang="en-IN" sz="2400" dirty="0"/>
              <a:t> Payload mass, launch site, orbit type, flight number, and booster version influenced landing success.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EDA, SQL &amp; Visualization:</a:t>
            </a:r>
            <a:r>
              <a:rPr lang="en-IN" sz="2400" dirty="0"/>
              <a:t> SQL queries, Folium maps, and the Plotly Dash dashboard provided interactive insights.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Predictive Analysis:</a:t>
            </a:r>
            <a:r>
              <a:rPr lang="en-IN" sz="2400" dirty="0"/>
              <a:t> The best classification model achieved the highest prediction accuracy.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Overall Outcome:</a:t>
            </a:r>
            <a:r>
              <a:rPr lang="en-IN" sz="2400" dirty="0"/>
              <a:t> Historical launch data can effectively predict Falcon 9 first-stage landing success and support mission planning.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159085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404988-88C2-64FE-D96F-5FAEDB782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BFF1992-6B02-B279-E196-437EBDE73EC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" y="1450427"/>
            <a:ext cx="6096000" cy="4564117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0622A-975B-D3C1-CFE7-E8E2245C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5935717" cy="4414344"/>
          </a:xfrm>
        </p:spPr>
        <p:txBody>
          <a:bodyPr>
            <a:normAutofit fontScale="85000" lnSpcReduction="20000"/>
          </a:bodyPr>
          <a:lstStyle/>
          <a:p>
            <a:r>
              <a:rPr lang="en-IN" b="1" dirty="0"/>
              <a:t>Key Findings</a:t>
            </a:r>
            <a:endParaRPr lang="en-IN" dirty="0"/>
          </a:p>
          <a:p>
            <a:pPr lvl="0"/>
            <a:r>
              <a:rPr lang="en-IN" sz="2400" dirty="0"/>
              <a:t>Early Falcon 9 missions had lower landing success, while later missions showed higher success rates.</a:t>
            </a:r>
          </a:p>
          <a:p>
            <a:pPr lvl="0"/>
            <a:r>
              <a:rPr lang="en-IN" sz="2400" dirty="0"/>
              <a:t>Launch success improved as the </a:t>
            </a:r>
            <a:r>
              <a:rPr lang="en-IN" sz="2400" b="1" dirty="0"/>
              <a:t>flight number</a:t>
            </a:r>
            <a:r>
              <a:rPr lang="en-IN" sz="2400" dirty="0"/>
              <a:t> increased, indicating continuous improvements in booster recovery and operational experience.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recorded the highest number of Falcon 9 launches, making it the most frequently used launch site. 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and </a:t>
            </a:r>
            <a:r>
              <a:rPr lang="en-IN" sz="2400" b="1" dirty="0"/>
              <a:t>VAFB SLC 4E</a:t>
            </a:r>
            <a:r>
              <a:rPr lang="en-IN" sz="2400" dirty="0"/>
              <a:t> also demonstrated successful landings, although with fewer launches than CCAFS SLC 40. </a:t>
            </a:r>
          </a:p>
          <a:p>
            <a:r>
              <a:rPr lang="en-IN" sz="2400" dirty="0"/>
              <a:t>Overall, both launch site and flight number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35178820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4B2CF-DEB3-BE2F-832B-ABD069D83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Payload Mass vs. Launch Site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A36E3C-5569-0A2E-3A1B-32AFA41E5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8345" y="1600200"/>
            <a:ext cx="6253653" cy="4572000"/>
          </a:xfrm>
        </p:spPr>
        <p:txBody>
          <a:bodyPr>
            <a:normAutofit fontScale="85000" lnSpcReduction="20000"/>
          </a:bodyPr>
          <a:lstStyle/>
          <a:p>
            <a:r>
              <a:rPr lang="en-IN" sz="3000" b="1" dirty="0"/>
              <a:t>Key Findings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handled the widest range of payload masses and was the most frequently used launch site.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primarily handled medium- to high-payload missions and achieved several successful landings.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conducted fewer launches but demonstrated successful missions across different payload categories. </a:t>
            </a:r>
          </a:p>
          <a:p>
            <a:pPr lvl="0"/>
            <a:r>
              <a:rPr lang="en-IN" sz="2400" dirty="0"/>
              <a:t>Both </a:t>
            </a:r>
            <a:r>
              <a:rPr lang="en-IN" sz="2400" b="1" dirty="0"/>
              <a:t>successful</a:t>
            </a:r>
            <a:r>
              <a:rPr lang="en-IN" sz="2400" dirty="0"/>
              <a:t> and </a:t>
            </a:r>
            <a:r>
              <a:rPr lang="en-IN" sz="2400" b="1" dirty="0"/>
              <a:t>unsuccessful</a:t>
            </a:r>
            <a:r>
              <a:rPr lang="en-IN" sz="2400" dirty="0"/>
              <a:t> landings occurred at low, medium, and high payload masses, indicating that </a:t>
            </a:r>
            <a:r>
              <a:rPr lang="en-IN" sz="2400" b="1" dirty="0"/>
              <a:t>payload mass alone was not the primary factor affecting landing success</a:t>
            </a:r>
            <a:r>
              <a:rPr lang="en-IN" sz="2400" dirty="0"/>
              <a:t>. </a:t>
            </a:r>
          </a:p>
          <a:p>
            <a:pPr lvl="0"/>
            <a:r>
              <a:rPr lang="en-IN" sz="2400" dirty="0"/>
              <a:t>Overall, launch site and payload mass together influenced Falcon 9 landing success.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D663B-C687-577E-4BE2-C0232181ACB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5759669" cy="434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3735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C6A39-2DD4-700D-2971-070040B14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Flight Number vs. Orbit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A6CCA3-587F-AAFF-57E4-F9BCE14966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390697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r>
              <a:rPr lang="en-IN" sz="2200" dirty="0"/>
              <a:t>LEO, ISS, and VLEO missions generally achieved high landing success rates.</a:t>
            </a:r>
          </a:p>
          <a:p>
            <a:r>
              <a:rPr lang="en-IN" sz="2200" dirty="0"/>
              <a:t>GTO missions showed mixed landing outcomes, with both successful and failed landings.</a:t>
            </a:r>
          </a:p>
          <a:p>
            <a:pPr lvl="0"/>
            <a:r>
              <a:rPr lang="en-IN" sz="2200" dirty="0"/>
              <a:t>Landing success generally improved with increasing flight numbers, especially in later missions. </a:t>
            </a:r>
          </a:p>
          <a:p>
            <a:r>
              <a:rPr lang="en-IN" sz="2200" dirty="0"/>
              <a:t>Orbit type influenced landing success, while payload mass and launch site also played important roles.</a:t>
            </a:r>
          </a:p>
          <a:p>
            <a:endParaRPr lang="en-IN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B728AF-1456-2365-66BD-56CAF31A19B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39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340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29511-0C4E-7201-C73B-240A3CC51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Success Rate by Orbit</a:t>
            </a:r>
            <a:br>
              <a:rPr lang="en-IN" dirty="0"/>
            </a:br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7ED8DE1-F132-69DA-9999-21690FCAD3B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387366"/>
            <a:ext cx="6019801" cy="4624551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8B98BF-3152-047E-DBDF-BBFACB5114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19801" y="1387366"/>
            <a:ext cx="6172199" cy="4624551"/>
          </a:xfrm>
        </p:spPr>
        <p:txBody>
          <a:bodyPr>
            <a:normAutofit fontScale="85000" lnSpcReduction="20000"/>
          </a:bodyPr>
          <a:lstStyle/>
          <a:p>
            <a:r>
              <a:rPr lang="en-IN" sz="2600" b="1" dirty="0"/>
              <a:t>Key Findings</a:t>
            </a:r>
          </a:p>
          <a:p>
            <a:pPr lvl="0"/>
            <a:r>
              <a:rPr lang="en-IN" sz="2400" b="1" dirty="0"/>
              <a:t>ES-L1, GEO, HEO,</a:t>
            </a:r>
            <a:r>
              <a:rPr lang="en-IN" sz="2400" dirty="0"/>
              <a:t> and </a:t>
            </a:r>
            <a:r>
              <a:rPr lang="en-IN" sz="2400" b="1" dirty="0"/>
              <a:t>SSO</a:t>
            </a:r>
            <a:r>
              <a:rPr lang="en-IN" sz="2400" dirty="0"/>
              <a:t> achieved a </a:t>
            </a:r>
            <a:r>
              <a:rPr lang="en-IN" sz="2400" b="1" dirty="0"/>
              <a:t>100% landing success rate</a:t>
            </a:r>
            <a:r>
              <a:rPr lang="en-IN" sz="2400" dirty="0"/>
              <a:t>, indicating highly reliable mission outcomes for these orbit types. </a:t>
            </a:r>
          </a:p>
          <a:p>
            <a:pPr lvl="0"/>
            <a:r>
              <a:rPr lang="en-IN" sz="2400" b="1" dirty="0"/>
              <a:t>VLEO</a:t>
            </a:r>
            <a:r>
              <a:rPr lang="en-IN" sz="2400" dirty="0"/>
              <a:t> also demonstrated a high landing success rate of approximately </a:t>
            </a:r>
            <a:r>
              <a:rPr lang="en-IN" sz="2400" b="1" dirty="0"/>
              <a:t>86%</a:t>
            </a:r>
            <a:r>
              <a:rPr lang="en-IN" sz="2400" dirty="0"/>
              <a:t>, showing strong booster recovery performance. </a:t>
            </a:r>
          </a:p>
          <a:p>
            <a:pPr lvl="0"/>
            <a:r>
              <a:rPr lang="en-IN" sz="2400" dirty="0"/>
              <a:t>LEO, MEO, ISS, and PO achieved moderate landing success rates, indicating variable mission outcomes across these orbit types.</a:t>
            </a:r>
          </a:p>
          <a:p>
            <a:pPr lvl="0"/>
            <a:r>
              <a:rPr lang="en-IN" sz="2400" b="1" dirty="0"/>
              <a:t>GTO</a:t>
            </a:r>
            <a:r>
              <a:rPr lang="en-IN" sz="2400" dirty="0"/>
              <a:t> recorded a comparatively lower landing success rate, while </a:t>
            </a:r>
            <a:r>
              <a:rPr lang="en-IN" sz="2400" b="1" dirty="0"/>
              <a:t>SO</a:t>
            </a:r>
            <a:r>
              <a:rPr lang="en-IN" sz="2400" dirty="0"/>
              <a:t> showed </a:t>
            </a:r>
            <a:r>
              <a:rPr lang="en-IN" sz="2400" b="1" dirty="0"/>
              <a:t>no successful landings</a:t>
            </a:r>
            <a:r>
              <a:rPr lang="en-IN" sz="2400" dirty="0"/>
              <a:t> in the available dataset. </a:t>
            </a:r>
          </a:p>
          <a:p>
            <a:pPr lvl="0"/>
            <a:r>
              <a:rPr lang="en-IN" sz="2400" dirty="0"/>
              <a:t>Overall, orbit type significantly influenced Falcon 9 landing success, although mission characteristics and operational factors also played important roles.</a:t>
            </a:r>
          </a:p>
        </p:txBody>
      </p:sp>
    </p:spTree>
    <p:extLst>
      <p:ext uri="{BB962C8B-B14F-4D97-AF65-F5344CB8AC3E}">
        <p14:creationId xmlns:p14="http://schemas.microsoft.com/office/powerpoint/2010/main" val="6105474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2725-F169-453F-7665-66C5A942F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Payload Mass vs. Orbit</a:t>
            </a:r>
            <a:br>
              <a:rPr lang="en-IN" dirty="0"/>
            </a:b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DD030-A55E-4E81-597D-6066EC90C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376855"/>
            <a:ext cx="6019799" cy="4645573"/>
          </a:xfrm>
        </p:spPr>
        <p:txBody>
          <a:bodyPr>
            <a:normAutofit/>
          </a:bodyPr>
          <a:lstStyle/>
          <a:p>
            <a:r>
              <a:rPr lang="en-IN" b="1" dirty="0"/>
              <a:t>Key Findings</a:t>
            </a:r>
          </a:p>
          <a:p>
            <a:pPr lvl="0"/>
            <a:r>
              <a:rPr lang="en-IN" sz="2400" dirty="0"/>
              <a:t>GTO missions covered a wide range of payload masses, with both successful and unsuccessful landings observed.</a:t>
            </a:r>
          </a:p>
          <a:p>
            <a:pPr lvl="0"/>
            <a:r>
              <a:rPr lang="en-IN" sz="2400" dirty="0"/>
              <a:t>VLEO missions were associated with the highest payload masses. </a:t>
            </a:r>
          </a:p>
          <a:p>
            <a:pPr lvl="0"/>
            <a:r>
              <a:rPr lang="en-IN" sz="2400" dirty="0"/>
              <a:t>LEO and ISS missions generally carried low to medium payload masses.</a:t>
            </a:r>
          </a:p>
          <a:p>
            <a:pPr lvl="0"/>
            <a:r>
              <a:rPr lang="en-IN" sz="2400" dirty="0"/>
              <a:t>Payload mass alone did not determine Falcon 9 landing success; orbit type and mission characteristics also influenced landing outcomes.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C7A5151-B27F-DD19-F7F0-25A3D473CB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600200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28846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77B56-629A-FD69-8C31-3E6F2481C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Yearly Launch Success Trend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D7DB9F-10F9-E9E4-2A55-5C8C74947E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600200"/>
            <a:ext cx="6019799" cy="4169979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200" dirty="0"/>
              <a:t>Overall launch success rates improved over the years despite minor fluctuations.</a:t>
            </a:r>
          </a:p>
          <a:p>
            <a:pPr lvl="0"/>
            <a:r>
              <a:rPr lang="en-IN" sz="2200" dirty="0"/>
              <a:t>Success rates were very low during the early years (2010–2013). </a:t>
            </a:r>
          </a:p>
          <a:p>
            <a:pPr lvl="0"/>
            <a:r>
              <a:rPr lang="en-IN" sz="2400" dirty="0"/>
              <a:t>From 2016 onward, average launch success rates increased significantly.</a:t>
            </a:r>
          </a:p>
          <a:p>
            <a:pPr lvl="0"/>
            <a:r>
              <a:rPr lang="en-IN" sz="2200" dirty="0"/>
              <a:t>By 2019–2020, SpaceX consistently achieved high launch success rates, demonstrating improved booster recovery and mission reliability.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4EC76C-F2B7-5ED9-6C3C-ADB136229A82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1706690"/>
            <a:ext cx="5927834" cy="4465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31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9C2EF-6B42-0E80-4D37-BF39736D7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dirty="0"/>
              <a:t>Model Evaluation – Confusion Matrix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CDDAF-3B94-F041-8097-EFCED477D0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1600200"/>
            <a:ext cx="6095999" cy="4572000"/>
          </a:xfrm>
        </p:spPr>
        <p:txBody>
          <a:bodyPr>
            <a:normAutofit fontScale="92500" lnSpcReduction="100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dirty="0"/>
              <a:t>The model achieved good predictive performance with no false negatives, although a few unsuccessful missions were classified as successful.</a:t>
            </a:r>
          </a:p>
          <a:p>
            <a:pPr lvl="0"/>
            <a:r>
              <a:rPr lang="en-IN" sz="2400" b="1" dirty="0"/>
              <a:t>2 unsuccessful landings</a:t>
            </a:r>
            <a:r>
              <a:rPr lang="en-IN" sz="2400" dirty="0"/>
              <a:t> were correctly classified (True Negatives). </a:t>
            </a:r>
          </a:p>
          <a:p>
            <a:pPr lvl="0"/>
            <a:r>
              <a:rPr lang="en-IN" sz="2400" b="1" dirty="0"/>
              <a:t>4 unsuccessful landings</a:t>
            </a:r>
            <a:r>
              <a:rPr lang="en-IN" sz="2400" dirty="0"/>
              <a:t> were incorrectly predicted as successful (False Positives). </a:t>
            </a:r>
          </a:p>
          <a:p>
            <a:pPr lvl="0"/>
            <a:r>
              <a:rPr lang="en-IN" sz="2400" dirty="0"/>
              <a:t>The model demonstrated strong performance in identifying successful landings, with no false negatives, although some unsuccessful missions were incorrectly classified as successful.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5104F8-5136-26EF-9AFC-1242A057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600200"/>
            <a:ext cx="6019800" cy="4572000"/>
          </a:xfrm>
        </p:spPr>
        <p:txBody>
          <a:bodyPr>
            <a:normAutofit fontScale="92500" lnSpcReduction="10000"/>
          </a:bodyPr>
          <a:lstStyle/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52B133-92AA-31E9-7740-61951F6EB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67744"/>
            <a:ext cx="60198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6404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72497-7C26-C452-3B75-7C083BA3A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Landing Success by Launch Site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91ABDF-F27C-11B6-6503-5F96EEFD1FF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0" y="1631538"/>
            <a:ext cx="6019800" cy="40440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22FAC5-C8B1-DBB2-90D4-EA67DED142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5904186" cy="4075386"/>
          </a:xfrm>
        </p:spPr>
        <p:txBody>
          <a:bodyPr>
            <a:normAutofit fontScale="92500"/>
          </a:bodyPr>
          <a:lstStyle/>
          <a:p>
            <a:r>
              <a:rPr lang="en-IN" sz="2400" b="1" dirty="0"/>
              <a:t>Key Findings</a:t>
            </a:r>
          </a:p>
          <a:p>
            <a:pPr lvl="0"/>
            <a:r>
              <a:rPr lang="en-IN" sz="2400" b="1" dirty="0"/>
              <a:t>KSC LC 39A</a:t>
            </a:r>
            <a:r>
              <a:rPr lang="en-IN" sz="2400" dirty="0"/>
              <a:t> achieved the </a:t>
            </a:r>
            <a:r>
              <a:rPr lang="en-IN" sz="2400" b="1" dirty="0"/>
              <a:t>highest average landing success rate</a:t>
            </a:r>
            <a:r>
              <a:rPr lang="en-IN" sz="2400" dirty="0"/>
              <a:t> among all launch sites. </a:t>
            </a:r>
          </a:p>
          <a:p>
            <a:pPr lvl="0"/>
            <a:r>
              <a:rPr lang="en-IN" sz="2400" b="1" dirty="0"/>
              <a:t>VAFB SLC 4E</a:t>
            </a:r>
            <a:r>
              <a:rPr lang="en-IN" sz="2400" dirty="0"/>
              <a:t> also recorded a </a:t>
            </a:r>
            <a:r>
              <a:rPr lang="en-IN" sz="2400" b="1" dirty="0"/>
              <a:t>high landing success rate</a:t>
            </a:r>
            <a:r>
              <a:rPr lang="en-IN" sz="2400" dirty="0"/>
              <a:t>, indicating strong mission performance. </a:t>
            </a:r>
          </a:p>
          <a:p>
            <a:pPr lvl="0"/>
            <a:r>
              <a:rPr lang="en-IN" sz="2400" b="1" dirty="0"/>
              <a:t>CCAFS SLC 40</a:t>
            </a:r>
            <a:r>
              <a:rPr lang="en-IN" sz="2400" dirty="0"/>
              <a:t> showed the </a:t>
            </a:r>
            <a:r>
              <a:rPr lang="en-IN" sz="2400" b="1" dirty="0"/>
              <a:t>lowest average landing success rate</a:t>
            </a:r>
            <a:r>
              <a:rPr lang="en-IN" sz="2400" dirty="0"/>
              <a:t> in the dataset. </a:t>
            </a:r>
          </a:p>
          <a:p>
            <a:pPr lvl="0"/>
            <a:r>
              <a:rPr lang="en-IN" sz="2400" dirty="0"/>
              <a:t>Launch site significantly influenced Falcon 9 first-stage landing success.</a:t>
            </a:r>
          </a:p>
        </p:txBody>
      </p:sp>
    </p:spTree>
    <p:extLst>
      <p:ext uri="{BB962C8B-B14F-4D97-AF65-F5344CB8AC3E}">
        <p14:creationId xmlns:p14="http://schemas.microsoft.com/office/powerpoint/2010/main" val="14700631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A9BF-FA1A-16B2-22A0-10DE7D3499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1690688"/>
          </a:xfrm>
        </p:spPr>
        <p:txBody>
          <a:bodyPr/>
          <a:lstStyle/>
          <a:p>
            <a:pPr algn="ctr"/>
            <a:r>
              <a:rPr lang="en-IN" dirty="0"/>
              <a:t>Launch Site Proximity Analysis (CCAFS)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1E324E-4C98-8046-1238-B0DE803EC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8759" y="1600200"/>
            <a:ext cx="5738647" cy="4064876"/>
          </a:xfrm>
        </p:spPr>
        <p:txBody>
          <a:bodyPr>
            <a:normAutofit/>
          </a:bodyPr>
          <a:lstStyle/>
          <a:p>
            <a:r>
              <a:rPr lang="en-IN" sz="2400" b="1" dirty="0"/>
              <a:t>Key Findings:</a:t>
            </a:r>
          </a:p>
          <a:p>
            <a:pPr lvl="0"/>
            <a:r>
              <a:rPr lang="en-IN" sz="2200" dirty="0"/>
              <a:t>CCAFS launch site is located close to the coastline.</a:t>
            </a:r>
          </a:p>
          <a:p>
            <a:pPr lvl="0"/>
            <a:r>
              <a:rPr lang="en-IN" sz="2200" dirty="0"/>
              <a:t>The coastal location supports safe launch trajectories over the ocean. </a:t>
            </a:r>
          </a:p>
          <a:p>
            <a:pPr lvl="0"/>
            <a:r>
              <a:rPr lang="en-IN" sz="2200" dirty="0"/>
              <a:t>The site is positioned away from major populated areas to improve safety. </a:t>
            </a:r>
          </a:p>
          <a:p>
            <a:pPr lvl="0"/>
            <a:r>
              <a:rPr lang="en-IN" sz="2200" dirty="0"/>
              <a:t>The proximity map highlights CCAFS's strategic coastal location for safe launch operations.</a:t>
            </a:r>
          </a:p>
        </p:txBody>
      </p:sp>
      <p:pic>
        <p:nvPicPr>
          <p:cNvPr id="24" name="Content Placeholder 23">
            <a:extLst>
              <a:ext uri="{FF2B5EF4-FFF2-40B4-BE49-F238E27FC236}">
                <a16:creationId xmlns:a16="http://schemas.microsoft.com/office/drawing/2014/main" id="{8C70AC36-1D4C-3B7C-48B1-E1C29AEA5DB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-1" y="1600200"/>
            <a:ext cx="6358759" cy="406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2640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sz="3200" dirty="0"/>
              <a:t>SPACEX FALCON 9 –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Findings</a:t>
            </a:r>
            <a:endParaRPr lang="en-US" dirty="0"/>
          </a:p>
          <a:p>
            <a:r>
              <a:rPr lang="en-IN" sz="2400" dirty="0"/>
              <a:t>Launch success rate improved over time.</a:t>
            </a:r>
            <a:endParaRPr lang="en-US" sz="2400" dirty="0"/>
          </a:p>
          <a:p>
            <a:r>
              <a:rPr lang="en-IN" sz="2400" dirty="0"/>
              <a:t>Launch site, payload mass, flight number, and orbit type significantly influenced landing success.</a:t>
            </a:r>
          </a:p>
          <a:p>
            <a:r>
              <a:rPr lang="en-IN" sz="2400" dirty="0"/>
              <a:t>The best-performing classification model demonstrated strong predictive performance.</a:t>
            </a:r>
            <a:endParaRPr lang="en-US" sz="2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Implications</a:t>
            </a:r>
            <a:endParaRPr lang="en-US" b="1" dirty="0"/>
          </a:p>
          <a:p>
            <a:pPr marL="0" indent="0">
              <a:buNone/>
            </a:pPr>
            <a:endParaRPr lang="en-US" dirty="0"/>
          </a:p>
          <a:p>
            <a:pPr lvl="0"/>
            <a:r>
              <a:rPr lang="en-IN" sz="2400" dirty="0"/>
              <a:t>Machine learning can effectively predict Falcon 9 landing success. </a:t>
            </a:r>
          </a:p>
          <a:p>
            <a:r>
              <a:rPr lang="en-IN" sz="2400" dirty="0"/>
              <a:t>The predictive model can support mission planning and reduce launch costs.</a:t>
            </a:r>
          </a:p>
          <a:p>
            <a:pPr lvl="0"/>
            <a:r>
              <a:rPr lang="en-IN" sz="2400" dirty="0"/>
              <a:t>Data-driven insights help improve future SpaceX launch decisions.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EC7309-8596-7107-C27A-A456A4AA6061}"/>
              </a:ext>
            </a:extLst>
          </p:cNvPr>
          <p:cNvSpPr txBox="1"/>
          <p:nvPr/>
        </p:nvSpPr>
        <p:spPr>
          <a:xfrm>
            <a:off x="4382814" y="5833241"/>
            <a:ext cx="63272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Results – Visualizations &amp; Dashboard</a:t>
            </a:r>
            <a:endParaRPr lang="en-US" b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0486" y="1754331"/>
            <a:ext cx="3374572" cy="57323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b="1" dirty="0"/>
              <a:t>EDA Visualizations</a:t>
            </a:r>
            <a:endParaRPr lang="en-US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614948" cy="50193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Interactive Dashboard</a:t>
            </a:r>
            <a:endParaRPr lang="en-US" b="1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4E86EFD-B801-5996-879A-7A13CF75507C}"/>
              </a:ext>
            </a:extLst>
          </p:cNvPr>
          <p:cNvSpPr txBox="1">
            <a:spLocks/>
          </p:cNvSpPr>
          <p:nvPr/>
        </p:nvSpPr>
        <p:spPr>
          <a:xfrm>
            <a:off x="483477" y="2496151"/>
            <a:ext cx="4969672" cy="3242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Launch Site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Success Rate by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Flight Number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Payload Mass vs. Orbit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Yearly Launch Success Trend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Landing Success by Launch Site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F288C39-3E30-44CF-06C3-D46763CC8E0C}"/>
              </a:ext>
            </a:extLst>
          </p:cNvPr>
          <p:cNvSpPr txBox="1">
            <a:spLocks/>
          </p:cNvSpPr>
          <p:nvPr/>
        </p:nvSpPr>
        <p:spPr>
          <a:xfrm>
            <a:off x="6172200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2400" dirty="0">
                <a:solidFill>
                  <a:schemeClr val="tx1"/>
                </a:solidFill>
              </a:rPr>
              <a:t>SQL Query Results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Folium Launch Site Map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Plotly Dash Dashboard </a:t>
            </a:r>
          </a:p>
          <a:p>
            <a:pPr lvl="0"/>
            <a:r>
              <a:rPr lang="en-IN" sz="2400" dirty="0">
                <a:solidFill>
                  <a:schemeClr val="tx1"/>
                </a:solidFill>
              </a:rPr>
              <a:t>Confusion Matrix (Model Evaluation)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A59009-3D5A-F6B4-540B-109E6E6FD047}"/>
              </a:ext>
            </a:extLst>
          </p:cNvPr>
          <p:cNvSpPr txBox="1"/>
          <p:nvPr/>
        </p:nvSpPr>
        <p:spPr>
          <a:xfrm>
            <a:off x="5334000" y="4985657"/>
            <a:ext cx="649877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GitHub Repository:</a:t>
            </a:r>
          </a:p>
          <a:p>
            <a:pPr algn="ctr"/>
            <a:endParaRPr lang="en-US" b="1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69813-A814-1BC2-62A6-93F767A71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9510"/>
            <a:ext cx="10515600" cy="1300751"/>
          </a:xfrm>
        </p:spPr>
        <p:txBody>
          <a:bodyPr/>
          <a:lstStyle/>
          <a:p>
            <a:pPr algn="ctr"/>
            <a:r>
              <a:rPr lang="en-IN" dirty="0"/>
              <a:t>Interactive Dashboard (Plotly Dash)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195187-D8E7-1445-177F-C01F1184E1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891862"/>
            <a:ext cx="7273160" cy="36611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81C8C4-68A1-2EE2-5BB7-1D90EA1B7AB5}"/>
              </a:ext>
            </a:extLst>
          </p:cNvPr>
          <p:cNvSpPr txBox="1"/>
          <p:nvPr/>
        </p:nvSpPr>
        <p:spPr>
          <a:xfrm>
            <a:off x="304800" y="1305004"/>
            <a:ext cx="6968360" cy="899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Total Success Launches by All Sites (Pie Chart)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716A18-9365-1CC9-E029-E790959521D5}"/>
              </a:ext>
            </a:extLst>
          </p:cNvPr>
          <p:cNvSpPr txBox="1"/>
          <p:nvPr/>
        </p:nvSpPr>
        <p:spPr>
          <a:xfrm>
            <a:off x="7525406" y="1523999"/>
            <a:ext cx="4582511" cy="3920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endParaRPr lang="en-IN" b="1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Interactive dashboard developed using Plotly Dash.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Displays successful launches across all launch sites.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KSC LC-39A recorded the highest number of successful launches.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Figure: Plotly Dash dashboard showing the success distribution across all launch sites.</a:t>
            </a:r>
          </a:p>
          <a:p>
            <a:endParaRPr lang="en-IN" b="1" dirty="0"/>
          </a:p>
          <a:p>
            <a:endParaRPr lang="en-IN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0C29C3-F997-DC2E-874B-0CFB9BF32257}"/>
              </a:ext>
            </a:extLst>
          </p:cNvPr>
          <p:cNvSpPr txBox="1"/>
          <p:nvPr/>
        </p:nvSpPr>
        <p:spPr>
          <a:xfrm>
            <a:off x="4267200" y="5444358"/>
            <a:ext cx="65584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36824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BCB6F-FDDE-4983-F5C9-64134F73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8166"/>
            <a:ext cx="10515600" cy="1103585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Launch Site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2A1914-EB1F-F6D5-D0EA-9612FBDD35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33" y="2090770"/>
            <a:ext cx="6378184" cy="37233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1438A3-4C72-BAC9-E68E-5A5A41E90A9F}"/>
              </a:ext>
            </a:extLst>
          </p:cNvPr>
          <p:cNvSpPr txBox="1"/>
          <p:nvPr/>
        </p:nvSpPr>
        <p:spPr>
          <a:xfrm>
            <a:off x="641131" y="1450428"/>
            <a:ext cx="52446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KSC LC-39A: Success vs Failure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280D13-CE90-B962-BD21-B43E71A82956}"/>
              </a:ext>
            </a:extLst>
          </p:cNvPr>
          <p:cNvSpPr txBox="1"/>
          <p:nvPr/>
        </p:nvSpPr>
        <p:spPr>
          <a:xfrm>
            <a:off x="7052441" y="1545021"/>
            <a:ext cx="505547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  <a:endParaRPr lang="en-IN" b="1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Shows the success and failure distribution for </a:t>
            </a:r>
            <a:r>
              <a:rPr lang="en-IN" sz="2000" b="1" dirty="0"/>
              <a:t>KSC LC-39A</a:t>
            </a:r>
            <a:r>
              <a:rPr lang="en-IN" sz="2000" dirty="0"/>
              <a:t>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Approximately </a:t>
            </a:r>
            <a:r>
              <a:rPr lang="en-IN" sz="2000" b="1" dirty="0"/>
              <a:t>76.9%</a:t>
            </a:r>
            <a:r>
              <a:rPr lang="en-IN" sz="2000" dirty="0"/>
              <a:t> of launches were successful.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Helps compare mission outcomes at the selected launch site.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Demonstrates the effectiveness of Falcon 9 operations at KSC LC-39A.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b="1" dirty="0"/>
          </a:p>
          <a:p>
            <a:endParaRPr lang="en-IN" b="1" dirty="0"/>
          </a:p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702260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CE5FB-429A-F315-DCE0-C13A1100F4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48668"/>
          </a:xfrm>
        </p:spPr>
        <p:txBody>
          <a:bodyPr>
            <a:normAutofit/>
          </a:bodyPr>
          <a:lstStyle/>
          <a:p>
            <a:pPr algn="ctr"/>
            <a:r>
              <a:rPr lang="en-IN" dirty="0"/>
              <a:t>Interactive Launch Site Map (Folium)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7D86E98-4263-2F1D-5287-315E04DC56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-1" y="1833019"/>
            <a:ext cx="5875284" cy="418940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413E06-F946-BEBE-D121-BE68ED4BE8E5}"/>
              </a:ext>
            </a:extLst>
          </p:cNvPr>
          <p:cNvSpPr txBox="1"/>
          <p:nvPr/>
        </p:nvSpPr>
        <p:spPr>
          <a:xfrm>
            <a:off x="268014" y="1342574"/>
            <a:ext cx="5092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Launch Site Distribution (Folium)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CE726F-C34A-346B-82B1-9374006BC031}"/>
              </a:ext>
            </a:extLst>
          </p:cNvPr>
          <p:cNvSpPr txBox="1"/>
          <p:nvPr/>
        </p:nvSpPr>
        <p:spPr>
          <a:xfrm>
            <a:off x="5948855" y="1314189"/>
            <a:ext cx="5975131" cy="4985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Visualized Falcon 9 launch sites using Folium.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Interactive markers display launch site locations and launch counts.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CCAFS SLC-40 recorded the highest number of Falcon 9 launches, indicating it was the most active launch site.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200" dirty="0"/>
              <a:t>Geographic analysis helped compare launch site distribution.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/>
              <a:t>Location-based visualization helped identify launch site patterns and supported predictive analysis.</a:t>
            </a:r>
            <a:endParaRPr lang="en-US" b="1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410604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48104-5359-D9D2-0BA8-81B126A22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18428" cy="1208689"/>
          </a:xfrm>
        </p:spPr>
        <p:txBody>
          <a:bodyPr/>
          <a:lstStyle/>
          <a:p>
            <a:pPr algn="ctr"/>
            <a:r>
              <a:rPr lang="en-IN" dirty="0"/>
              <a:t>Interactive Marker Cluster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D553D-4216-F30D-8BD9-FA660DE0C8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63558" y="1397875"/>
            <a:ext cx="5454869" cy="4774324"/>
          </a:xfrm>
        </p:spPr>
        <p:txBody>
          <a:bodyPr>
            <a:normAutofit/>
          </a:bodyPr>
          <a:lstStyle/>
          <a:p>
            <a:r>
              <a:rPr lang="en-IN" b="1" dirty="0"/>
              <a:t>Key Findings:</a:t>
            </a:r>
          </a:p>
          <a:p>
            <a:pPr lvl="0"/>
            <a:r>
              <a:rPr lang="en-IN" sz="2000" dirty="0"/>
              <a:t>Folium was used to visualize individual Falcon 9 launch records at </a:t>
            </a:r>
            <a:r>
              <a:rPr lang="en-IN" sz="2000" b="1" dirty="0"/>
              <a:t>CCAFS SLC-40</a:t>
            </a:r>
            <a:r>
              <a:rPr lang="en-IN" sz="2000" dirty="0"/>
              <a:t>. </a:t>
            </a:r>
          </a:p>
          <a:p>
            <a:pPr lvl="0"/>
            <a:r>
              <a:rPr lang="en-IN" sz="2000" b="1" dirty="0"/>
              <a:t>Green markers</a:t>
            </a:r>
            <a:r>
              <a:rPr lang="en-IN" sz="2000" dirty="0"/>
              <a:t> represent successful launches, while </a:t>
            </a:r>
            <a:r>
              <a:rPr lang="en-IN" sz="2000" b="1" dirty="0"/>
              <a:t>red markers</a:t>
            </a:r>
            <a:r>
              <a:rPr lang="en-IN" sz="2000" dirty="0"/>
              <a:t> represent failed launches. </a:t>
            </a:r>
          </a:p>
          <a:p>
            <a:pPr lvl="0"/>
            <a:r>
              <a:rPr lang="en-IN" sz="2000" dirty="0"/>
              <a:t>Marker clustering improves map readability when multiple launches occur at the same site. </a:t>
            </a:r>
          </a:p>
          <a:p>
            <a:pPr lvl="0"/>
            <a:r>
              <a:rPr lang="en-IN" sz="2000" dirty="0"/>
              <a:t>The visualization supports geographic analysis and helps compare launch outcomes across the launch site.</a:t>
            </a:r>
            <a:endParaRPr lang="en-IN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31602F-9F6D-8A49-4FE0-53D3025FCD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" y="1397875"/>
            <a:ext cx="6537434" cy="468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38511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0697E-E9ED-A44D-FEBB-F5AA6CFBC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261241"/>
          </a:xfrm>
        </p:spPr>
        <p:txBody>
          <a:bodyPr/>
          <a:lstStyle/>
          <a:p>
            <a:pPr algn="ctr"/>
            <a:r>
              <a:rPr lang="en-IN" dirty="0"/>
              <a:t>Payload Analysis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4804D26-1F0B-5B1C-791A-1306305740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122300"/>
            <a:ext cx="7420302" cy="337382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27E8BA3-6A6E-E744-C144-36D5F640DA76}"/>
              </a:ext>
            </a:extLst>
          </p:cNvPr>
          <p:cNvSpPr txBox="1"/>
          <p:nvPr/>
        </p:nvSpPr>
        <p:spPr>
          <a:xfrm>
            <a:off x="241738" y="1460938"/>
            <a:ext cx="68947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Payload vs Launch Success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9292C6-04FE-466A-2AA9-2884D4A0E718}"/>
              </a:ext>
            </a:extLst>
          </p:cNvPr>
          <p:cNvSpPr txBox="1"/>
          <p:nvPr/>
        </p:nvSpPr>
        <p:spPr>
          <a:xfrm>
            <a:off x="7420302" y="1460938"/>
            <a:ext cx="4771697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b="1" dirty="0"/>
              <a:t>Key Findings: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Payload mass influences launch success differently across booster versions.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Lower payloads generally show higher success rates.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dirty="0"/>
              <a:t>Scatter plot helps identify relationships between payload, booster version, and landing outcome.</a:t>
            </a:r>
          </a:p>
          <a:p>
            <a:endParaRPr lang="en-IN" sz="2400" b="1" dirty="0"/>
          </a:p>
          <a:p>
            <a:pPr algn="ctr"/>
            <a:r>
              <a:rPr lang="en-IN" sz="2000" b="1" dirty="0"/>
              <a:t>GitHub Repository:</a:t>
            </a:r>
          </a:p>
          <a:p>
            <a:pPr algn="ctr"/>
            <a:endParaRPr lang="en-IN" sz="2400" b="1" dirty="0"/>
          </a:p>
          <a:p>
            <a:pPr algn="ctr"/>
            <a:r>
              <a:rPr lang="en-IN" sz="1600" dirty="0">
                <a:solidFill>
                  <a:srgbClr val="0072C3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600" dirty="0">
              <a:solidFill>
                <a:srgbClr val="0072C3"/>
              </a:solidFill>
            </a:endParaRPr>
          </a:p>
          <a:p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5655683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6390B-BCF3-2BD1-8DB7-8DC8D4641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0"/>
            <a:ext cx="12097407" cy="1198179"/>
          </a:xfrm>
        </p:spPr>
        <p:txBody>
          <a:bodyPr/>
          <a:lstStyle/>
          <a:p>
            <a:pPr algn="ctr"/>
            <a:r>
              <a:rPr lang="en-IN" dirty="0"/>
              <a:t>Conclusion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E341-37B6-1A7A-43AB-27E7F7AFAE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4595" y="1198180"/>
            <a:ext cx="5633544" cy="4803228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/>
              <a:t>Key Takeaways</a:t>
            </a:r>
          </a:p>
          <a:p>
            <a:pPr lvl="0"/>
            <a:r>
              <a:rPr lang="en-IN" sz="2200" dirty="0"/>
              <a:t>The analysis identified several factors that influence SpaceX Falcon 9 landing success. </a:t>
            </a:r>
          </a:p>
          <a:p>
            <a:pPr lvl="0"/>
            <a:r>
              <a:rPr lang="en-IN" sz="2200" dirty="0"/>
              <a:t>Flight Number showed a positive relationship with landing success. </a:t>
            </a:r>
          </a:p>
          <a:p>
            <a:pPr lvl="0"/>
            <a:r>
              <a:rPr lang="en-IN" sz="2200" dirty="0"/>
              <a:t>Payload mass, orbit type, and launch site were key factors influencing landing success. </a:t>
            </a:r>
          </a:p>
          <a:p>
            <a:pPr lvl="0"/>
            <a:r>
              <a:rPr lang="en-IN" sz="2200" dirty="0"/>
              <a:t>The project successfully combined </a:t>
            </a:r>
            <a:r>
              <a:rPr lang="en-IN" sz="2200" b="1" dirty="0"/>
              <a:t>SQL, Python, Plotly Dash, and Folium</a:t>
            </a:r>
            <a:r>
              <a:rPr lang="en-IN" sz="2200" dirty="0"/>
              <a:t> to analyze Falcon 9 launch data and support predictive insights.</a:t>
            </a:r>
          </a:p>
          <a:p>
            <a:pPr lvl="0"/>
            <a:r>
              <a:rPr lang="en-IN" sz="2200" b="1" dirty="0"/>
              <a:t>Future Work:</a:t>
            </a:r>
            <a:r>
              <a:rPr lang="en-IN" sz="2200" dirty="0"/>
              <a:t> Incorporate weather conditions and real-time launch data to further improve prediction accuracy.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94C101-A308-275B-9441-A1EEAF8E05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27835" y="1082566"/>
            <a:ext cx="6264164" cy="4288220"/>
          </a:xfrm>
        </p:spPr>
        <p:txBody>
          <a:bodyPr>
            <a:normAutofit fontScale="92500" lnSpcReduction="10000"/>
          </a:bodyPr>
          <a:lstStyle/>
          <a:p>
            <a:r>
              <a:rPr lang="en-IN" b="1" dirty="0"/>
              <a:t>Overall Findings</a:t>
            </a:r>
          </a:p>
          <a:p>
            <a:r>
              <a:rPr lang="en-IN" sz="2200" dirty="0"/>
              <a:t>Landing success rates improved significantly over time, reaching their highest levels by 2019 and remaining consistently high thereafter.</a:t>
            </a:r>
          </a:p>
          <a:p>
            <a:r>
              <a:rPr lang="en-IN" sz="2200" dirty="0"/>
              <a:t>Historical launch data provides valuable insights into Falcon 9 landing success and supports data-driven decision-making.</a:t>
            </a:r>
          </a:p>
          <a:p>
            <a:r>
              <a:rPr lang="en-IN" sz="2200" dirty="0"/>
              <a:t>The Random Forest classifier achieved the best prediction performance among the evaluated machine learning models.</a:t>
            </a:r>
          </a:p>
          <a:p>
            <a:r>
              <a:rPr lang="en-IN" sz="2400" dirty="0"/>
              <a:t>Combining SQL analysis, EDA, Folium mapping, Plotly Dash, and machine learning provided a comprehensive understanding of Falcon 9 landing success.</a:t>
            </a:r>
            <a:endParaRPr lang="en-IN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7F8652-3473-2E34-080F-29094B28A091}"/>
              </a:ext>
            </a:extLst>
          </p:cNvPr>
          <p:cNvSpPr txBox="1"/>
          <p:nvPr/>
        </p:nvSpPr>
        <p:spPr>
          <a:xfrm>
            <a:off x="3678621" y="5623034"/>
            <a:ext cx="65689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b="1" dirty="0"/>
              <a:t>GitHub Repository:</a:t>
            </a:r>
            <a:endParaRPr lang="en-IN" sz="1600" dirty="0"/>
          </a:p>
          <a:p>
            <a:pPr lvl="2" algn="ctr"/>
            <a:endParaRPr lang="en-IN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86717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IN" dirty="0"/>
              <a:t>GITHUB REPOSITORY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sz="2000" b="1" dirty="0"/>
              <a:t>GitHub Repository</a:t>
            </a:r>
            <a:endParaRPr lang="en-US" sz="2200" b="1" u="sng" dirty="0">
              <a:solidFill>
                <a:srgbClr val="0072C3"/>
              </a:solidFill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buNone/>
            </a:pPr>
            <a:r>
              <a:rPr lang="en-US" sz="2200" u="sng" dirty="0">
                <a:solidFill>
                  <a:srgbClr val="0072C3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US" sz="2200" u="sng" dirty="0">
              <a:solidFill>
                <a:srgbClr val="0072C3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1901819"/>
            <a:ext cx="4131836" cy="380963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APPENDIX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8E40FF55-AE57-CB43-454D-CEFBE080CE8E}"/>
              </a:ext>
            </a:extLst>
          </p:cNvPr>
          <p:cNvSpPr txBox="1">
            <a:spLocks/>
          </p:cNvSpPr>
          <p:nvPr/>
        </p:nvSpPr>
        <p:spPr>
          <a:xfrm>
            <a:off x="4544291" y="1589314"/>
            <a:ext cx="7300868" cy="31568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Additional Analysis</a:t>
            </a:r>
            <a:endParaRPr lang="en-IN" dirty="0"/>
          </a:p>
          <a:p>
            <a:pPr lvl="0"/>
            <a:r>
              <a:rPr lang="en-IN" sz="2400" dirty="0"/>
              <a:t>SQL query outputs used for exploratory analysis. </a:t>
            </a:r>
          </a:p>
          <a:p>
            <a:pPr lvl="0"/>
            <a:r>
              <a:rPr lang="en-IN" sz="2400" dirty="0"/>
              <a:t>Interactive Plotly Dash dashboard for exploratory data analysis.</a:t>
            </a:r>
          </a:p>
          <a:p>
            <a:pPr lvl="0"/>
            <a:r>
              <a:rPr lang="en-IN" sz="2400" dirty="0"/>
              <a:t>Folium map showing launch site proximity. </a:t>
            </a:r>
          </a:p>
          <a:p>
            <a:pPr lvl="0"/>
            <a:r>
              <a:rPr lang="en-IN" sz="2400" dirty="0"/>
              <a:t>Additional EDA charts supporting model development.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4"/>
          <a:stretch>
            <a:fillRect/>
          </a:stretch>
        </p:blipFill>
        <p:spPr>
          <a:xfrm>
            <a:off x="168166" y="1682804"/>
            <a:ext cx="4035972" cy="42765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EC41F8-6A38-74E6-2697-E8E27733B4D6}"/>
              </a:ext>
            </a:extLst>
          </p:cNvPr>
          <p:cNvSpPr txBox="1"/>
          <p:nvPr/>
        </p:nvSpPr>
        <p:spPr>
          <a:xfrm>
            <a:off x="4865914" y="4963886"/>
            <a:ext cx="648788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GitHub Repository:</a:t>
            </a:r>
          </a:p>
          <a:p>
            <a:pPr algn="ctr"/>
            <a:endParaRPr lang="en-IN" b="1" dirty="0"/>
          </a:p>
          <a:p>
            <a:pPr algn="ctr"/>
            <a:r>
              <a:rPr lang="en-IN" sz="1400" dirty="0">
                <a:solidFill>
                  <a:srgbClr val="0072C3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https://github.com/Satish-KumarRam/IBM-Data-Science-Capstone-Project</a:t>
            </a:r>
            <a:endParaRPr lang="en-IN" sz="1400" dirty="0">
              <a:solidFill>
                <a:srgbClr val="0072C3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1AAAE-35F9-B79F-6905-4E8B93B93625}"/>
              </a:ext>
            </a:extLst>
          </p:cNvPr>
          <p:cNvSpPr txBox="1"/>
          <p:nvPr/>
        </p:nvSpPr>
        <p:spPr>
          <a:xfrm>
            <a:off x="0" y="-12312"/>
            <a:ext cx="12192000" cy="78175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  <a:p>
            <a:pPr algn="ctr"/>
            <a:r>
              <a:rPr lang="en-US" sz="5600" dirty="0"/>
              <a:t>Thank You!</a:t>
            </a:r>
          </a:p>
          <a:p>
            <a:endParaRPr lang="en-US" dirty="0"/>
          </a:p>
          <a:p>
            <a:endParaRPr lang="en-US" sz="3200" dirty="0"/>
          </a:p>
          <a:p>
            <a:endParaRPr lang="en-US" sz="3200" dirty="0"/>
          </a:p>
          <a:p>
            <a:endParaRPr lang="en-US" sz="3200" dirty="0"/>
          </a:p>
          <a:p>
            <a:pPr algn="ctr"/>
            <a:endParaRPr lang="en-IN" sz="3000" b="1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algn="ctr"/>
            <a:r>
              <a:rPr lang="en-IN" sz="2800" b="1" dirty="0"/>
              <a:t>Questions?</a:t>
            </a:r>
            <a:endParaRPr lang="en-IN" sz="2800" dirty="0"/>
          </a:p>
          <a:p>
            <a:r>
              <a:rPr lang="en-IN" dirty="0"/>
              <a:t>                                                                           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4110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SLIDE_TEMPLATE_skill_network">
  <a:themeElements>
    <a:clrScheme name="IBM Skills Network">
      <a:dk1>
        <a:srgbClr val="262626"/>
      </a:dk1>
      <a:lt1>
        <a:srgbClr val="525252"/>
      </a:lt1>
      <a:dk2>
        <a:srgbClr val="FFFFFF"/>
      </a:dk2>
      <a:lt2>
        <a:srgbClr val="FFFFFF"/>
      </a:lt2>
      <a:accent1>
        <a:srgbClr val="6C4DEA"/>
      </a:accent1>
      <a:accent2>
        <a:srgbClr val="82CFFF"/>
      </a:accent2>
      <a:accent3>
        <a:srgbClr val="FF7EB6"/>
      </a:accent3>
      <a:accent4>
        <a:srgbClr val="3DDBD9"/>
      </a:accent4>
      <a:accent5>
        <a:srgbClr val="5B9BD5"/>
      </a:accent5>
      <a:accent6>
        <a:srgbClr val="525252"/>
      </a:accent6>
      <a:hlink>
        <a:srgbClr val="C1C7CD"/>
      </a:hlink>
      <a:folHlink>
        <a:srgbClr val="DA1E28"/>
      </a:folHlink>
    </a:clrScheme>
    <a:fontScheme name="IBM Skills Network">
      <a:majorFont>
        <a:latin typeface="IBM Plex Sans SemiBold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BM Skills Network PPT Template 01.2023.pptx" id="{565886F7-76CC-4370-877F-2511E1EB1B28}" vid="{AD061E48-3596-4052-9172-46F1919207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4DA07C5-A406-4A0D-B3E6-3856C94AC7F3}">
  <ds:schemaRefs>
    <ds:schemaRef ds:uri="f80a141d-92ca-4d3d-9308-f7e7b1d44ce8"/>
    <ds:schemaRef ds:uri="http://purl.org/dc/elements/1.1/"/>
    <ds:schemaRef ds:uri="155be751-a274-42e8-93fb-f39d3b9bccc8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IBM PPT Temp Jan 2023</Template>
  <TotalTime>2327</TotalTime>
  <Words>2615</Words>
  <Application>Microsoft Office PowerPoint</Application>
  <PresentationFormat>Widescreen</PresentationFormat>
  <Paragraphs>345</Paragraphs>
  <Slides>36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3" baseType="lpstr">
      <vt:lpstr>Arial</vt:lpstr>
      <vt:lpstr>Calibri</vt:lpstr>
      <vt:lpstr>Helv</vt:lpstr>
      <vt:lpstr>IBM Plex Mono</vt:lpstr>
      <vt:lpstr>IBM Plex Sans</vt:lpstr>
      <vt:lpstr>IBM Plex Sans SemiBold</vt:lpstr>
      <vt:lpstr>SLIDE_TEMPLATE_skill_network</vt:lpstr>
      <vt:lpstr>SpaceX Falcon 9 First Stage Landing Prediction</vt:lpstr>
      <vt:lpstr>PowerPoint Presentation</vt:lpstr>
      <vt:lpstr>Introduction</vt:lpstr>
      <vt:lpstr>Executive Summary</vt:lpstr>
      <vt:lpstr>Methodology</vt:lpstr>
      <vt:lpstr>Data Collection using SpaceX API</vt:lpstr>
      <vt:lpstr>Data Collection using Wikipedia Web Scraping </vt:lpstr>
      <vt:lpstr> Data Wrangling</vt:lpstr>
      <vt:lpstr>EDA using Visualizations</vt:lpstr>
      <vt:lpstr>EDA using SQL</vt:lpstr>
      <vt:lpstr>EDA Using SQL Queries (Part 1)</vt:lpstr>
      <vt:lpstr>EDA Using SQL Queries (Part 2)</vt:lpstr>
      <vt:lpstr>EDA Using SQL Queries (Part 3)</vt:lpstr>
      <vt:lpstr>Interactive Visual Analytics (Folium &amp; Plotly Dash)</vt:lpstr>
      <vt:lpstr>Predictive Analysis</vt:lpstr>
      <vt:lpstr>Results</vt:lpstr>
      <vt:lpstr>Flight Number vs. Launch Site</vt:lpstr>
      <vt:lpstr>Payload Mass vs. Launch Site</vt:lpstr>
      <vt:lpstr>Flight Number vs. Orbit</vt:lpstr>
      <vt:lpstr>Success Rate by Orbit </vt:lpstr>
      <vt:lpstr>Payload Mass vs. Orbit </vt:lpstr>
      <vt:lpstr>Yearly Launch Success Trend</vt:lpstr>
      <vt:lpstr>Model Evaluation – Confusion Matrix</vt:lpstr>
      <vt:lpstr>Landing Success by Launch Site</vt:lpstr>
      <vt:lpstr>Launch Site Proximity Analysis (CCAFS)</vt:lpstr>
      <vt:lpstr>SPACEX FALCON 9 – FINDINGS &amp; IMPLICATIONS</vt:lpstr>
      <vt:lpstr>Results – Visualizations &amp; Dashboard</vt:lpstr>
      <vt:lpstr>Interactive Dashboard (Plotly Dash)</vt:lpstr>
      <vt:lpstr>Launch Site Analysis</vt:lpstr>
      <vt:lpstr>Interactive Launch Site Map (Folium)</vt:lpstr>
      <vt:lpstr>Interactive Marker Cluster Analysis</vt:lpstr>
      <vt:lpstr>Payload Analysis</vt:lpstr>
      <vt:lpstr>Conclusion </vt:lpstr>
      <vt:lpstr>GITHUB REPOSITORY</vt:lpstr>
      <vt:lpstr>APPENDIX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Satish Thakur</cp:lastModifiedBy>
  <cp:revision>178</cp:revision>
  <dcterms:created xsi:type="dcterms:W3CDTF">2024-10-30T05:40:03Z</dcterms:created>
  <dcterms:modified xsi:type="dcterms:W3CDTF">2026-08-03T23:05:23Z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