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heme/theme2.xml" ContentType="application/vnd.openxmlformats-officedocument.theme+xml"/>
  <Override PartName="/ppt/tags/tag7.xml" ContentType="application/vnd.openxmlformats-officedocument.presentationml.tags+xml"/>
  <Override PartName="/ppt/notesSlides/notesSlide1.xml" ContentType="application/vnd.openxmlformats-officedocument.presentationml.notesSlide+xml"/>
  <Override PartName="/ppt/tags/tag8.xml" ContentType="application/vnd.openxmlformats-officedocument.presentationml.tags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tags/tag9.xml" ContentType="application/vnd.openxmlformats-officedocument.presentationml.tags+xml"/>
  <Override PartName="/ppt/notesSlides/notesSlide2.xml" ContentType="application/vnd.openxmlformats-officedocument.presentationml.notesSlide+xml"/>
  <Override PartName="/ppt/tags/tag10.xml" ContentType="application/vnd.openxmlformats-officedocument.presentationml.tags+xml"/>
  <Override PartName="/ppt/notesSlides/notesSlide3.xml" ContentType="application/vnd.openxmlformats-officedocument.presentationml.notesSlide+xml"/>
  <Override PartName="/ppt/tags/tag11.xml" ContentType="application/vnd.openxmlformats-officedocument.presentationml.tags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tags/tag12.xml" ContentType="application/vnd.openxmlformats-officedocument.presentationml.tags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tags/tag13.xml" ContentType="application/vnd.openxmlformats-officedocument.presentationml.tags+xml"/>
  <Override PartName="/ppt/notesSlides/notesSlide12.xml" ContentType="application/vnd.openxmlformats-officedocument.presentationml.notesSlide+xml"/>
  <Override PartName="/ppt/tags/tag14.xml" ContentType="application/vnd.openxmlformats-officedocument.presentationml.tags+xml"/>
  <Override PartName="/ppt/notesSlides/notesSlide13.xml" ContentType="application/vnd.openxmlformats-officedocument.presentationml.notesSlide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</p:sldMasterIdLst>
  <p:notesMasterIdLst>
    <p:notesMasterId r:id="rId39"/>
  </p:notesMasterIdLst>
  <p:sldIdLst>
    <p:sldId id="256" r:id="rId5"/>
    <p:sldId id="288" r:id="rId6"/>
    <p:sldId id="258" r:id="rId7"/>
    <p:sldId id="259" r:id="rId8"/>
    <p:sldId id="260" r:id="rId9"/>
    <p:sldId id="297" r:id="rId10"/>
    <p:sldId id="303" r:id="rId11"/>
    <p:sldId id="302" r:id="rId12"/>
    <p:sldId id="300" r:id="rId13"/>
    <p:sldId id="301" r:id="rId14"/>
    <p:sldId id="299" r:id="rId15"/>
    <p:sldId id="298" r:id="rId16"/>
    <p:sldId id="289" r:id="rId17"/>
    <p:sldId id="293" r:id="rId18"/>
    <p:sldId id="261" r:id="rId19"/>
    <p:sldId id="278" r:id="rId20"/>
    <p:sldId id="283" r:id="rId21"/>
    <p:sldId id="277" r:id="rId22"/>
    <p:sldId id="284" r:id="rId23"/>
    <p:sldId id="285" r:id="rId24"/>
    <p:sldId id="286" r:id="rId25"/>
    <p:sldId id="281" r:id="rId26"/>
    <p:sldId id="280" r:id="rId27"/>
    <p:sldId id="287" r:id="rId28"/>
    <p:sldId id="263" r:id="rId29"/>
    <p:sldId id="264" r:id="rId30"/>
    <p:sldId id="291" r:id="rId31"/>
    <p:sldId id="290" r:id="rId32"/>
    <p:sldId id="292" r:id="rId33"/>
    <p:sldId id="295" r:id="rId34"/>
    <p:sldId id="282" r:id="rId35"/>
    <p:sldId id="266" r:id="rId36"/>
    <p:sldId id="273" r:id="rId37"/>
    <p:sldId id="296" r:id="rId38"/>
  </p:sldIdLst>
  <p:sldSz cx="12192000" cy="6858000"/>
  <p:notesSz cx="6858000" cy="1857375"/>
  <p:custDataLst>
    <p:tags r:id="rId40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ntitled Section" id="{A054FF21-EC98-4CE8-8061-B6A003B18E50}">
          <p14:sldIdLst>
            <p14:sldId id="256"/>
            <p14:sldId id="288"/>
            <p14:sldId id="258"/>
            <p14:sldId id="259"/>
            <p14:sldId id="260"/>
            <p14:sldId id="297"/>
            <p14:sldId id="303"/>
            <p14:sldId id="302"/>
            <p14:sldId id="300"/>
            <p14:sldId id="301"/>
            <p14:sldId id="299"/>
            <p14:sldId id="298"/>
            <p14:sldId id="289"/>
            <p14:sldId id="293"/>
            <p14:sldId id="261"/>
            <p14:sldId id="278"/>
            <p14:sldId id="283"/>
            <p14:sldId id="277"/>
            <p14:sldId id="284"/>
            <p14:sldId id="285"/>
            <p14:sldId id="286"/>
            <p14:sldId id="281"/>
            <p14:sldId id="280"/>
            <p14:sldId id="287"/>
            <p14:sldId id="263"/>
            <p14:sldId id="264"/>
            <p14:sldId id="291"/>
            <p14:sldId id="290"/>
            <p14:sldId id="292"/>
            <p14:sldId id="295"/>
            <p14:sldId id="282"/>
            <p14:sldId id="266"/>
            <p14:sldId id="273"/>
            <p14:sldId id="29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744" userDrawn="1">
          <p15:clr>
            <a:srgbClr val="A4A3A4"/>
          </p15:clr>
        </p15:guide>
        <p15:guide id="2" pos="28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BBD3AA52-0FB4-F6D0-6D07-1A3D2D9FD3FC}" name="Marianne Seidler" initials="MS" userId="S::mariannes@skillup.tech::bb0b4178-c940-4a9a-9c5e-e97bf5d50d86" providerId="AD"/>
  <p188:author id="{F554C3DC-94B8-9F7D-83FC-6D4CEC0DE845}" name="Dawn Teel-Friedman" initials="DTF" userId="Dawn Teel-Friedman" providerId="None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Rose Malcolm" initials="RM" lastIdx="1" clrIdx="0">
    <p:extLst>
      <p:ext uri="{19B8F6BF-5375-455C-9EA6-DF929625EA0E}">
        <p15:presenceInfo xmlns:p15="http://schemas.microsoft.com/office/powerpoint/2012/main" userId="Rose Malcolm" providerId="None"/>
      </p:ext>
    </p:extLst>
  </p:cmAuthor>
  <p:cmAuthor id="2" name="Rose Malcolm" initials="RM [2]" lastIdx="7" clrIdx="1">
    <p:extLst>
      <p:ext uri="{19B8F6BF-5375-455C-9EA6-DF929625EA0E}">
        <p15:presenceInfo xmlns:p15="http://schemas.microsoft.com/office/powerpoint/2012/main" userId="17c9fa32013483c0" providerId="Windows Live"/>
      </p:ext>
    </p:extLst>
  </p:cmAuthor>
  <p:cmAuthor id="3" name="Ramesh Sannareddy" initials="RS" lastIdx="7" clrIdx="2">
    <p:extLst>
      <p:ext uri="{19B8F6BF-5375-455C-9EA6-DF929625EA0E}">
        <p15:presenceInfo xmlns:p15="http://schemas.microsoft.com/office/powerpoint/2012/main" userId="YZ5PSXVD06EfD4/04RF+4IpszM4ZmL7FtUZDJf4jPLA=" providerId="None"/>
      </p:ext>
    </p:extLst>
  </p:cmAuthor>
  <p:cmAuthor id="4" name="UPKAR LIDDER" initials="UL" lastIdx="2" clrIdx="3"/>
  <p:cmAuthor id="5" name="Beth Larsen" initials="BL" lastIdx="1" clrIdx="4">
    <p:extLst>
      <p:ext uri="{19B8F6BF-5375-455C-9EA6-DF929625EA0E}">
        <p15:presenceInfo xmlns:p15="http://schemas.microsoft.com/office/powerpoint/2012/main" userId="04edb8684ac0beb8" providerId="Windows Live"/>
      </p:ext>
    </p:extLst>
  </p:cmAuthor>
  <p:cmAuthor id="6" name="Matt Ockenfels" initials="MO" lastIdx="1" clrIdx="5">
    <p:extLst>
      <p:ext uri="{19B8F6BF-5375-455C-9EA6-DF929625EA0E}">
        <p15:presenceInfo xmlns:p15="http://schemas.microsoft.com/office/powerpoint/2012/main" userId="S::matto@skillup.tech::1f5f8b86-5465-4302-9a82-9a36d055e8b7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2C3"/>
    <a:srgbClr val="FFFFFF"/>
    <a:srgbClr val="33B1FF"/>
    <a:srgbClr val="007D79"/>
    <a:srgbClr val="D02670"/>
    <a:srgbClr val="231F20"/>
    <a:srgbClr val="262626"/>
    <a:srgbClr val="525252"/>
    <a:srgbClr val="BE95FF"/>
    <a:srgbClr val="C1C7C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92" autoAdjust="0"/>
    <p:restoredTop sz="91480" autoAdjust="0"/>
  </p:normalViewPr>
  <p:slideViewPr>
    <p:cSldViewPr snapToGrid="0">
      <p:cViewPr varScale="1">
        <p:scale>
          <a:sx n="75" d="100"/>
          <a:sy n="75" d="100"/>
        </p:scale>
        <p:origin x="926" y="62"/>
      </p:cViewPr>
      <p:guideLst>
        <p:guide orient="horz" pos="744"/>
        <p:guide pos="28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presProps" Target="pres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tags" Target="tags/tag1.xml"/><Relationship Id="rId45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viewProps" Target="view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microsoft.com/office/2018/10/relationships/authors" Target="authors.xml"/><Relationship Id="rId20" Type="http://schemas.openxmlformats.org/officeDocument/2006/relationships/slide" Target="slides/slide16.xml"/><Relationship Id="rId41" Type="http://schemas.openxmlformats.org/officeDocument/2006/relationships/commentAuthors" Target="commentAuthor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88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0,'0'0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89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1,'0'0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0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0,'0'0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1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0,'6'0,"-4"6,-2 2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2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1,'0'0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3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1,'0'0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4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1,'0'0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5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1,'0'0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6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1 0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E497948-54D2-43F8-9A63-A99FE3051738}" type="datetimeFigureOut">
              <a:rPr lang="en-US" smtClean="0"/>
              <a:t>8/3/2026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r>
              <a:rPr lang="en-US" dirty="0"/>
              <a:t> </a:t>
            </a:r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BDA0E2-FEBD-4B65-8F16-724CF984F37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22222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52688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48398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820810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4705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9820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172281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737058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481792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667897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640361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337317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777206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29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202866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33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341973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34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29967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6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13873" y="1168401"/>
            <a:ext cx="10964254" cy="2387600"/>
          </a:xfrm>
          <a:solidFill>
            <a:schemeClr val="bg2"/>
          </a:solidFill>
        </p:spPr>
        <p:txBody>
          <a:bodyPr anchor="b">
            <a:normAutofit/>
          </a:bodyPr>
          <a:lstStyle>
            <a:lvl1pPr algn="ctr">
              <a:defRPr sz="4800" b="0" i="0">
                <a:solidFill>
                  <a:srgbClr val="525252"/>
                </a:solidFill>
                <a:latin typeface="IBM Plex Sans SemiBold" panose="020B0503050203000203" pitchFamily="34" charset="0"/>
                <a:ea typeface="IBM Plex Sans SemiBold" panose="020B0503050203000203" pitchFamily="34" charset="0"/>
                <a:cs typeface="IBM Plex Sans SemiBold" panose="020B050305020300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8273" y="3731247"/>
            <a:ext cx="9135454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 b="0" i="0">
                <a:solidFill>
                  <a:srgbClr val="525252"/>
                </a:solidFill>
                <a:latin typeface="IBM Plex Sans" panose="020B0503050203000203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cxnSp>
        <p:nvCxnSpPr>
          <p:cNvPr id="8" name="Straight Connector 7"/>
          <p:cNvCxnSpPr/>
          <p:nvPr/>
        </p:nvCxnSpPr>
        <p:spPr>
          <a:xfrm>
            <a:off x="2880360" y="3649111"/>
            <a:ext cx="6431280" cy="0"/>
          </a:xfrm>
          <a:prstGeom prst="line">
            <a:avLst/>
          </a:prstGeom>
          <a:ln>
            <a:solidFill>
              <a:srgbClr val="6C4DE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>
            <a:spLocks noChangeArrowheads="1"/>
          </p:cNvSpPr>
          <p:nvPr/>
        </p:nvSpPr>
        <p:spPr bwMode="black">
          <a:xfrm>
            <a:off x="4093580" y="5537419"/>
            <a:ext cx="4004840" cy="3043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/>
          <a:lstStyle>
            <a:lvl1pPr eaLnBrk="0" hangingPunct="0"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 eaLnBrk="1" hangingPunct="1"/>
            <a:r>
              <a:rPr lang="en-US" sz="1400" b="0" dirty="0">
                <a:solidFill>
                  <a:srgbClr val="000000"/>
                </a:solidFill>
                <a:latin typeface="Helv"/>
              </a:rPr>
              <a:t>© IBM Corporation. All rights reserved.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CB5BAB42-A6B6-D2DB-EC91-721CA287B900}"/>
              </a:ext>
            </a:extLst>
          </p:cNvPr>
          <p:cNvGrpSpPr/>
          <p:nvPr userDrawn="1"/>
        </p:nvGrpSpPr>
        <p:grpSpPr>
          <a:xfrm>
            <a:off x="11094856" y="6244940"/>
            <a:ext cx="1098532" cy="613059"/>
            <a:chOff x="8965342" y="4231217"/>
            <a:chExt cx="1608171" cy="897474"/>
          </a:xfrm>
        </p:grpSpPr>
        <p:pic>
          <p:nvPicPr>
            <p:cNvPr id="6" name="Graphic 5">
              <a:extLst>
                <a:ext uri="{FF2B5EF4-FFF2-40B4-BE49-F238E27FC236}">
                  <a16:creationId xmlns:a16="http://schemas.microsoft.com/office/drawing/2014/main" id="{D9DAF80D-4D83-4EA4-3B9A-B4DEAA21CF43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321121" y="4418033"/>
              <a:ext cx="897474" cy="355817"/>
            </a:xfrm>
            <a:prstGeom prst="rect">
              <a:avLst/>
            </a:prstGeom>
          </p:spPr>
        </p:pic>
        <p:pic>
          <p:nvPicPr>
            <p:cNvPr id="11" name="Graphic 10" hidden="1">
              <a:extLst>
                <a:ext uri="{FF2B5EF4-FFF2-40B4-BE49-F238E27FC236}">
                  <a16:creationId xmlns:a16="http://schemas.microsoft.com/office/drawing/2014/main" id="{AA1B3EED-0A38-9B4D-C031-B7CFB1F16CD2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9321121" y="4772874"/>
              <a:ext cx="897474" cy="355817"/>
            </a:xfrm>
            <a:prstGeom prst="rect">
              <a:avLst/>
            </a:prstGeom>
          </p:spPr>
        </p:pic>
        <p:pic>
          <p:nvPicPr>
            <p:cNvPr id="12" name="Graphic 11" hidden="1">
              <a:extLst>
                <a:ext uri="{FF2B5EF4-FFF2-40B4-BE49-F238E27FC236}">
                  <a16:creationId xmlns:a16="http://schemas.microsoft.com/office/drawing/2014/main" id="{D8BA40FF-052F-CEA2-8570-24062BFE0A7B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 rot="16200000">
              <a:off x="9946868" y="4502045"/>
              <a:ext cx="897474" cy="355817"/>
            </a:xfrm>
            <a:prstGeom prst="rect">
              <a:avLst/>
            </a:prstGeom>
          </p:spPr>
        </p:pic>
        <p:pic>
          <p:nvPicPr>
            <p:cNvPr id="13" name="Graphic 12" hidden="1">
              <a:extLst>
                <a:ext uri="{FF2B5EF4-FFF2-40B4-BE49-F238E27FC236}">
                  <a16:creationId xmlns:a16="http://schemas.microsoft.com/office/drawing/2014/main" id="{10305589-4F05-9658-71A7-2F6E7BFE9524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 rot="16200000">
              <a:off x="8694514" y="4502045"/>
              <a:ext cx="897474" cy="355817"/>
            </a:xfrm>
            <a:prstGeom prst="rect">
              <a:avLst/>
            </a:prstGeom>
          </p:spPr>
        </p:pic>
      </p:grpSp>
      <p:pic>
        <p:nvPicPr>
          <p:cNvPr id="14" name="Graphic 13">
            <a:extLst>
              <a:ext uri="{FF2B5EF4-FFF2-40B4-BE49-F238E27FC236}">
                <a16:creationId xmlns:a16="http://schemas.microsoft.com/office/drawing/2014/main" id="{EEFE9B80-1CD0-9614-4D99-C0FA5B74A8B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41053" y="6372101"/>
            <a:ext cx="1630680" cy="24765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7361523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52525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600199"/>
            <a:ext cx="10744200" cy="4572000"/>
          </a:xfrm>
        </p:spPr>
        <p:txBody>
          <a:bodyPr/>
          <a:lstStyle>
            <a:lvl1pPr>
              <a:defRPr>
                <a:solidFill>
                  <a:srgbClr val="262626"/>
                </a:solidFill>
              </a:defRPr>
            </a:lvl1pPr>
            <a:lvl2pPr>
              <a:defRPr>
                <a:solidFill>
                  <a:srgbClr val="262626"/>
                </a:solidFill>
              </a:defRPr>
            </a:lvl2pPr>
            <a:lvl3pPr>
              <a:defRPr>
                <a:solidFill>
                  <a:srgbClr val="262626"/>
                </a:solidFill>
              </a:defRPr>
            </a:lvl3pPr>
            <a:lvl4pPr>
              <a:defRPr>
                <a:solidFill>
                  <a:srgbClr val="262626"/>
                </a:solidFill>
              </a:defRPr>
            </a:lvl4pPr>
            <a:lvl5pPr>
              <a:defRPr>
                <a:solidFill>
                  <a:srgbClr val="262626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cxnSp>
        <p:nvCxnSpPr>
          <p:cNvPr id="7" name="Straight Connector 6"/>
          <p:cNvCxnSpPr/>
          <p:nvPr/>
        </p:nvCxnSpPr>
        <p:spPr>
          <a:xfrm>
            <a:off x="838200" y="1296645"/>
            <a:ext cx="10515600" cy="368"/>
          </a:xfrm>
          <a:prstGeom prst="line">
            <a:avLst/>
          </a:prstGeom>
          <a:ln>
            <a:solidFill>
              <a:srgbClr val="6C4DE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  <p:extLst>
      <p:ext uri="{BB962C8B-B14F-4D97-AF65-F5344CB8AC3E}">
        <p14:creationId xmlns:p14="http://schemas.microsoft.com/office/powerpoint/2010/main" val="1497029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 i="0">
                <a:solidFill>
                  <a:srgbClr val="525252"/>
                </a:solidFill>
                <a:latin typeface="IBM Plex Sans SemiBold" panose="020B050305020300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600200"/>
            <a:ext cx="5181600" cy="4572000"/>
          </a:xfrm>
        </p:spPr>
        <p:txBody>
          <a:bodyPr/>
          <a:lstStyle>
            <a:lvl1pPr>
              <a:defRPr>
                <a:solidFill>
                  <a:srgbClr val="262626"/>
                </a:solidFill>
              </a:defRPr>
            </a:lvl1pPr>
            <a:lvl2pPr>
              <a:defRPr>
                <a:solidFill>
                  <a:srgbClr val="262626"/>
                </a:solidFill>
              </a:defRPr>
            </a:lvl2pPr>
            <a:lvl3pPr>
              <a:defRPr>
                <a:solidFill>
                  <a:srgbClr val="262626"/>
                </a:solidFill>
              </a:defRPr>
            </a:lvl3pPr>
            <a:lvl4pPr>
              <a:defRPr>
                <a:solidFill>
                  <a:srgbClr val="525252"/>
                </a:solidFill>
              </a:defRPr>
            </a:lvl4pPr>
            <a:lvl5pPr>
              <a:defRPr>
                <a:solidFill>
                  <a:srgbClr val="52525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600200"/>
            <a:ext cx="5181600" cy="4572000"/>
          </a:xfrm>
        </p:spPr>
        <p:txBody>
          <a:bodyPr/>
          <a:lstStyle>
            <a:lvl1pPr>
              <a:defRPr>
                <a:solidFill>
                  <a:srgbClr val="262626"/>
                </a:solidFill>
              </a:defRPr>
            </a:lvl1pPr>
            <a:lvl2pPr>
              <a:defRPr>
                <a:solidFill>
                  <a:srgbClr val="262626"/>
                </a:solidFill>
              </a:defRPr>
            </a:lvl2pPr>
            <a:lvl3pPr>
              <a:defRPr>
                <a:solidFill>
                  <a:srgbClr val="262626"/>
                </a:solidFill>
              </a:defRPr>
            </a:lvl3pPr>
            <a:lvl4pPr>
              <a:defRPr>
                <a:solidFill>
                  <a:srgbClr val="525252"/>
                </a:solidFill>
              </a:defRPr>
            </a:lvl4pPr>
            <a:lvl5pPr>
              <a:defRPr>
                <a:solidFill>
                  <a:srgbClr val="52525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8713435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custDataLst>
      <p:tags r:id="rId1"/>
    </p:custDataLst>
    <p:extLst>
      <p:ext uri="{BB962C8B-B14F-4D97-AF65-F5344CB8AC3E}">
        <p14:creationId xmlns:p14="http://schemas.microsoft.com/office/powerpoint/2010/main" val="7934645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4800" b="1" i="0">
                <a:solidFill>
                  <a:srgbClr val="525252"/>
                </a:solidFill>
                <a:latin typeface="IBM Plex Sans SemiBold" panose="020B0503050203000203" pitchFamily="34" charset="0"/>
                <a:ea typeface="IBM Plex Sans SemiBold" panose="020B0503050203000203" pitchFamily="34" charset="0"/>
                <a:cs typeface="IBM Plex Sans SemiBold" panose="020B0503050203000203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1732707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2_Blank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572469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ags" Target="../tags/tag2.xml"/><Relationship Id="rId13" Type="http://schemas.openxmlformats.org/officeDocument/2006/relationships/image" Target="../media/image4.sv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12" Type="http://schemas.openxmlformats.org/officeDocument/2006/relationships/image" Target="../media/image3.sv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2.svg"/><Relationship Id="rId5" Type="http://schemas.openxmlformats.org/officeDocument/2006/relationships/slideLayout" Target="../slideLayouts/slideLayout5.xml"/><Relationship Id="rId10" Type="http://schemas.microsoft.com/office/2007/relationships/hdphoto" Target="../media/hdphoto1.wdp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47850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pic>
        <p:nvPicPr>
          <p:cNvPr id="12" name="Picture 11" descr="Text, logo&#10;&#10;Description automatically generated">
            <a:extLst>
              <a:ext uri="{FF2B5EF4-FFF2-40B4-BE49-F238E27FC236}">
                <a16:creationId xmlns:a16="http://schemas.microsoft.com/office/drawing/2014/main" id="{05161552-D656-B925-AB2F-4CA5F6FE727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9">
            <a:alphaModFix amt="5000"/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saturation sat="155000"/>
                    </a14:imgEffect>
                    <a14:imgEffect>
                      <a14:brightnessContrast contrast="-77000"/>
                    </a14:imgEffect>
                  </a14:imgLayer>
                </a14:imgProps>
              </a:ext>
            </a:extLst>
          </a:blip>
          <a:srcRect l="-1923" r="70315"/>
          <a:stretch/>
        </p:blipFill>
        <p:spPr>
          <a:xfrm>
            <a:off x="3345127" y="1418811"/>
            <a:ext cx="5501746" cy="482613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AE377BDD-6725-68B2-639C-E47C9B4601F2}"/>
              </a:ext>
            </a:extLst>
          </p:cNvPr>
          <p:cNvSpPr/>
          <p:nvPr userDrawn="1"/>
        </p:nvSpPr>
        <p:spPr>
          <a:xfrm>
            <a:off x="12625444" y="2728308"/>
            <a:ext cx="1235879" cy="1235878"/>
          </a:xfrm>
          <a:prstGeom prst="rect">
            <a:avLst/>
          </a:prstGeom>
          <a:solidFill>
            <a:srgbClr val="BE95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#BE95FF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8771CE0-19C9-5FCF-1B71-ACF36DEE6664}"/>
              </a:ext>
            </a:extLst>
          </p:cNvPr>
          <p:cNvSpPr/>
          <p:nvPr userDrawn="1"/>
        </p:nvSpPr>
        <p:spPr>
          <a:xfrm>
            <a:off x="18071881" y="2728308"/>
            <a:ext cx="1235879" cy="1235878"/>
          </a:xfrm>
          <a:prstGeom prst="rect">
            <a:avLst/>
          </a:prstGeom>
          <a:solidFill>
            <a:srgbClr val="33B1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#33B1FF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32A3F44-3AAC-9557-E214-F323108F6B65}"/>
              </a:ext>
            </a:extLst>
          </p:cNvPr>
          <p:cNvSpPr/>
          <p:nvPr userDrawn="1"/>
        </p:nvSpPr>
        <p:spPr>
          <a:xfrm>
            <a:off x="14440923" y="2728308"/>
            <a:ext cx="1235879" cy="1235878"/>
          </a:xfrm>
          <a:prstGeom prst="rect">
            <a:avLst/>
          </a:prstGeom>
          <a:solidFill>
            <a:srgbClr val="FF7EB6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#FF7EB6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6EA0613-E945-E437-C733-F9F008F63B76}"/>
              </a:ext>
            </a:extLst>
          </p:cNvPr>
          <p:cNvSpPr/>
          <p:nvPr userDrawn="1"/>
        </p:nvSpPr>
        <p:spPr>
          <a:xfrm>
            <a:off x="16256402" y="2728308"/>
            <a:ext cx="1235879" cy="1235878"/>
          </a:xfrm>
          <a:prstGeom prst="rect">
            <a:avLst/>
          </a:prstGeom>
          <a:solidFill>
            <a:srgbClr val="08BDBA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#08BDBA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0EC5687-C25A-A73E-5192-674F560F89FA}"/>
              </a:ext>
            </a:extLst>
          </p:cNvPr>
          <p:cNvSpPr txBox="1"/>
          <p:nvPr userDrawn="1"/>
        </p:nvSpPr>
        <p:spPr>
          <a:xfrm>
            <a:off x="12602453" y="3912427"/>
            <a:ext cx="1237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0" dirty="0">
                <a:solidFill>
                  <a:srgbClr val="FFFFFF"/>
                </a:solidFill>
                <a:effectLst/>
              </a:rPr>
              <a:t>Purple 40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31F4021-33FE-506B-3C0D-688FEF669647}"/>
              </a:ext>
            </a:extLst>
          </p:cNvPr>
          <p:cNvSpPr txBox="1"/>
          <p:nvPr userDrawn="1"/>
        </p:nvSpPr>
        <p:spPr>
          <a:xfrm>
            <a:off x="14334144" y="3912427"/>
            <a:ext cx="14494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Magenta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40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86B112C-C780-5B47-83AA-D580E668C866}"/>
              </a:ext>
            </a:extLst>
          </p:cNvPr>
          <p:cNvSpPr txBox="1"/>
          <p:nvPr userDrawn="1"/>
        </p:nvSpPr>
        <p:spPr>
          <a:xfrm>
            <a:off x="16404771" y="3912427"/>
            <a:ext cx="9663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Teal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40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92FC597-9201-21C6-383D-67750826F14D}"/>
              </a:ext>
            </a:extLst>
          </p:cNvPr>
          <p:cNvSpPr txBox="1"/>
          <p:nvPr userDrawn="1"/>
        </p:nvSpPr>
        <p:spPr>
          <a:xfrm>
            <a:off x="18206642" y="3912427"/>
            <a:ext cx="10550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Cyan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40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B4A6D56-917B-72D3-81F7-A59A36FC4198}"/>
              </a:ext>
            </a:extLst>
          </p:cNvPr>
          <p:cNvSpPr/>
          <p:nvPr userDrawn="1"/>
        </p:nvSpPr>
        <p:spPr>
          <a:xfrm>
            <a:off x="12625444" y="4418033"/>
            <a:ext cx="1235879" cy="1235878"/>
          </a:xfrm>
          <a:prstGeom prst="rect">
            <a:avLst/>
          </a:prstGeom>
          <a:solidFill>
            <a:srgbClr val="8A3FFC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#8A3FFC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9512372-0859-45E3-8DD7-AE730B4AFD19}"/>
              </a:ext>
            </a:extLst>
          </p:cNvPr>
          <p:cNvSpPr/>
          <p:nvPr userDrawn="1"/>
        </p:nvSpPr>
        <p:spPr>
          <a:xfrm>
            <a:off x="18071881" y="4418033"/>
            <a:ext cx="1235879" cy="1235878"/>
          </a:xfrm>
          <a:prstGeom prst="rect">
            <a:avLst/>
          </a:prstGeom>
          <a:solidFill>
            <a:srgbClr val="0072C3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#0072C3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4197D57-5F46-DB39-F81D-9205CC53189F}"/>
              </a:ext>
            </a:extLst>
          </p:cNvPr>
          <p:cNvSpPr/>
          <p:nvPr userDrawn="1"/>
        </p:nvSpPr>
        <p:spPr>
          <a:xfrm>
            <a:off x="14440923" y="4418033"/>
            <a:ext cx="1235879" cy="1235878"/>
          </a:xfrm>
          <a:prstGeom prst="rect">
            <a:avLst/>
          </a:prstGeom>
          <a:solidFill>
            <a:srgbClr val="D02670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#D02670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70AA9B1-D6E7-98E2-49EF-C98B6F0E7E2F}"/>
              </a:ext>
            </a:extLst>
          </p:cNvPr>
          <p:cNvSpPr/>
          <p:nvPr userDrawn="1"/>
        </p:nvSpPr>
        <p:spPr>
          <a:xfrm>
            <a:off x="16256402" y="4418033"/>
            <a:ext cx="1235879" cy="1235878"/>
          </a:xfrm>
          <a:prstGeom prst="rect">
            <a:avLst/>
          </a:prstGeom>
          <a:solidFill>
            <a:srgbClr val="007D79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#007D79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0A9DFA7-88D2-04F7-451C-7A2C388B178F}"/>
              </a:ext>
            </a:extLst>
          </p:cNvPr>
          <p:cNvSpPr txBox="1"/>
          <p:nvPr userDrawn="1"/>
        </p:nvSpPr>
        <p:spPr>
          <a:xfrm>
            <a:off x="12602453" y="5602152"/>
            <a:ext cx="1237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0" dirty="0">
                <a:solidFill>
                  <a:srgbClr val="FFFFFF"/>
                </a:solidFill>
                <a:effectLst/>
              </a:rPr>
              <a:t>Purple 60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2C98F8E-1DCD-3647-3613-DFFC7CDFF372}"/>
              </a:ext>
            </a:extLst>
          </p:cNvPr>
          <p:cNvSpPr txBox="1"/>
          <p:nvPr userDrawn="1"/>
        </p:nvSpPr>
        <p:spPr>
          <a:xfrm>
            <a:off x="14334144" y="5602152"/>
            <a:ext cx="14480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Magenta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60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29F1073-373D-249D-C1F2-A527EB0210C9}"/>
              </a:ext>
            </a:extLst>
          </p:cNvPr>
          <p:cNvSpPr txBox="1"/>
          <p:nvPr userDrawn="1"/>
        </p:nvSpPr>
        <p:spPr>
          <a:xfrm>
            <a:off x="16404771" y="5602152"/>
            <a:ext cx="9669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Teal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60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D12B31A-8903-A616-B756-B8695FC8F38A}"/>
              </a:ext>
            </a:extLst>
          </p:cNvPr>
          <p:cNvSpPr txBox="1"/>
          <p:nvPr userDrawn="1"/>
        </p:nvSpPr>
        <p:spPr>
          <a:xfrm>
            <a:off x="18206642" y="5602152"/>
            <a:ext cx="10550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Cyan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60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1892CDF-E500-AD18-C0DB-5405AF35ADE4}"/>
              </a:ext>
            </a:extLst>
          </p:cNvPr>
          <p:cNvSpPr/>
          <p:nvPr userDrawn="1"/>
        </p:nvSpPr>
        <p:spPr>
          <a:xfrm>
            <a:off x="19512379" y="2712316"/>
            <a:ext cx="1267863" cy="1267862"/>
          </a:xfrm>
          <a:prstGeom prst="rect">
            <a:avLst/>
          </a:prstGeom>
          <a:solidFill>
            <a:srgbClr val="121619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Icon</a:t>
            </a:r>
          </a:p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</a:t>
            </a:r>
            <a:r>
              <a:rPr lang="en-US" b="0" i="0" dirty="0">
                <a:solidFill>
                  <a:srgbClr val="FFFFFF"/>
                </a:solidFill>
                <a:effectLst/>
                <a:latin typeface="IBM Plex Mono" panose="020B0509050203000203" pitchFamily="49" charset="0"/>
              </a:rPr>
              <a:t>000000</a:t>
            </a:r>
            <a:endParaRPr lang="en-US" dirty="0">
              <a:solidFill>
                <a:schemeClr val="bg2"/>
              </a:solidFill>
              <a:latin typeface="IBM Plex Sans" panose="020B0503050203000203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ACF072D-B1FC-4829-B71E-556F57965D46}"/>
              </a:ext>
            </a:extLst>
          </p:cNvPr>
          <p:cNvSpPr/>
          <p:nvPr userDrawn="1"/>
        </p:nvSpPr>
        <p:spPr>
          <a:xfrm>
            <a:off x="19510690" y="4403963"/>
            <a:ext cx="1264019" cy="1264018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Icon</a:t>
            </a:r>
          </a:p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</a:t>
            </a:r>
            <a:r>
              <a:rPr lang="en-US" b="0" i="0" dirty="0">
                <a:solidFill>
                  <a:srgbClr val="262626"/>
                </a:solidFill>
                <a:effectLst/>
                <a:latin typeface="IBM Plex Mono" panose="020B0509050203000203" pitchFamily="49" charset="0"/>
              </a:rPr>
              <a:t>FFFFFF</a:t>
            </a:r>
            <a:endParaRPr lang="en-US" dirty="0">
              <a:solidFill>
                <a:srgbClr val="262626"/>
              </a:solidFill>
              <a:latin typeface="IBM Plex Sans" panose="020B0503050203000203" pitchFamily="34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98BBA60-CCFF-F95A-ECC9-46204EA2214B}"/>
              </a:ext>
            </a:extLst>
          </p:cNvPr>
          <p:cNvSpPr/>
          <p:nvPr userDrawn="1"/>
        </p:nvSpPr>
        <p:spPr>
          <a:xfrm>
            <a:off x="12625444" y="1072749"/>
            <a:ext cx="1235879" cy="1235878"/>
          </a:xfrm>
          <a:prstGeom prst="rect">
            <a:avLst/>
          </a:prstGeom>
          <a:solidFill>
            <a:srgbClr val="F6F2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#F6F2FF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3F05CFF-A449-FBB3-5F13-F7A72C2E43DE}"/>
              </a:ext>
            </a:extLst>
          </p:cNvPr>
          <p:cNvSpPr/>
          <p:nvPr userDrawn="1"/>
        </p:nvSpPr>
        <p:spPr>
          <a:xfrm>
            <a:off x="18071881" y="1072749"/>
            <a:ext cx="1235879" cy="1235878"/>
          </a:xfrm>
          <a:prstGeom prst="rect">
            <a:avLst/>
          </a:prstGeom>
          <a:solidFill>
            <a:srgbClr val="E5F6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#E5F6FF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4895BC4-B52A-2D00-62C1-71A44604BBB4}"/>
              </a:ext>
            </a:extLst>
          </p:cNvPr>
          <p:cNvSpPr/>
          <p:nvPr userDrawn="1"/>
        </p:nvSpPr>
        <p:spPr>
          <a:xfrm>
            <a:off x="14440923" y="1072749"/>
            <a:ext cx="1235879" cy="1235878"/>
          </a:xfrm>
          <a:prstGeom prst="rect">
            <a:avLst/>
          </a:prstGeom>
          <a:solidFill>
            <a:srgbClr val="FFF0F7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#FFF0F7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5B5B6C5-97CB-45FD-FDEC-1F5C2A0BDC3E}"/>
              </a:ext>
            </a:extLst>
          </p:cNvPr>
          <p:cNvSpPr/>
          <p:nvPr userDrawn="1"/>
        </p:nvSpPr>
        <p:spPr>
          <a:xfrm>
            <a:off x="16256402" y="1072749"/>
            <a:ext cx="1235879" cy="1235878"/>
          </a:xfrm>
          <a:prstGeom prst="rect">
            <a:avLst/>
          </a:prstGeom>
          <a:solidFill>
            <a:srgbClr val="D9FBFB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#D9FBFB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4DCC439-D448-E0FC-26EF-94C7A8B8D0DB}"/>
              </a:ext>
            </a:extLst>
          </p:cNvPr>
          <p:cNvSpPr txBox="1"/>
          <p:nvPr userDrawn="1"/>
        </p:nvSpPr>
        <p:spPr>
          <a:xfrm>
            <a:off x="12602453" y="2256868"/>
            <a:ext cx="1237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0" dirty="0">
                <a:solidFill>
                  <a:srgbClr val="FFFFFF"/>
                </a:solidFill>
                <a:effectLst/>
              </a:rPr>
              <a:t>Purple 10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04B7B48-2E66-50BA-96FE-D24C4E60BFD7}"/>
              </a:ext>
            </a:extLst>
          </p:cNvPr>
          <p:cNvSpPr txBox="1"/>
          <p:nvPr userDrawn="1"/>
        </p:nvSpPr>
        <p:spPr>
          <a:xfrm>
            <a:off x="14334144" y="2256868"/>
            <a:ext cx="14494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Magenta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10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7C767BF-EB72-86A2-DBA6-0D26C6C02894}"/>
              </a:ext>
            </a:extLst>
          </p:cNvPr>
          <p:cNvSpPr txBox="1"/>
          <p:nvPr userDrawn="1"/>
        </p:nvSpPr>
        <p:spPr>
          <a:xfrm>
            <a:off x="16404771" y="2256868"/>
            <a:ext cx="9663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Teal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10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FEDF829-6CB0-F03B-E025-85D510B4DC26}"/>
              </a:ext>
            </a:extLst>
          </p:cNvPr>
          <p:cNvSpPr txBox="1"/>
          <p:nvPr userDrawn="1"/>
        </p:nvSpPr>
        <p:spPr>
          <a:xfrm>
            <a:off x="18206642" y="2256868"/>
            <a:ext cx="10550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Cyan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10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FF97BF5-A64D-02F2-4B04-BC95CE39DF3F}"/>
              </a:ext>
            </a:extLst>
          </p:cNvPr>
          <p:cNvSpPr/>
          <p:nvPr userDrawn="1"/>
        </p:nvSpPr>
        <p:spPr>
          <a:xfrm>
            <a:off x="16222135" y="-2341897"/>
            <a:ext cx="1267863" cy="1267862"/>
          </a:xfrm>
          <a:prstGeom prst="rect">
            <a:avLst/>
          </a:prstGeom>
          <a:solidFill>
            <a:srgbClr val="C1C7CD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Text BG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#C1C7CD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3738F9B-27C5-3C49-8FD7-0731EE9AC3BF}"/>
              </a:ext>
            </a:extLst>
          </p:cNvPr>
          <p:cNvSpPr/>
          <p:nvPr userDrawn="1"/>
        </p:nvSpPr>
        <p:spPr>
          <a:xfrm>
            <a:off x="16222135" y="-801901"/>
            <a:ext cx="1267863" cy="1267862"/>
          </a:xfrm>
          <a:prstGeom prst="rect">
            <a:avLst/>
          </a:prstGeom>
          <a:solidFill>
            <a:srgbClr val="F2F4F8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Text BG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#F2F4F8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A7194F16-D83C-3057-9151-A884EA8F0931}"/>
              </a:ext>
            </a:extLst>
          </p:cNvPr>
          <p:cNvSpPr/>
          <p:nvPr userDrawn="1"/>
        </p:nvSpPr>
        <p:spPr>
          <a:xfrm>
            <a:off x="14397282" y="-2352139"/>
            <a:ext cx="1267863" cy="1267862"/>
          </a:xfrm>
          <a:prstGeom prst="rect">
            <a:avLst/>
          </a:prstGeom>
          <a:solidFill>
            <a:srgbClr val="BE95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Text BG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#BE95FF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0C7A661-0FF9-B849-2771-84AA24CF5EFF}"/>
              </a:ext>
            </a:extLst>
          </p:cNvPr>
          <p:cNvSpPr/>
          <p:nvPr userDrawn="1"/>
        </p:nvSpPr>
        <p:spPr>
          <a:xfrm>
            <a:off x="14397282" y="-812143"/>
            <a:ext cx="1267863" cy="1267862"/>
          </a:xfrm>
          <a:prstGeom prst="rect">
            <a:avLst/>
          </a:prstGeom>
          <a:solidFill>
            <a:srgbClr val="33B1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Text BG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#33B1FF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84675A9-3F9A-460D-D8D6-C5D9516859D4}"/>
              </a:ext>
            </a:extLst>
          </p:cNvPr>
          <p:cNvSpPr/>
          <p:nvPr userDrawn="1"/>
        </p:nvSpPr>
        <p:spPr>
          <a:xfrm>
            <a:off x="12572429" y="-2309174"/>
            <a:ext cx="1267863" cy="1267862"/>
          </a:xfrm>
          <a:prstGeom prst="rect">
            <a:avLst/>
          </a:prstGeom>
          <a:solidFill>
            <a:srgbClr val="08BDBA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Text BG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#08BDBA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FD8C7787-7D0E-ED5D-DB99-53C4B52AA8F2}"/>
              </a:ext>
            </a:extLst>
          </p:cNvPr>
          <p:cNvSpPr/>
          <p:nvPr userDrawn="1"/>
        </p:nvSpPr>
        <p:spPr>
          <a:xfrm>
            <a:off x="12572429" y="-769178"/>
            <a:ext cx="1267863" cy="1267862"/>
          </a:xfrm>
          <a:prstGeom prst="rect">
            <a:avLst/>
          </a:prstGeom>
          <a:solidFill>
            <a:srgbClr val="78A9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Text BG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#78A9FF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20CCBF62-5F94-E366-51BD-6C8DCBF90955}"/>
              </a:ext>
            </a:extLst>
          </p:cNvPr>
          <p:cNvSpPr/>
          <p:nvPr userDrawn="1"/>
        </p:nvSpPr>
        <p:spPr>
          <a:xfrm>
            <a:off x="17993876" y="-2309174"/>
            <a:ext cx="1267863" cy="1267862"/>
          </a:xfrm>
          <a:prstGeom prst="rect">
            <a:avLst/>
          </a:prstGeom>
          <a:solidFill>
            <a:srgbClr val="525252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Labels</a:t>
            </a:r>
          </a:p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#525252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E5880850-0EBA-AD14-E6FD-BB1DC94F3DA5}"/>
              </a:ext>
            </a:extLst>
          </p:cNvPr>
          <p:cNvSpPr/>
          <p:nvPr userDrawn="1"/>
        </p:nvSpPr>
        <p:spPr>
          <a:xfrm>
            <a:off x="17993875" y="-812143"/>
            <a:ext cx="1267863" cy="1267862"/>
          </a:xfrm>
          <a:prstGeom prst="rect">
            <a:avLst/>
          </a:prstGeom>
          <a:solidFill>
            <a:srgbClr val="262626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Text</a:t>
            </a:r>
          </a:p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#262626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56209ACE-A4F7-EAC9-E98F-D141BE77F994}"/>
              </a:ext>
            </a:extLst>
          </p:cNvPr>
          <p:cNvGrpSpPr/>
          <p:nvPr userDrawn="1"/>
        </p:nvGrpSpPr>
        <p:grpSpPr>
          <a:xfrm>
            <a:off x="11094856" y="6244940"/>
            <a:ext cx="1098532" cy="613059"/>
            <a:chOff x="8965342" y="4231217"/>
            <a:chExt cx="1608171" cy="897474"/>
          </a:xfrm>
        </p:grpSpPr>
        <p:pic>
          <p:nvPicPr>
            <p:cNvPr id="60" name="Graphic 59">
              <a:extLst>
                <a:ext uri="{FF2B5EF4-FFF2-40B4-BE49-F238E27FC236}">
                  <a16:creationId xmlns:a16="http://schemas.microsoft.com/office/drawing/2014/main" id="{EFEE4105-67FB-F40B-E7BD-8C9B80C32F89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9321121" y="4418033"/>
              <a:ext cx="897474" cy="355817"/>
            </a:xfrm>
            <a:prstGeom prst="rect">
              <a:avLst/>
            </a:prstGeom>
          </p:spPr>
        </p:pic>
        <p:pic>
          <p:nvPicPr>
            <p:cNvPr id="61" name="Graphic 60" hidden="1">
              <a:extLst>
                <a:ext uri="{FF2B5EF4-FFF2-40B4-BE49-F238E27FC236}">
                  <a16:creationId xmlns:a16="http://schemas.microsoft.com/office/drawing/2014/main" id="{9AB2407C-B3E2-DCDD-0692-DD32E3C45227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9321121" y="4772874"/>
              <a:ext cx="897474" cy="355817"/>
            </a:xfrm>
            <a:prstGeom prst="rect">
              <a:avLst/>
            </a:prstGeom>
          </p:spPr>
        </p:pic>
        <p:pic>
          <p:nvPicPr>
            <p:cNvPr id="62" name="Graphic 61" hidden="1">
              <a:extLst>
                <a:ext uri="{FF2B5EF4-FFF2-40B4-BE49-F238E27FC236}">
                  <a16:creationId xmlns:a16="http://schemas.microsoft.com/office/drawing/2014/main" id="{9128FFA9-E729-6051-FE44-5C57854D2B9B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 rot="16200000">
              <a:off x="9946868" y="4502045"/>
              <a:ext cx="897474" cy="355817"/>
            </a:xfrm>
            <a:prstGeom prst="rect">
              <a:avLst/>
            </a:prstGeom>
          </p:spPr>
        </p:pic>
        <p:pic>
          <p:nvPicPr>
            <p:cNvPr id="63" name="Graphic 62" hidden="1">
              <a:extLst>
                <a:ext uri="{FF2B5EF4-FFF2-40B4-BE49-F238E27FC236}">
                  <a16:creationId xmlns:a16="http://schemas.microsoft.com/office/drawing/2014/main" id="{21D1BE07-55D7-FEB6-D90F-FC214DFBDA4C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 rot="16200000">
              <a:off x="8694514" y="4502045"/>
              <a:ext cx="897474" cy="355817"/>
            </a:xfrm>
            <a:prstGeom prst="rect">
              <a:avLst/>
            </a:prstGeom>
          </p:spPr>
        </p:pic>
      </p:grpSp>
      <p:pic>
        <p:nvPicPr>
          <p:cNvPr id="66" name="Graphic 65">
            <a:extLst>
              <a:ext uri="{FF2B5EF4-FFF2-40B4-BE49-F238E27FC236}">
                <a16:creationId xmlns:a16="http://schemas.microsoft.com/office/drawing/2014/main" id="{FD0E63E5-36ED-0A5F-F2A0-E31AD11555E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41053" y="6372101"/>
            <a:ext cx="1630680" cy="247650"/>
          </a:xfrm>
          <a:prstGeom prst="rect">
            <a:avLst/>
          </a:prstGeom>
        </p:spPr>
      </p:pic>
      <p:sp>
        <p:nvSpPr>
          <p:cNvPr id="67" name="Rectangle 66" hidden="1">
            <a:extLst>
              <a:ext uri="{FF2B5EF4-FFF2-40B4-BE49-F238E27FC236}">
                <a16:creationId xmlns:a16="http://schemas.microsoft.com/office/drawing/2014/main" id="{04EE5960-43EB-4B14-0782-2876BE85A607}"/>
              </a:ext>
            </a:extLst>
          </p:cNvPr>
          <p:cNvSpPr/>
          <p:nvPr userDrawn="1"/>
        </p:nvSpPr>
        <p:spPr>
          <a:xfrm>
            <a:off x="-76201" y="6356350"/>
            <a:ext cx="12353925" cy="276797"/>
          </a:xfrm>
          <a:prstGeom prst="rect">
            <a:avLst/>
          </a:prstGeom>
          <a:noFill/>
          <a:ln w="28575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custDataLst>
      <p:tags r:id="rId8"/>
    </p:custDataLst>
    <p:extLst>
      <p:ext uri="{BB962C8B-B14F-4D97-AF65-F5344CB8AC3E}">
        <p14:creationId xmlns:p14="http://schemas.microsoft.com/office/powerpoint/2010/main" val="12704429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4" r:id="rId3"/>
    <p:sldLayoutId id="2147483666" r:id="rId4"/>
    <p:sldLayoutId id="2147483667" r:id="rId5"/>
    <p:sldLayoutId id="2147483673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i="0" kern="1200">
          <a:solidFill>
            <a:srgbClr val="525252"/>
          </a:solidFill>
          <a:latin typeface="IBM Plex Sans SemiBold" panose="020B0503050203000203" pitchFamily="34" charset="0"/>
          <a:ea typeface="IBM Plex Sans SemiBold" panose="020B0503050203000203" pitchFamily="34" charset="0"/>
          <a:cs typeface="IBM Plex Sans SemiBold" panose="020B0503050203000203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rgbClr val="262626"/>
          </a:solidFill>
          <a:latin typeface="IBM Plex Sans" panose="020B0503050203000203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rgbClr val="262626"/>
          </a:solidFill>
          <a:latin typeface="IBM Plex Sans" panose="020B0503050203000203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rgbClr val="262626"/>
          </a:solidFill>
          <a:latin typeface="IBM Plex Sans" panose="020B0503050203000203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rgbClr val="262626"/>
          </a:solidFill>
          <a:latin typeface="IBM Plex Sans" panose="020B0503050203000203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rgbClr val="262626"/>
          </a:solidFill>
          <a:latin typeface="IBM Plex Sans" panose="020B0503050203000203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7.xml"/><Relationship Id="rId5" Type="http://schemas.openxmlformats.org/officeDocument/2006/relationships/hyperlink" Target="https://github.com/Satish-KumarRam/IBM-Data-Science-Capstone-Project" TargetMode="External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customXml" Target="../ink/ink4.xml"/><Relationship Id="rId13" Type="http://schemas.openxmlformats.org/officeDocument/2006/relationships/customXml" Target="../ink/ink8.xml"/><Relationship Id="rId3" Type="http://schemas.openxmlformats.org/officeDocument/2006/relationships/customXml" Target="../ink/ink1.xml"/><Relationship Id="rId7" Type="http://schemas.openxmlformats.org/officeDocument/2006/relationships/customXml" Target="../ink/ink3.xml"/><Relationship Id="rId12" Type="http://schemas.openxmlformats.org/officeDocument/2006/relationships/customXml" Target="../ink/ink7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8.xml"/><Relationship Id="rId6" Type="http://schemas.openxmlformats.org/officeDocument/2006/relationships/customXml" Target="../ink/ink2.xml"/><Relationship Id="rId11" Type="http://schemas.openxmlformats.org/officeDocument/2006/relationships/customXml" Target="../ink/ink6.xml"/><Relationship Id="rId5" Type="http://schemas.openxmlformats.org/officeDocument/2006/relationships/image" Target="../media/image70.png"/><Relationship Id="rId10" Type="http://schemas.openxmlformats.org/officeDocument/2006/relationships/customXml" Target="../ink/ink5.xml"/><Relationship Id="rId9" Type="http://schemas.openxmlformats.org/officeDocument/2006/relationships/image" Target="../media/image80.png"/><Relationship Id="rId14" Type="http://schemas.openxmlformats.org/officeDocument/2006/relationships/customXml" Target="../ink/ink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9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0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tags" Target="../tags/tag1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tish-KumarRam/IBM-Data-Science-Capstone-Project" TargetMode="Externa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github.com/Satish-KumarRam/IBM-Data-Science-Capstone-Project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github.com/Satish-KumarRam/IBM-Data-Science-Capstone-Project" TargetMode="Externa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Satish-KumarRam/IBM-Data-Science-Capstone-Project" TargetMode="Externa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Satish-KumarRam/IBM-Data-Science-Capstone-Project" TargetMode="Externa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Satish-KumarRam/IBM-Data-Science-Capstone-Project" TargetMode="Externa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2.xml"/><Relationship Id="rId4" Type="http://schemas.openxmlformats.org/officeDocument/2006/relationships/hyperlink" Target="https://github.com/Satish-KumarRam/IBM-Data-Science-Capstone-Project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github.com/Satish-KumarRam/IBM-Data-Science-Capstone-Project" TargetMode="Externa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tish-KumarRam/IBM-Data-Science-Capstone-Project" TargetMode="Externa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tish-KumarRam/IBM-Data-Science-Capstone-Project" TargetMode="External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tish-KumarRam/IBM-Data-Science-Capstone-Project" TargetMode="External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tish-KumarRam/IBM-Data-Science-Capstone-Project" TargetMode="External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tish-KumarRam/IBM-Data-Science-Capstone-Project/upload/main" TargetMode="Externa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5.xml"/><Relationship Id="rId5" Type="http://schemas.openxmlformats.org/officeDocument/2006/relationships/image" Target="../media/image26.png"/><Relationship Id="rId4" Type="http://schemas.openxmlformats.org/officeDocument/2006/relationships/hyperlink" Target="https://github.com/Satish-KumarRam/IBM-Data-Science-Capstone-Project" TargetMode="Externa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6.xml"/><Relationship Id="rId5" Type="http://schemas.openxmlformats.org/officeDocument/2006/relationships/hyperlink" Target="https://github.com/Satish-KumarRam/IBM-Data-Science-Capstone-Project" TargetMode="External"/><Relationship Id="rId4" Type="http://schemas.openxmlformats.org/officeDocument/2006/relationships/image" Target="../media/image27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0D5631-0297-E86E-7069-C969B141FD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" y="233681"/>
            <a:ext cx="7184720" cy="1777999"/>
          </a:xfrm>
          <a:noFill/>
        </p:spPr>
        <p:txBody>
          <a:bodyPr>
            <a:normAutofit fontScale="90000"/>
          </a:bodyPr>
          <a:lstStyle/>
          <a:p>
            <a:r>
              <a:rPr lang="en-IN" dirty="0"/>
              <a:t>SpaceX Falcon 9 First Stage Landing Prediction</a:t>
            </a:r>
            <a:endParaRPr lang="en-US" sz="1600" dirty="0">
              <a:solidFill>
                <a:srgbClr val="0072C3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9DF6B8D-2BAC-11F8-7D28-B631D08C8D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3731247"/>
            <a:ext cx="7074692" cy="840753"/>
          </a:xfrm>
          <a:noFill/>
        </p:spPr>
        <p:txBody>
          <a:bodyPr>
            <a:noAutofit/>
          </a:bodyPr>
          <a:lstStyle/>
          <a:p>
            <a:r>
              <a:rPr lang="en-IN" b="1" dirty="0"/>
              <a:t>IBM Data Science Professional Certificate</a:t>
            </a:r>
            <a:br>
              <a:rPr lang="en-IN" dirty="0"/>
            </a:br>
            <a:r>
              <a:rPr lang="en-IN" b="1" dirty="0"/>
              <a:t>Capstone Project</a:t>
            </a:r>
          </a:p>
          <a:p>
            <a:endParaRPr lang="en-IN" b="1" dirty="0"/>
          </a:p>
          <a:p>
            <a:r>
              <a:rPr lang="en-IN" b="1" dirty="0"/>
              <a:t>Satish Kumar Ram</a:t>
            </a:r>
          </a:p>
          <a:p>
            <a:pPr algn="l"/>
            <a:r>
              <a:rPr lang="en-IN" sz="1800" b="1" dirty="0"/>
              <a:t>                                             3 August 2026        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7323E2C-8982-861D-BE1D-3E30E5CC43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84719" y="387350"/>
            <a:ext cx="4794861" cy="4351338"/>
          </a:xfrm>
          <a:prstGeom prst="rect">
            <a:avLst/>
          </a:prstGeom>
          <a:noFill/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9E19822-A94B-3390-47E6-908CD50533E4}"/>
              </a:ext>
            </a:extLst>
          </p:cNvPr>
          <p:cNvSpPr txBox="1"/>
          <p:nvPr/>
        </p:nvSpPr>
        <p:spPr>
          <a:xfrm>
            <a:off x="489857" y="2329538"/>
            <a:ext cx="619397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b="1" dirty="0"/>
              <a:t>GitHub Repository:</a:t>
            </a:r>
          </a:p>
          <a:p>
            <a:pPr algn="ctr"/>
            <a:endParaRPr lang="en-IN" sz="1600" b="1" dirty="0"/>
          </a:p>
          <a:p>
            <a:pPr algn="ctr"/>
            <a:r>
              <a:rPr lang="en-IN" sz="1600" dirty="0"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IN" sz="1600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0097309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4DA0D6-819E-F3F9-D97B-1AA14A037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24210998-3D1A-F46C-CC36-CAEAA08DE009}"/>
              </a:ext>
            </a:extLst>
          </p:cNvPr>
          <p:cNvSpPr txBox="1">
            <a:spLocks/>
          </p:cNvSpPr>
          <p:nvPr/>
        </p:nvSpPr>
        <p:spPr>
          <a:xfrm>
            <a:off x="782054" y="263810"/>
            <a:ext cx="8508528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i="0" kern="1200">
                <a:solidFill>
                  <a:srgbClr val="525252"/>
                </a:solidFill>
                <a:latin typeface="IBM Plex Sans SemiBold" panose="020B0503050203000203" pitchFamily="34" charset="0"/>
                <a:ea typeface="IBM Plex Sans SemiBold" panose="020B0503050203000203" pitchFamily="34" charset="0"/>
                <a:cs typeface="IBM Plex Sans SemiBold" panose="020B0503050203000203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26D78DA1-C8CA-F9E4-D103-A5E66840A01B}"/>
              </a:ext>
            </a:extLst>
          </p:cNvPr>
          <p:cNvSpPr txBox="1">
            <a:spLocks/>
          </p:cNvSpPr>
          <p:nvPr/>
        </p:nvSpPr>
        <p:spPr>
          <a:xfrm>
            <a:off x="6172199" y="1589373"/>
            <a:ext cx="4833257" cy="3189456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None/>
            </a:pPr>
            <a:endParaRPr lang="en-IN" sz="3200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C1EDC8C2-155F-326D-23AD-3F500CBED7C9}"/>
                  </a:ext>
                </a:extLst>
              </p14:cNvPr>
              <p14:cNvContentPartPr/>
              <p14:nvPr/>
            </p14:nvContentPartPr>
            <p14:xfrm>
              <a:off x="1889280" y="999312"/>
              <a:ext cx="360" cy="36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C1EDC8C2-155F-326D-23AD-3F500CBED7C9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799280" y="81931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9B7D0E6D-458F-0320-7899-AE28CBCECC8C}"/>
                  </a:ext>
                </a:extLst>
              </p14:cNvPr>
              <p14:cNvContentPartPr/>
              <p14:nvPr/>
            </p14:nvContentPartPr>
            <p14:xfrm>
              <a:off x="5800663" y="3934752"/>
              <a:ext cx="360" cy="36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9B7D0E6D-458F-0320-7899-AE28CBCECC8C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710663" y="375475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A8FE6AC8-A31C-192A-7181-A0CECA6640F2}"/>
                  </a:ext>
                </a:extLst>
              </p14:cNvPr>
              <p14:cNvContentPartPr/>
              <p14:nvPr/>
            </p14:nvContentPartPr>
            <p14:xfrm>
              <a:off x="2828160" y="926232"/>
              <a:ext cx="360" cy="36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A8FE6AC8-A31C-192A-7181-A0CECA6640F2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738160" y="74623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0E42D43A-0AE2-5ED9-8FE7-2979BB31236D}"/>
                  </a:ext>
                </a:extLst>
              </p14:cNvPr>
              <p14:cNvContentPartPr/>
              <p14:nvPr/>
            </p14:nvContentPartPr>
            <p14:xfrm>
              <a:off x="2828160" y="926232"/>
              <a:ext cx="3240" cy="504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0E42D43A-0AE2-5ED9-8FE7-2979BB31236D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738160" y="758232"/>
                <a:ext cx="182880" cy="34070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9E8E173D-FA9F-7974-17F8-D5B5927D770B}"/>
                  </a:ext>
                </a:extLst>
              </p14:cNvPr>
              <p14:cNvContentPartPr/>
              <p14:nvPr/>
            </p14:nvContentPartPr>
            <p14:xfrm>
              <a:off x="7266240" y="2888952"/>
              <a:ext cx="360" cy="36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9E8E173D-FA9F-7974-17F8-D5B5927D770B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176240" y="270895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9DCE78E9-CD74-62ED-AEDD-33AB71C9F18E}"/>
                  </a:ext>
                </a:extLst>
              </p14:cNvPr>
              <p14:cNvContentPartPr/>
              <p14:nvPr/>
            </p14:nvContentPartPr>
            <p14:xfrm>
              <a:off x="7266240" y="2888952"/>
              <a:ext cx="360" cy="36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9DCE78E9-CD74-62ED-AEDD-33AB71C9F18E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176240" y="270895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7AC18E88-CC96-F7E6-35A5-95EC54BE6C04}"/>
                  </a:ext>
                </a:extLst>
              </p14:cNvPr>
              <p14:cNvContentPartPr/>
              <p14:nvPr/>
            </p14:nvContentPartPr>
            <p14:xfrm>
              <a:off x="7266240" y="2888952"/>
              <a:ext cx="360" cy="36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7AC18E88-CC96-F7E6-35A5-95EC54BE6C04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176240" y="270895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D6A6BB95-5359-DAB7-2E6F-A6E9AD13A615}"/>
                  </a:ext>
                </a:extLst>
              </p14:cNvPr>
              <p14:cNvContentPartPr/>
              <p14:nvPr/>
            </p14:nvContentPartPr>
            <p14:xfrm>
              <a:off x="7266240" y="2888952"/>
              <a:ext cx="360" cy="36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D6A6BB95-5359-DAB7-2E6F-A6E9AD13A615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176240" y="270895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8F09FAE4-E92D-B550-69F3-335FB31E7656}"/>
                  </a:ext>
                </a:extLst>
              </p14:cNvPr>
              <p14:cNvContentPartPr/>
              <p14:nvPr/>
            </p14:nvContentPartPr>
            <p14:xfrm>
              <a:off x="6680880" y="2877072"/>
              <a:ext cx="360" cy="36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8F09FAE4-E92D-B550-69F3-335FB31E7656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590880" y="2697072"/>
                <a:ext cx="180000" cy="360000"/>
              </a:xfrm>
              <a:prstGeom prst="rect">
                <a:avLst/>
              </a:prstGeom>
            </p:spPr>
          </p:pic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BF9AA929-A325-F4BA-690A-0FE40911FB85}"/>
              </a:ext>
            </a:extLst>
          </p:cNvPr>
          <p:cNvSpPr txBox="1"/>
          <p:nvPr/>
        </p:nvSpPr>
        <p:spPr>
          <a:xfrm>
            <a:off x="859971" y="489680"/>
            <a:ext cx="337457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525252"/>
                </a:solidFill>
                <a:latin typeface="IBM Plex Sans SemiBold" panose="020B0503050203000203" pitchFamily="34" charset="0"/>
              </a:rPr>
              <a:t>Outline</a:t>
            </a:r>
            <a:endParaRPr lang="en-IN" sz="4000" b="1" dirty="0">
              <a:solidFill>
                <a:srgbClr val="525252"/>
              </a:solidFill>
              <a:latin typeface="IBM Plex Sans SemiBold" panose="020B050305020300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3C92ADE-DA61-C50A-02E8-5E658C03AFD5}"/>
              </a:ext>
            </a:extLst>
          </p:cNvPr>
          <p:cNvSpPr txBox="1"/>
          <p:nvPr/>
        </p:nvSpPr>
        <p:spPr>
          <a:xfrm>
            <a:off x="782054" y="1589373"/>
            <a:ext cx="5649197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/>
              <a:t>Executive Summary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/>
              <a:t>Introduction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/>
              <a:t>Methodology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/>
              <a:t>Results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/>
              <a:t>Conclusion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/>
              <a:t>Appendix</a:t>
            </a:r>
            <a:endParaRPr lang="en-IN" sz="3200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7079395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E48DC5-8A48-2A34-31B9-FC8CB168CA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614" y="73573"/>
            <a:ext cx="11960772" cy="935730"/>
          </a:xfrm>
        </p:spPr>
        <p:txBody>
          <a:bodyPr anchor="ctr">
            <a:normAutofit/>
          </a:bodyPr>
          <a:lstStyle/>
          <a:p>
            <a:r>
              <a:rPr lang="en-US" dirty="0"/>
              <a:t>Executive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B44109-938A-7A63-C3A8-FDDB5C799EA5}"/>
              </a:ext>
            </a:extLst>
          </p:cNvPr>
          <p:cNvSpPr txBox="1">
            <a:spLocks/>
          </p:cNvSpPr>
          <p:nvPr/>
        </p:nvSpPr>
        <p:spPr>
          <a:xfrm>
            <a:off x="0" y="756746"/>
            <a:ext cx="12192001" cy="545486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1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49B7B3B-8652-5980-CA50-B93EB13E927F}"/>
              </a:ext>
            </a:extLst>
          </p:cNvPr>
          <p:cNvSpPr txBox="1"/>
          <p:nvPr/>
        </p:nvSpPr>
        <p:spPr>
          <a:xfrm>
            <a:off x="189186" y="1040524"/>
            <a:ext cx="11887200" cy="51398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Objective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IN" sz="2000" dirty="0"/>
              <a:t>Predict Falcon 9 first-stage landing success using historical launch data and machine learning.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Summary of Methodology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IN" sz="2000" dirty="0"/>
              <a:t>Data Collection through </a:t>
            </a:r>
            <a:r>
              <a:rPr lang="en-IN" sz="2000" b="1" dirty="0"/>
              <a:t>SpaceX REST API</a:t>
            </a:r>
            <a:r>
              <a:rPr lang="en-IN" sz="2000" dirty="0"/>
              <a:t>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IN" sz="2000" dirty="0"/>
              <a:t>Data Collection using </a:t>
            </a:r>
            <a:r>
              <a:rPr lang="en-IN" sz="2000" b="1" dirty="0"/>
              <a:t>Wikipedia Web Scraping</a:t>
            </a:r>
            <a:r>
              <a:rPr lang="en-IN" sz="2000" dirty="0"/>
              <a:t>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IN" sz="2000" dirty="0"/>
              <a:t>Data Wrangling and Feature Engineering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IN" sz="2000" dirty="0"/>
              <a:t>Exploratory Data Analysis using </a:t>
            </a:r>
            <a:r>
              <a:rPr lang="en-IN" sz="2000" b="1" dirty="0"/>
              <a:t>SQL</a:t>
            </a:r>
            <a:r>
              <a:rPr lang="en-IN" sz="2000" dirty="0"/>
              <a:t> and </a:t>
            </a:r>
            <a:r>
              <a:rPr lang="en-IN" sz="2000" b="1" dirty="0"/>
              <a:t>Python Visualizations</a:t>
            </a:r>
            <a:r>
              <a:rPr lang="en-IN" sz="2000" dirty="0"/>
              <a:t>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IN" sz="2000" dirty="0"/>
              <a:t>Interactive Visual Analytics using </a:t>
            </a:r>
            <a:r>
              <a:rPr lang="en-IN" sz="2000" b="1" dirty="0"/>
              <a:t>Folium</a:t>
            </a:r>
            <a:r>
              <a:rPr lang="en-IN" sz="2000" dirty="0"/>
              <a:t> and </a:t>
            </a:r>
            <a:r>
              <a:rPr lang="en-IN" sz="2000" b="1" dirty="0"/>
              <a:t>Plotly Dash</a:t>
            </a:r>
            <a:r>
              <a:rPr lang="en-IN" sz="2000" dirty="0"/>
              <a:t>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IN" sz="2000" dirty="0"/>
              <a:t>Predictive Analysis using </a:t>
            </a:r>
            <a:r>
              <a:rPr lang="en-IN" sz="2000" b="1" dirty="0"/>
              <a:t>Classification Models</a:t>
            </a:r>
            <a:r>
              <a:rPr lang="en-IN" sz="2000" dirty="0"/>
              <a:t>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Summary of Results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IN" sz="2000" dirty="0"/>
              <a:t>Landing success rate improved significantly over time.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IN" sz="2000" dirty="0"/>
              <a:t>Payload mass, orbit type, and launch site influenced landing success.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IN" sz="2000" dirty="0"/>
              <a:t>SQL and visualizations revealed important launch patterns.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IN" sz="2000" dirty="0"/>
              <a:t>Interactive dashboards provided deeper insights into launch data.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IN" sz="2000" dirty="0"/>
              <a:t>The best classification model achieved the highest prediction accuracy.</a:t>
            </a:r>
          </a:p>
          <a:p>
            <a:pPr lvl="0"/>
            <a:endParaRPr lang="en-IN" sz="1600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5553854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676FB0-8465-86A8-332A-32CC35A5D2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B7DC8D-244C-F7EC-5F66-ACB99A7D61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103" y="105104"/>
            <a:ext cx="11897711" cy="735724"/>
          </a:xfrm>
        </p:spPr>
        <p:txBody>
          <a:bodyPr anchor="ctr">
            <a:normAutofit/>
          </a:bodyPr>
          <a:lstStyle/>
          <a:p>
            <a:r>
              <a:rPr lang="en-US" dirty="0"/>
              <a:t>Introduction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D35578F-30C9-4905-FD4E-7366FEFAEA7F}"/>
              </a:ext>
            </a:extLst>
          </p:cNvPr>
          <p:cNvSpPr txBox="1">
            <a:spLocks/>
          </p:cNvSpPr>
          <p:nvPr/>
        </p:nvSpPr>
        <p:spPr>
          <a:xfrm>
            <a:off x="105103" y="840828"/>
            <a:ext cx="11719036" cy="550554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IN" sz="2000" b="1" dirty="0">
                <a:solidFill>
                  <a:schemeClr val="tx1"/>
                </a:solidFill>
              </a:rPr>
              <a:t>• </a:t>
            </a:r>
            <a:r>
              <a:rPr lang="en-IN" sz="2400" b="1" dirty="0">
                <a:solidFill>
                  <a:schemeClr val="tx1"/>
                </a:solidFill>
              </a:rPr>
              <a:t>Project Background and Context:</a:t>
            </a:r>
          </a:p>
          <a:p>
            <a:r>
              <a:rPr lang="en-IN" sz="2000" dirty="0">
                <a:solidFill>
                  <a:schemeClr val="tx1"/>
                </a:solidFill>
              </a:rPr>
              <a:t>SpaceX has significantly reduced the cost of space missions by successfully recovering and reusing Falcon 9 first-stage boosters. Traditional rocket launches are expensive because rockets are usually discarded after launch. By predicting whether the Falcon 9 first stage will land successfully, organizations can estimate mission costs, improve planning, and support data-driven decision-making. This project uses historical SpaceX launch data to analyze landing outcomes and build machine learning models for landing prediction.</a:t>
            </a:r>
          </a:p>
          <a:p>
            <a:r>
              <a:rPr lang="en-IN" sz="2400" b="1" dirty="0">
                <a:solidFill>
                  <a:schemeClr val="tx1"/>
                </a:solidFill>
              </a:rPr>
              <a:t>Project Objective:</a:t>
            </a:r>
          </a:p>
          <a:p>
            <a:r>
              <a:rPr lang="en-IN" sz="2000" dirty="0">
                <a:solidFill>
                  <a:schemeClr val="tx1"/>
                </a:solidFill>
              </a:rPr>
              <a:t>The project aims to identify the factors influencing Falcon 9 first-stage landing success and develop a machine learning model to predict landing outcomes.</a:t>
            </a:r>
            <a:endParaRPr lang="en-IN" sz="2000" b="1" dirty="0">
              <a:solidFill>
                <a:schemeClr val="tx1"/>
              </a:solidFill>
            </a:endParaRPr>
          </a:p>
          <a:p>
            <a:r>
              <a:rPr lang="en-IN" sz="2000" dirty="0">
                <a:solidFill>
                  <a:schemeClr val="tx1"/>
                </a:solidFill>
              </a:rPr>
              <a:t>Collect Falcon 9 launch data using the SpaceX REST API and </a:t>
            </a:r>
            <a:r>
              <a:rPr lang="en-IN" sz="2000" b="1" dirty="0">
                <a:solidFill>
                  <a:schemeClr val="tx1"/>
                </a:solidFill>
              </a:rPr>
              <a:t>Wikipedia Web Scraping</a:t>
            </a:r>
            <a:r>
              <a:rPr lang="en-IN" sz="2000" dirty="0">
                <a:solidFill>
                  <a:schemeClr val="tx1"/>
                </a:solidFill>
              </a:rPr>
              <a:t>. </a:t>
            </a:r>
          </a:p>
          <a:p>
            <a:pPr lvl="0"/>
            <a:r>
              <a:rPr lang="en-IN" sz="2000" dirty="0">
                <a:solidFill>
                  <a:schemeClr val="tx1"/>
                </a:solidFill>
              </a:rPr>
              <a:t>Perform </a:t>
            </a:r>
            <a:r>
              <a:rPr lang="en-IN" sz="2000" b="1" dirty="0">
                <a:solidFill>
                  <a:schemeClr val="tx1"/>
                </a:solidFill>
              </a:rPr>
              <a:t>data wrangling, SQL analysis, and exploratory data analysis (EDA).</a:t>
            </a:r>
          </a:p>
          <a:p>
            <a:pPr lvl="0"/>
            <a:r>
              <a:rPr lang="en-IN" sz="2000" dirty="0">
                <a:solidFill>
                  <a:schemeClr val="tx1"/>
                </a:solidFill>
              </a:rPr>
              <a:t>Build interactive visualizations using SQL, Folium, and Plotly Dash. </a:t>
            </a:r>
          </a:p>
          <a:p>
            <a:pPr lvl="0"/>
            <a:r>
              <a:rPr lang="en-IN" sz="2000" dirty="0">
                <a:solidFill>
                  <a:schemeClr val="tx1"/>
                </a:solidFill>
              </a:rPr>
              <a:t>Develop, evaluate, and compare machine learning classification models to predict Falcon 9 first-stage landing success.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0408633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11DCFD-8450-17AD-05D4-229BA1C66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5AB7E7-7534-10CB-A359-88015C285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103" y="73572"/>
            <a:ext cx="11981794" cy="798787"/>
          </a:xfrm>
        </p:spPr>
        <p:txBody>
          <a:bodyPr anchor="ctr">
            <a:normAutofit/>
          </a:bodyPr>
          <a:lstStyle/>
          <a:p>
            <a:r>
              <a:rPr lang="en-US" dirty="0"/>
              <a:t>Methodology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F8C842-232A-AE37-3471-90353781809D}"/>
              </a:ext>
            </a:extLst>
          </p:cNvPr>
          <p:cNvSpPr txBox="1">
            <a:spLocks/>
          </p:cNvSpPr>
          <p:nvPr/>
        </p:nvSpPr>
        <p:spPr>
          <a:xfrm>
            <a:off x="105103" y="872359"/>
            <a:ext cx="11855669" cy="544435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sz="1600" b="1" dirty="0"/>
              <a:t>Data Collection Methodology</a:t>
            </a:r>
          </a:p>
          <a:p>
            <a:pPr lvl="0"/>
            <a:r>
              <a:rPr lang="en-IN" sz="1600" dirty="0"/>
              <a:t>Collected Falcon 9 launch data using the </a:t>
            </a:r>
            <a:r>
              <a:rPr lang="en-IN" sz="1600" b="1" dirty="0"/>
              <a:t>SpaceX REST API</a:t>
            </a:r>
            <a:r>
              <a:rPr lang="en-IN" sz="1600" dirty="0"/>
              <a:t>. </a:t>
            </a:r>
          </a:p>
          <a:p>
            <a:pPr lvl="0"/>
            <a:r>
              <a:rPr lang="en-IN" sz="1600" dirty="0"/>
              <a:t>Collected additional launch records through </a:t>
            </a:r>
            <a:r>
              <a:rPr lang="en-IN" sz="1600" b="1" dirty="0"/>
              <a:t>Wikipedia Web Scraping</a:t>
            </a:r>
            <a:r>
              <a:rPr lang="en-IN" sz="1600" dirty="0"/>
              <a:t>. </a:t>
            </a:r>
          </a:p>
          <a:p>
            <a:r>
              <a:rPr lang="en-IN" sz="1600" b="1" dirty="0"/>
              <a:t>Data Wrangling</a:t>
            </a:r>
          </a:p>
          <a:p>
            <a:pPr lvl="0"/>
            <a:r>
              <a:rPr lang="en-IN" sz="1600" dirty="0"/>
              <a:t>Cleaned missing values and standardized the dataset. </a:t>
            </a:r>
          </a:p>
          <a:p>
            <a:pPr lvl="0"/>
            <a:r>
              <a:rPr lang="en-IN" sz="1600" dirty="0"/>
              <a:t>Created the landing success label and prepared features for analysis. </a:t>
            </a:r>
          </a:p>
          <a:p>
            <a:r>
              <a:rPr lang="en-IN" sz="1600" b="1" dirty="0"/>
              <a:t>Exploratory Data Analysis (EDA)</a:t>
            </a:r>
          </a:p>
          <a:p>
            <a:pPr lvl="0"/>
            <a:r>
              <a:rPr lang="en-IN" sz="1600" dirty="0"/>
              <a:t>Performed </a:t>
            </a:r>
            <a:r>
              <a:rPr lang="en-IN" sz="1600" b="1" dirty="0"/>
              <a:t>SQL queries</a:t>
            </a:r>
            <a:r>
              <a:rPr lang="en-IN" sz="1600" dirty="0"/>
              <a:t> to analyze launch statistics. </a:t>
            </a:r>
          </a:p>
          <a:p>
            <a:pPr lvl="0"/>
            <a:r>
              <a:rPr lang="en-IN" sz="1600" dirty="0"/>
              <a:t>Created visualizations using </a:t>
            </a:r>
            <a:r>
              <a:rPr lang="en-IN" sz="1600" b="1" dirty="0"/>
              <a:t>Matplotlib</a:t>
            </a:r>
            <a:r>
              <a:rPr lang="en-IN" sz="1600" dirty="0"/>
              <a:t> and </a:t>
            </a:r>
            <a:r>
              <a:rPr lang="en-IN" sz="1600" b="1" dirty="0"/>
              <a:t>Plotly</a:t>
            </a:r>
            <a:r>
              <a:rPr lang="en-IN" sz="1600" dirty="0"/>
              <a:t> to identify trends and relationships. </a:t>
            </a:r>
          </a:p>
          <a:p>
            <a:r>
              <a:rPr lang="en-IN" sz="1600" b="1" dirty="0"/>
              <a:t>Interactive Visual Analytics</a:t>
            </a:r>
          </a:p>
          <a:p>
            <a:pPr lvl="0"/>
            <a:r>
              <a:rPr lang="en-IN" sz="1600" dirty="0"/>
              <a:t>Built an interactive </a:t>
            </a:r>
            <a:r>
              <a:rPr lang="en-IN" sz="1600" b="1" dirty="0"/>
              <a:t>Folium</a:t>
            </a:r>
            <a:r>
              <a:rPr lang="en-IN" sz="1600" dirty="0"/>
              <a:t> map to analyze launch site locations. </a:t>
            </a:r>
          </a:p>
          <a:p>
            <a:pPr lvl="0"/>
            <a:r>
              <a:rPr lang="en-IN" sz="1600" dirty="0"/>
              <a:t>Developed a </a:t>
            </a:r>
            <a:r>
              <a:rPr lang="en-IN" sz="1600" b="1" dirty="0"/>
              <a:t>Plotly Dash</a:t>
            </a:r>
            <a:r>
              <a:rPr lang="en-IN" sz="1600" dirty="0"/>
              <a:t> dashboard with interactive charts and filters. </a:t>
            </a:r>
          </a:p>
          <a:p>
            <a:r>
              <a:rPr lang="en-IN" sz="1600" b="1" dirty="0"/>
              <a:t>Predictive Analysis</a:t>
            </a:r>
          </a:p>
          <a:p>
            <a:pPr lvl="0"/>
            <a:r>
              <a:rPr lang="en-IN" sz="1600" dirty="0"/>
              <a:t>Built, trained, and evaluated multiple machine learning classification models. </a:t>
            </a:r>
          </a:p>
          <a:p>
            <a:pPr lvl="0"/>
            <a:r>
              <a:rPr lang="en-IN" sz="1600" dirty="0"/>
              <a:t>Compared model performance and selected the best-performing model based on prediction accuracy. 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7916925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F04FCD-52D4-3BF7-F049-C6D7E36B60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8372" y="157654"/>
            <a:ext cx="10975428" cy="872359"/>
          </a:xfrm>
        </p:spPr>
        <p:txBody>
          <a:bodyPr/>
          <a:lstStyle/>
          <a:p>
            <a:r>
              <a:rPr lang="en-IN" dirty="0"/>
              <a:t>Data Collection using SpaceX API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46AB85-5D65-5515-B010-1DAC960964F2}"/>
              </a:ext>
            </a:extLst>
          </p:cNvPr>
          <p:cNvSpPr txBox="1"/>
          <p:nvPr/>
        </p:nvSpPr>
        <p:spPr>
          <a:xfrm>
            <a:off x="1" y="1313793"/>
            <a:ext cx="5864772" cy="38276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Collected Falcon 9 launch data using the </a:t>
            </a:r>
            <a:r>
              <a:rPr lang="en-IN" sz="2400" b="1" dirty="0"/>
              <a:t>SpaceX REST API</a:t>
            </a:r>
            <a:r>
              <a:rPr lang="en-IN" sz="2400" dirty="0"/>
              <a:t>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Retrieved launch date, payload mass, orbit, launch site, booster version, and mission outcome.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Converted JSON responses into a structured Pandas DataFrame for analysis.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Right side:</a:t>
            </a:r>
            <a:r>
              <a:rPr lang="en-IN" sz="2400" dirty="0"/>
              <a:t> SpaceX API notebook screenshot.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1A5CA74-3BE6-05EF-B674-AD060009B3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4773" y="1030013"/>
            <a:ext cx="6327226" cy="405111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84FE305-3D90-F245-AD38-862BC9D2639D}"/>
              </a:ext>
            </a:extLst>
          </p:cNvPr>
          <p:cNvSpPr txBox="1"/>
          <p:nvPr/>
        </p:nvSpPr>
        <p:spPr>
          <a:xfrm>
            <a:off x="483477" y="5244663"/>
            <a:ext cx="943829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2"/>
            <a:r>
              <a:rPr lang="en-IN" b="1" dirty="0"/>
              <a:t>GitHub Repository (Notebooks, Python Files, and Presentation):</a:t>
            </a:r>
            <a:r>
              <a:rPr lang="en-IN" dirty="0"/>
              <a:t> </a:t>
            </a:r>
          </a:p>
          <a:p>
            <a:pPr lvl="2"/>
            <a:endParaRPr lang="en-IN" dirty="0"/>
          </a:p>
          <a:p>
            <a:pPr lvl="2"/>
            <a:r>
              <a:rPr lang="en-IN" sz="1600" dirty="0">
                <a:solidFill>
                  <a:srgbClr val="0072C3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IN" sz="1600" dirty="0">
              <a:solidFill>
                <a:srgbClr val="0072C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030060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4EE966-B69D-65EC-3F45-25BD7760D9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3269" y="365125"/>
            <a:ext cx="11382703" cy="969689"/>
          </a:xfrm>
        </p:spPr>
        <p:txBody>
          <a:bodyPr>
            <a:noAutofit/>
          </a:bodyPr>
          <a:lstStyle/>
          <a:p>
            <a:r>
              <a:rPr lang="en-IN" dirty="0">
                <a:solidFill>
                  <a:schemeClr val="bg1"/>
                </a:solidFill>
              </a:rPr>
              <a:t>Data Collection using Wikipedia Web Scraping</a:t>
            </a:r>
            <a:br>
              <a:rPr lang="en-IN" dirty="0">
                <a:solidFill>
                  <a:schemeClr val="bg1"/>
                </a:solidFill>
              </a:rPr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42D724-D96E-A607-212A-47E0616864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73270" y="935421"/>
            <a:ext cx="4540468" cy="4845269"/>
          </a:xfrm>
        </p:spPr>
        <p:txBody>
          <a:bodyPr>
            <a:norm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/>
              <a:t>Extracted additional Falcon 9 launch records from </a:t>
            </a:r>
            <a:r>
              <a:rPr lang="en-IN" sz="2200" b="1" dirty="0"/>
              <a:t>Wikipedia</a:t>
            </a:r>
            <a:r>
              <a:rPr lang="en-IN" sz="2200" dirty="0"/>
              <a:t> using </a:t>
            </a:r>
            <a:r>
              <a:rPr lang="en-IN" sz="2200" b="1" dirty="0"/>
              <a:t>BeautifulSoup</a:t>
            </a:r>
            <a:r>
              <a:rPr lang="en-IN" sz="2200" dirty="0"/>
              <a:t>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/>
              <a:t>Parsed HTML tables and converted them into a Pandas DataFrame.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/>
              <a:t>Used the scraped data to enrich and validate the dataset.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b="1" dirty="0"/>
              <a:t>Right side:</a:t>
            </a:r>
            <a:r>
              <a:rPr lang="en-IN" sz="2200" dirty="0"/>
              <a:t> Web Scraping notebook screenshot.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418D9BB-FED0-09D7-E6FD-DFDAC67031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4336" y="1074092"/>
            <a:ext cx="6611963" cy="47065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06046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B2A637-0D76-B729-E4AC-966ADB5304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966951"/>
          </a:xfrm>
        </p:spPr>
        <p:txBody>
          <a:bodyPr/>
          <a:lstStyle/>
          <a:p>
            <a:r>
              <a:rPr lang="en-IN" dirty="0"/>
              <a:t> Data Wrangling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C2033-F342-834F-4A68-4883B0DE5B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-1" y="872359"/>
            <a:ext cx="4792717" cy="3268717"/>
          </a:xfrm>
        </p:spPr>
        <p:txBody>
          <a:bodyPr>
            <a:normAutofit/>
          </a:bodyPr>
          <a:lstStyle/>
          <a:p>
            <a:pPr lvl="0"/>
            <a:endParaRPr lang="en-IN" sz="2200" dirty="0"/>
          </a:p>
          <a:p>
            <a:pPr lvl="0"/>
            <a:r>
              <a:rPr lang="en-IN" sz="2200" dirty="0"/>
              <a:t>Cleaned missing and inconsistent values. </a:t>
            </a:r>
          </a:p>
          <a:p>
            <a:pPr lvl="0"/>
            <a:r>
              <a:rPr lang="en-IN" sz="2200" dirty="0"/>
              <a:t>Selected relevant features for analysis. </a:t>
            </a:r>
          </a:p>
          <a:p>
            <a:pPr lvl="0"/>
            <a:r>
              <a:rPr lang="en-IN" sz="2200" dirty="0"/>
              <a:t>Created the landing success label. </a:t>
            </a:r>
          </a:p>
          <a:p>
            <a:pPr lvl="0"/>
            <a:r>
              <a:rPr lang="en-IN" sz="2200" dirty="0"/>
              <a:t>Prepared the final dataset for EDA and machine learning.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20E0DB7-3A43-1EDD-F6E4-491DE18036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9392" y="1162841"/>
            <a:ext cx="6434331" cy="461404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BC2AF16-9FB9-0AE0-F109-2CC172631F52}"/>
              </a:ext>
            </a:extLst>
          </p:cNvPr>
          <p:cNvSpPr txBox="1"/>
          <p:nvPr/>
        </p:nvSpPr>
        <p:spPr>
          <a:xfrm>
            <a:off x="0" y="4656080"/>
            <a:ext cx="496939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b="1" dirty="0"/>
              <a:t>GitHub Repository (Notebooks, Python Files, and Presentation):</a:t>
            </a:r>
            <a:r>
              <a:rPr lang="en-IN" sz="1600" dirty="0"/>
              <a:t> </a:t>
            </a:r>
          </a:p>
          <a:p>
            <a:pPr lvl="2" algn="ctr"/>
            <a:endParaRPr lang="en-IN" dirty="0"/>
          </a:p>
          <a:p>
            <a:pPr algn="ctr"/>
            <a:r>
              <a:rPr lang="en-IN" sz="1400" dirty="0">
                <a:solidFill>
                  <a:srgbClr val="0072C3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IN" sz="1400" dirty="0">
              <a:solidFill>
                <a:srgbClr val="0072C3"/>
              </a:solidFill>
            </a:endParaRPr>
          </a:p>
          <a:p>
            <a:pPr algn="ctr"/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020070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C4734-2A4F-3231-376A-38F409CCC4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914399"/>
          </a:xfrm>
        </p:spPr>
        <p:txBody>
          <a:bodyPr/>
          <a:lstStyle/>
          <a:p>
            <a:r>
              <a:rPr lang="en-IN" dirty="0"/>
              <a:t>EDA using Visualizations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B5B336-DEFD-1F02-9289-0E8CEC170F0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0" y="914401"/>
            <a:ext cx="5013434" cy="2238702"/>
          </a:xfrm>
        </p:spPr>
        <p:txBody>
          <a:bodyPr>
            <a:normAutofit/>
          </a:bodyPr>
          <a:lstStyle/>
          <a:p>
            <a:pPr lvl="0"/>
            <a:r>
              <a:rPr lang="en-IN" sz="2200" dirty="0"/>
              <a:t>Launch success increased over time. </a:t>
            </a:r>
          </a:p>
          <a:p>
            <a:pPr lvl="0"/>
            <a:r>
              <a:rPr lang="en-IN" sz="2200" dirty="0"/>
              <a:t>Success rates differed across orbit classes. </a:t>
            </a:r>
          </a:p>
          <a:p>
            <a:pPr lvl="0"/>
            <a:r>
              <a:rPr lang="en-IN" sz="2200" dirty="0"/>
              <a:t>EDA revealed patterns influencing landing success.</a:t>
            </a:r>
          </a:p>
          <a:p>
            <a:pPr marL="0" indent="0">
              <a:buNone/>
            </a:pPr>
            <a:endParaRPr lang="en-IN" sz="2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98A9616-DC58-3C70-B0EB-7F074A2E82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1958" y="852974"/>
            <a:ext cx="6358759" cy="315793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508497B-6F82-BE14-6713-EB3DC5A6EF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3281740"/>
            <a:ext cx="5255172" cy="298856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6D14618-3CD2-9885-4E2C-7C32950D14CA}"/>
              </a:ext>
            </a:extLst>
          </p:cNvPr>
          <p:cNvSpPr txBox="1"/>
          <p:nvPr/>
        </p:nvSpPr>
        <p:spPr>
          <a:xfrm>
            <a:off x="5549462" y="4435366"/>
            <a:ext cx="6222124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b="1" dirty="0"/>
              <a:t>GitHub Repository (Notebooks, Python Files, and Presentation):</a:t>
            </a:r>
            <a:r>
              <a:rPr lang="en-IN" sz="1600" dirty="0"/>
              <a:t> </a:t>
            </a:r>
          </a:p>
          <a:p>
            <a:pPr lvl="2" algn="ctr"/>
            <a:endParaRPr lang="en-IN" dirty="0"/>
          </a:p>
          <a:p>
            <a:pPr algn="ctr"/>
            <a:r>
              <a:rPr lang="en-IN" sz="1400" dirty="0">
                <a:solidFill>
                  <a:srgbClr val="0072C3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IN" sz="1400" dirty="0">
              <a:solidFill>
                <a:srgbClr val="0072C3"/>
              </a:solidFill>
            </a:endParaRPr>
          </a:p>
          <a:p>
            <a:pPr algn="ctr"/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901750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A4B41E-0926-FE17-2CFA-01FEC859EA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EDA using 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67A916-7C8B-6F91-6FA3-0543D0D6BC1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600200"/>
            <a:ext cx="10515600" cy="2194034"/>
          </a:xfrm>
        </p:spPr>
        <p:txBody>
          <a:bodyPr/>
          <a:lstStyle/>
          <a:p>
            <a:pPr lvl="0"/>
            <a:r>
              <a:rPr lang="en-IN" dirty="0"/>
              <a:t>Used SQL queries to summarize launch statistics. </a:t>
            </a:r>
          </a:p>
          <a:p>
            <a:pPr lvl="0"/>
            <a:r>
              <a:rPr lang="en-IN" dirty="0"/>
              <a:t>Analyzed launches by launch site, mission outcome, and booster version. </a:t>
            </a:r>
          </a:p>
          <a:p>
            <a:pPr lvl="0"/>
            <a:r>
              <a:rPr lang="en-IN" dirty="0"/>
              <a:t>Identified trends and generated insights from the data.</a:t>
            </a:r>
          </a:p>
          <a:p>
            <a:endParaRPr lang="en-I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DF717F0-BEA8-DA2E-296E-94B406E348BF}"/>
              </a:ext>
            </a:extLst>
          </p:cNvPr>
          <p:cNvSpPr txBox="1"/>
          <p:nvPr/>
        </p:nvSpPr>
        <p:spPr>
          <a:xfrm>
            <a:off x="1051034" y="3962400"/>
            <a:ext cx="8881242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2" algn="ctr"/>
            <a:r>
              <a:rPr lang="en-IN" sz="2000" b="1" dirty="0"/>
              <a:t>GitHub Repository (Notebooks, Python Files, and Presentation):</a:t>
            </a:r>
            <a:r>
              <a:rPr lang="en-IN" sz="2000" dirty="0"/>
              <a:t> </a:t>
            </a:r>
            <a:r>
              <a:rPr lang="en-IN" dirty="0"/>
              <a:t> </a:t>
            </a:r>
          </a:p>
          <a:p>
            <a:pPr lvl="2"/>
            <a:endParaRPr lang="en-IN" sz="1600" dirty="0">
              <a:solidFill>
                <a:srgbClr val="0072C3"/>
              </a:solidFill>
              <a:hlinkClick r:id="rId2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 lvl="2" algn="ctr"/>
            <a:r>
              <a:rPr lang="en-IN" sz="1600" dirty="0">
                <a:solidFill>
                  <a:srgbClr val="0072C3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IN" sz="1600" dirty="0">
              <a:solidFill>
                <a:srgbClr val="0072C3"/>
              </a:solidFill>
            </a:endParaRPr>
          </a:p>
          <a:p>
            <a:endParaRPr lang="en-IN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544562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11AFC7-9943-6F04-208E-BD1EC40837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5310" y="365125"/>
            <a:ext cx="11288110" cy="990709"/>
          </a:xfrm>
        </p:spPr>
        <p:txBody>
          <a:bodyPr>
            <a:normAutofit fontScale="90000"/>
          </a:bodyPr>
          <a:lstStyle/>
          <a:p>
            <a:r>
              <a:rPr lang="en-IN" dirty="0"/>
              <a:t>Interactive Visual Analytics (Folium &amp; Plotly Dash)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7A25C6-F943-0F4A-935D-C79B390A73A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10" y="1545022"/>
            <a:ext cx="11038490" cy="2354316"/>
          </a:xfrm>
        </p:spPr>
        <p:txBody>
          <a:bodyPr/>
          <a:lstStyle/>
          <a:p>
            <a:pPr lvl="0"/>
            <a:r>
              <a:rPr lang="en-IN" dirty="0"/>
              <a:t>Built interactive </a:t>
            </a:r>
            <a:r>
              <a:rPr lang="en-IN" b="1" dirty="0"/>
              <a:t>Folium</a:t>
            </a:r>
            <a:r>
              <a:rPr lang="en-IN" dirty="0"/>
              <a:t> maps to visualize launch site locations. </a:t>
            </a:r>
          </a:p>
          <a:p>
            <a:pPr lvl="0"/>
            <a:r>
              <a:rPr lang="en-IN" dirty="0"/>
              <a:t>Developed a </a:t>
            </a:r>
            <a:r>
              <a:rPr lang="en-IN" b="1" dirty="0"/>
              <a:t>Plotly Dash</a:t>
            </a:r>
            <a:r>
              <a:rPr lang="en-IN" dirty="0"/>
              <a:t> dashboard with filters and interactive charts. </a:t>
            </a:r>
          </a:p>
          <a:p>
            <a:pPr lvl="0"/>
            <a:r>
              <a:rPr lang="en-IN" dirty="0"/>
              <a:t>Enabled dynamic exploration of launch data.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38580A-F97F-C8B1-2F63-B1880C78A143}"/>
              </a:ext>
            </a:extLst>
          </p:cNvPr>
          <p:cNvSpPr txBox="1"/>
          <p:nvPr/>
        </p:nvSpPr>
        <p:spPr>
          <a:xfrm>
            <a:off x="493986" y="4204138"/>
            <a:ext cx="10121462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2" algn="ctr"/>
            <a:r>
              <a:rPr lang="en-IN" sz="2000" b="1" dirty="0"/>
              <a:t>GitHub Repository (Notebooks, Python Files, and Presentation):</a:t>
            </a:r>
            <a:r>
              <a:rPr lang="en-IN" sz="2000" dirty="0"/>
              <a:t> </a:t>
            </a:r>
            <a:r>
              <a:rPr lang="en-IN" dirty="0"/>
              <a:t> </a:t>
            </a:r>
          </a:p>
          <a:p>
            <a:pPr lvl="2"/>
            <a:endParaRPr lang="en-IN" sz="1600" dirty="0">
              <a:solidFill>
                <a:srgbClr val="0072C3"/>
              </a:solidFill>
              <a:hlinkClick r:id="rId2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 lvl="2" algn="ctr"/>
            <a:r>
              <a:rPr lang="en-IN" sz="1600" dirty="0">
                <a:solidFill>
                  <a:srgbClr val="0072C3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IN" dirty="0"/>
          </a:p>
          <a:p>
            <a:endParaRPr lang="en-IN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411802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DE551B-8823-E8DA-794B-7E85F392B2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90709"/>
          </a:xfrm>
        </p:spPr>
        <p:txBody>
          <a:bodyPr/>
          <a:lstStyle/>
          <a:p>
            <a:r>
              <a:rPr lang="en-IN" dirty="0"/>
              <a:t>Predictive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713146-62C1-1DDA-C130-6B225233B48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600200"/>
            <a:ext cx="10334297" cy="2446283"/>
          </a:xfrm>
        </p:spPr>
        <p:txBody>
          <a:bodyPr/>
          <a:lstStyle/>
          <a:p>
            <a:pPr lvl="0"/>
            <a:r>
              <a:rPr lang="en-IN" dirty="0"/>
              <a:t>Built multiple classification models to predict landing success. </a:t>
            </a:r>
          </a:p>
          <a:p>
            <a:pPr lvl="0"/>
            <a:r>
              <a:rPr lang="en-IN" dirty="0"/>
              <a:t>Compared model performance using evaluation metrics. </a:t>
            </a:r>
          </a:p>
          <a:p>
            <a:pPr lvl="0"/>
            <a:r>
              <a:rPr lang="en-IN" dirty="0"/>
              <a:t>Selected the best-performing model based on prediction accuracy.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D76B4E-F21C-2A32-5B48-C9E19C7E4FA5}"/>
              </a:ext>
            </a:extLst>
          </p:cNvPr>
          <p:cNvSpPr txBox="1"/>
          <p:nvPr/>
        </p:nvSpPr>
        <p:spPr>
          <a:xfrm>
            <a:off x="1008993" y="4046483"/>
            <a:ext cx="9375228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2" algn="ctr"/>
            <a:r>
              <a:rPr lang="en-IN" sz="2000" b="1" dirty="0"/>
              <a:t>GitHub Repository (Notebooks, Python Files, and Presentation):</a:t>
            </a:r>
            <a:r>
              <a:rPr lang="en-IN" sz="2000" dirty="0"/>
              <a:t> </a:t>
            </a:r>
            <a:r>
              <a:rPr lang="en-IN" dirty="0"/>
              <a:t> </a:t>
            </a:r>
          </a:p>
          <a:p>
            <a:pPr lvl="2"/>
            <a:endParaRPr lang="en-IN" sz="1600" dirty="0">
              <a:solidFill>
                <a:srgbClr val="0072C3"/>
              </a:solidFill>
              <a:hlinkClick r:id="rId2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 lvl="2" algn="ctr"/>
            <a:r>
              <a:rPr lang="en-IN" sz="1600" dirty="0">
                <a:solidFill>
                  <a:srgbClr val="0072C3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IN" dirty="0"/>
          </a:p>
          <a:p>
            <a:endParaRPr lang="en-IN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921391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9BB075-4270-E344-414F-B8B7EA07CC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96116"/>
          </a:xfrm>
        </p:spPr>
        <p:txBody>
          <a:bodyPr/>
          <a:lstStyle/>
          <a:p>
            <a:pPr algn="ctr"/>
            <a:r>
              <a:rPr lang="en-IN" dirty="0"/>
              <a:t>EDA Using SQL Queries (Part 1)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89EF32F8-B127-B654-AE26-A31508520C4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83172" y="2365507"/>
            <a:ext cx="3174125" cy="384610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9591042-D361-F493-9751-841FDC547DE1}"/>
              </a:ext>
            </a:extLst>
          </p:cNvPr>
          <p:cNvSpPr txBox="1"/>
          <p:nvPr/>
        </p:nvSpPr>
        <p:spPr>
          <a:xfrm>
            <a:off x="5517931" y="1471448"/>
            <a:ext cx="6106510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/>
              <a:t>Key Findings: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Used SQL to calculate total launches for each Falcon 9 launch site.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b="1" dirty="0"/>
              <a:t>CCAFS SLC-40</a:t>
            </a:r>
            <a:r>
              <a:rPr lang="en-IN" sz="2000" dirty="0"/>
              <a:t> recorded the highest number of launches (</a:t>
            </a:r>
            <a:r>
              <a:rPr lang="en-IN" sz="2000" b="1" dirty="0"/>
              <a:t>34</a:t>
            </a:r>
            <a:r>
              <a:rPr lang="en-IN" sz="2000" dirty="0"/>
              <a:t>).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b="1" dirty="0"/>
              <a:t>CCAFS LC-40</a:t>
            </a:r>
            <a:r>
              <a:rPr lang="en-IN" sz="2000" dirty="0"/>
              <a:t> completed </a:t>
            </a:r>
            <a:r>
              <a:rPr lang="en-IN" sz="2000" b="1" dirty="0"/>
              <a:t>26</a:t>
            </a:r>
            <a:r>
              <a:rPr lang="en-IN" sz="2000" dirty="0"/>
              <a:t> launches during the </a:t>
            </a:r>
            <a:r>
              <a:rPr lang="en-IN" sz="2000" dirty="0" err="1"/>
              <a:t>analyzed</a:t>
            </a:r>
            <a:r>
              <a:rPr lang="en-IN" sz="2000" dirty="0"/>
              <a:t> period.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KSC LC-39A completed 25 launches.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b="1" dirty="0"/>
              <a:t>VAFB SLC-4E</a:t>
            </a:r>
            <a:r>
              <a:rPr lang="en-IN" sz="2000" dirty="0"/>
              <a:t> recorded the fewest launches (</a:t>
            </a:r>
            <a:r>
              <a:rPr lang="en-IN" sz="2000" b="1" dirty="0"/>
              <a:t>16</a:t>
            </a:r>
            <a:r>
              <a:rPr lang="en-IN" sz="2000" dirty="0"/>
              <a:t>).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These SQL results identified the busiest launch sites and supported subsequent visualization and predictive analysis.</a:t>
            </a:r>
            <a:endParaRPr lang="en-US" sz="24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70D9C96-8F48-F04D-BA82-E19D41B2413F}"/>
              </a:ext>
            </a:extLst>
          </p:cNvPr>
          <p:cNvSpPr txBox="1"/>
          <p:nvPr/>
        </p:nvSpPr>
        <p:spPr>
          <a:xfrm>
            <a:off x="273270" y="1534510"/>
            <a:ext cx="486629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400" b="1" dirty="0"/>
              <a:t>SQL Query Output – Launch Site Analysis</a:t>
            </a:r>
          </a:p>
        </p:txBody>
      </p:sp>
    </p:spTree>
    <p:extLst>
      <p:ext uri="{BB962C8B-B14F-4D97-AF65-F5344CB8AC3E}">
        <p14:creationId xmlns:p14="http://schemas.microsoft.com/office/powerpoint/2010/main" val="23524220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E76DD5-8827-E17A-8330-A74F43C34B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64585"/>
          </a:xfrm>
        </p:spPr>
        <p:txBody>
          <a:bodyPr/>
          <a:lstStyle/>
          <a:p>
            <a:pPr algn="ctr"/>
            <a:r>
              <a:rPr lang="en-IN" dirty="0"/>
              <a:t>EDA Using SQL Queries (Part 2)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F898C5EF-D576-D376-7E0E-7EEAB20A6B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1228" y="1355834"/>
            <a:ext cx="11873686" cy="4761937"/>
          </a:xfrm>
        </p:spPr>
        <p:txBody>
          <a:bodyPr/>
          <a:lstStyle/>
          <a:p>
            <a:endParaRPr lang="en-US" dirty="0"/>
          </a:p>
          <a:p>
            <a:endParaRPr lang="en-IN" dirty="0"/>
          </a:p>
        </p:txBody>
      </p:sp>
      <p:pic>
        <p:nvPicPr>
          <p:cNvPr id="8" name="Content Placeholder 4">
            <a:extLst>
              <a:ext uri="{FF2B5EF4-FFF2-40B4-BE49-F238E27FC236}">
                <a16:creationId xmlns:a16="http://schemas.microsoft.com/office/drawing/2014/main" id="{010C7F7F-F651-75DC-6AC9-61164C1C05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1" y="2230820"/>
            <a:ext cx="3972909" cy="349731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F33D808-704B-4284-EA3A-6CCC267B7F70}"/>
              </a:ext>
            </a:extLst>
          </p:cNvPr>
          <p:cNvSpPr txBox="1"/>
          <p:nvPr/>
        </p:nvSpPr>
        <p:spPr>
          <a:xfrm>
            <a:off x="609602" y="1347624"/>
            <a:ext cx="452995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/>
            <a:r>
              <a:rPr lang="en-IN" sz="2400" b="1" dirty="0"/>
              <a:t>Mission Outcome Analysis (SQL Query Result)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9422D46-62B2-40B7-DCFE-B211539E2EFE}"/>
              </a:ext>
            </a:extLst>
          </p:cNvPr>
          <p:cNvSpPr txBox="1"/>
          <p:nvPr/>
        </p:nvSpPr>
        <p:spPr>
          <a:xfrm>
            <a:off x="5812221" y="1355834"/>
            <a:ext cx="6292693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/>
              <a:t>Key Findings: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SQL was used to summarize mission outcomes.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30 missions</a:t>
            </a:r>
            <a:r>
              <a:rPr lang="en-IN" sz="2400" dirty="0"/>
              <a:t> were completed successfully.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Only </a:t>
            </a:r>
            <a:r>
              <a:rPr lang="en-IN" sz="2400" b="1" dirty="0"/>
              <a:t>1 mission</a:t>
            </a:r>
            <a:r>
              <a:rPr lang="en-IN" sz="2400" dirty="0"/>
              <a:t> resulted in failure during the selected period.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The high success rate indicates improved Falcon 9 reliability.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SQL aggregation helped validate mission performance before predictive modeling.</a:t>
            </a:r>
            <a:endParaRPr lang="en-US" sz="2400" b="1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13649718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33F900-F166-BEB7-F740-8C872536D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210DC-B757-47AF-44F4-D6EC9F4BF9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E1D05E-A3D3-356F-EB51-94E7A1AE2A61}"/>
              </a:ext>
            </a:extLst>
          </p:cNvPr>
          <p:cNvSpPr txBox="1">
            <a:spLocks/>
          </p:cNvSpPr>
          <p:nvPr/>
        </p:nvSpPr>
        <p:spPr>
          <a:xfrm>
            <a:off x="409903" y="1408386"/>
            <a:ext cx="11540359" cy="44774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endParaRPr lang="en-US" sz="1800" dirty="0"/>
          </a:p>
          <a:p>
            <a:pPr marL="0" indent="0">
              <a:buFont typeface="Arial"/>
              <a:buNone/>
            </a:pPr>
            <a:endParaRPr lang="en-US" sz="1800" dirty="0"/>
          </a:p>
          <a:p>
            <a:pPr marL="0" indent="0">
              <a:buFont typeface="Arial"/>
              <a:buNone/>
            </a:pPr>
            <a:endParaRPr lang="en-US" sz="1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E869CF1-93F4-8EB1-2010-62FE5F37A7DF}"/>
              </a:ext>
            </a:extLst>
          </p:cNvPr>
          <p:cNvSpPr txBox="1"/>
          <p:nvPr/>
        </p:nvSpPr>
        <p:spPr>
          <a:xfrm>
            <a:off x="441435" y="1536174"/>
            <a:ext cx="11340662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Landing Success Trend:</a:t>
            </a:r>
            <a:r>
              <a:rPr lang="en-IN" sz="2400" dirty="0"/>
              <a:t> Landing success improved steadily over time.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Key Factors:</a:t>
            </a:r>
            <a:r>
              <a:rPr lang="en-IN" sz="2400" dirty="0"/>
              <a:t> Payload mass, launch site, orbit type, flight number, and booster version influenced landing success.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EDA, SQL &amp; Visualization:</a:t>
            </a:r>
            <a:r>
              <a:rPr lang="en-IN" sz="2400" dirty="0"/>
              <a:t> SQL queries, Folium maps, and the Plotly Dash dashboard provided interactive insights.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Predictive Analysis:</a:t>
            </a:r>
            <a:r>
              <a:rPr lang="en-IN" sz="2400" dirty="0"/>
              <a:t> The best classification model achieved the highest prediction accuracy.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Overall Outcome:</a:t>
            </a:r>
            <a:r>
              <a:rPr lang="en-IN" sz="2400" dirty="0"/>
              <a:t> Historical launch data can effectively predict Falcon 9 first-stage landing success and support mission planning.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45E55EF-D581-9CF3-9BA3-939D83937186}"/>
              </a:ext>
            </a:extLst>
          </p:cNvPr>
          <p:cNvSpPr txBox="1"/>
          <p:nvPr/>
        </p:nvSpPr>
        <p:spPr>
          <a:xfrm>
            <a:off x="1861457" y="5061857"/>
            <a:ext cx="732608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GitHub Repository:</a:t>
            </a:r>
          </a:p>
          <a:p>
            <a:pPr algn="ctr"/>
            <a:endParaRPr lang="en-US" b="1" dirty="0"/>
          </a:p>
          <a:p>
            <a:pPr algn="ctr"/>
            <a:r>
              <a:rPr lang="en-US" sz="1400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US" sz="1400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2159085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404988-88C2-64FE-D96F-5FAEDB7826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Flight Number vs. Launch Site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CBFF1992-6B02-B279-E196-437EBDE73ECC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1" y="1450427"/>
            <a:ext cx="6096000" cy="4564117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A0622A-975B-D3C1-CFE7-E8E2245C31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600200"/>
            <a:ext cx="5935717" cy="4414344"/>
          </a:xfrm>
        </p:spPr>
        <p:txBody>
          <a:bodyPr>
            <a:normAutofit fontScale="85000" lnSpcReduction="20000"/>
          </a:bodyPr>
          <a:lstStyle/>
          <a:p>
            <a:r>
              <a:rPr lang="en-IN" b="1" dirty="0"/>
              <a:t>Key Findings</a:t>
            </a:r>
            <a:endParaRPr lang="en-IN" dirty="0"/>
          </a:p>
          <a:p>
            <a:pPr lvl="0"/>
            <a:r>
              <a:rPr lang="en-IN" sz="2400" dirty="0"/>
              <a:t>Early Falcon 9 missions had lower landing success, while later missions showed higher success rates.</a:t>
            </a:r>
          </a:p>
          <a:p>
            <a:pPr lvl="0"/>
            <a:r>
              <a:rPr lang="en-IN" sz="2400" dirty="0"/>
              <a:t>Launch success improved as the </a:t>
            </a:r>
            <a:r>
              <a:rPr lang="en-IN" sz="2400" b="1" dirty="0"/>
              <a:t>flight number</a:t>
            </a:r>
            <a:r>
              <a:rPr lang="en-IN" sz="2400" dirty="0"/>
              <a:t> increased, indicating continuous improvements in booster recovery and operational experience. </a:t>
            </a:r>
          </a:p>
          <a:p>
            <a:pPr lvl="0"/>
            <a:r>
              <a:rPr lang="en-IN" sz="2400" b="1" dirty="0"/>
              <a:t>CCAFS SLC 40</a:t>
            </a:r>
            <a:r>
              <a:rPr lang="en-IN" sz="2400" dirty="0"/>
              <a:t> recorded the highest number of Falcon 9 launches, making it the most frequently used launch site. </a:t>
            </a:r>
          </a:p>
          <a:p>
            <a:pPr lvl="0"/>
            <a:r>
              <a:rPr lang="en-IN" sz="2400" b="1" dirty="0"/>
              <a:t>KSC LC 39A</a:t>
            </a:r>
            <a:r>
              <a:rPr lang="en-IN" sz="2400" dirty="0"/>
              <a:t> and </a:t>
            </a:r>
            <a:r>
              <a:rPr lang="en-IN" sz="2400" b="1" dirty="0"/>
              <a:t>VAFB SLC 4E</a:t>
            </a:r>
            <a:r>
              <a:rPr lang="en-IN" sz="2400" dirty="0"/>
              <a:t> also demonstrated successful landings, although with fewer launches than CCAFS SLC 40. </a:t>
            </a:r>
          </a:p>
          <a:p>
            <a:r>
              <a:rPr lang="en-IN" sz="2400" dirty="0"/>
              <a:t>Overall, both launch site and flight number influenced Falcon 9 first-stage landing success.</a:t>
            </a:r>
          </a:p>
        </p:txBody>
      </p:sp>
    </p:spTree>
    <p:extLst>
      <p:ext uri="{BB962C8B-B14F-4D97-AF65-F5344CB8AC3E}">
        <p14:creationId xmlns:p14="http://schemas.microsoft.com/office/powerpoint/2010/main" val="35178820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94B2CF-DEB3-BE2F-832B-ABD069D834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N" dirty="0"/>
              <a:t>Payload Mass vs. Launch Site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A36E3C-5569-0A2E-3A1B-32AFA41E5B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38345" y="1600200"/>
            <a:ext cx="6253653" cy="4572000"/>
          </a:xfrm>
        </p:spPr>
        <p:txBody>
          <a:bodyPr>
            <a:normAutofit fontScale="85000" lnSpcReduction="20000"/>
          </a:bodyPr>
          <a:lstStyle/>
          <a:p>
            <a:r>
              <a:rPr lang="en-IN" sz="3000" b="1" dirty="0"/>
              <a:t>Key Findings</a:t>
            </a:r>
          </a:p>
          <a:p>
            <a:pPr lvl="0"/>
            <a:r>
              <a:rPr lang="en-IN" sz="2400" b="1" dirty="0"/>
              <a:t>CCAFS SLC 40</a:t>
            </a:r>
            <a:r>
              <a:rPr lang="en-IN" sz="2400" dirty="0"/>
              <a:t> handled the widest range of payload masses and was the most frequently used launch site.</a:t>
            </a:r>
          </a:p>
          <a:p>
            <a:pPr lvl="0"/>
            <a:r>
              <a:rPr lang="en-IN" sz="2400" b="1" dirty="0"/>
              <a:t>KSC LC 39A</a:t>
            </a:r>
            <a:r>
              <a:rPr lang="en-IN" sz="2400" dirty="0"/>
              <a:t> primarily handled medium- to high-payload missions and achieved several successful landings. </a:t>
            </a:r>
          </a:p>
          <a:p>
            <a:pPr lvl="0"/>
            <a:r>
              <a:rPr lang="en-IN" sz="2400" b="1" dirty="0"/>
              <a:t>VAFB SLC 4E</a:t>
            </a:r>
            <a:r>
              <a:rPr lang="en-IN" sz="2400" dirty="0"/>
              <a:t> conducted fewer launches but demonstrated successful missions across different payload categories. </a:t>
            </a:r>
          </a:p>
          <a:p>
            <a:pPr lvl="0"/>
            <a:r>
              <a:rPr lang="en-IN" sz="2400" dirty="0"/>
              <a:t>Both </a:t>
            </a:r>
            <a:r>
              <a:rPr lang="en-IN" sz="2400" b="1" dirty="0"/>
              <a:t>successful</a:t>
            </a:r>
            <a:r>
              <a:rPr lang="en-IN" sz="2400" dirty="0"/>
              <a:t> and </a:t>
            </a:r>
            <a:r>
              <a:rPr lang="en-IN" sz="2400" b="1" dirty="0"/>
              <a:t>unsuccessful</a:t>
            </a:r>
            <a:r>
              <a:rPr lang="en-IN" sz="2400" dirty="0"/>
              <a:t> landings occurred at low, medium, and high payload masses, indicating that </a:t>
            </a:r>
            <a:r>
              <a:rPr lang="en-IN" sz="2400" b="1" dirty="0"/>
              <a:t>payload mass alone was not the primary factor affecting landing success</a:t>
            </a:r>
            <a:r>
              <a:rPr lang="en-IN" sz="2400" dirty="0"/>
              <a:t>. </a:t>
            </a:r>
          </a:p>
          <a:p>
            <a:pPr lvl="0"/>
            <a:r>
              <a:rPr lang="en-IN" sz="2400" dirty="0"/>
              <a:t>Overall, launch site and payload mass together influenced Falcon 9 landing success.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A4D663B-C687-577E-4BE2-C0232181ACB3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0" y="1600200"/>
            <a:ext cx="5759669" cy="4348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937359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129511-0C4E-7201-C73B-240A3CC51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Success Rate by Orbit</a:t>
            </a:r>
            <a:br>
              <a:rPr lang="en-IN" dirty="0"/>
            </a:br>
            <a:endParaRPr lang="en-IN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77ED8DE1-F132-69DA-9999-21690FCAD3B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0" y="1387366"/>
            <a:ext cx="6019801" cy="4624551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18B98BF-3152-047E-DBDF-BBFACB5114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19801" y="1387366"/>
            <a:ext cx="6172199" cy="4624551"/>
          </a:xfrm>
        </p:spPr>
        <p:txBody>
          <a:bodyPr>
            <a:normAutofit fontScale="85000" lnSpcReduction="20000"/>
          </a:bodyPr>
          <a:lstStyle/>
          <a:p>
            <a:r>
              <a:rPr lang="en-IN" sz="2600" b="1" dirty="0"/>
              <a:t>Key Findings</a:t>
            </a:r>
          </a:p>
          <a:p>
            <a:pPr lvl="0"/>
            <a:r>
              <a:rPr lang="en-IN" sz="2400" b="1" dirty="0"/>
              <a:t>ES-L1, GEO, HEO,</a:t>
            </a:r>
            <a:r>
              <a:rPr lang="en-IN" sz="2400" dirty="0"/>
              <a:t> and </a:t>
            </a:r>
            <a:r>
              <a:rPr lang="en-IN" sz="2400" b="1" dirty="0"/>
              <a:t>SSO</a:t>
            </a:r>
            <a:r>
              <a:rPr lang="en-IN" sz="2400" dirty="0"/>
              <a:t> achieved a </a:t>
            </a:r>
            <a:r>
              <a:rPr lang="en-IN" sz="2400" b="1" dirty="0"/>
              <a:t>100% landing success rate</a:t>
            </a:r>
            <a:r>
              <a:rPr lang="en-IN" sz="2400" dirty="0"/>
              <a:t>, indicating highly reliable mission outcomes for these orbit types. </a:t>
            </a:r>
          </a:p>
          <a:p>
            <a:pPr lvl="0"/>
            <a:r>
              <a:rPr lang="en-IN" sz="2400" b="1" dirty="0"/>
              <a:t>VLEO</a:t>
            </a:r>
            <a:r>
              <a:rPr lang="en-IN" sz="2400" dirty="0"/>
              <a:t> also demonstrated a high landing success rate of approximately </a:t>
            </a:r>
            <a:r>
              <a:rPr lang="en-IN" sz="2400" b="1" dirty="0"/>
              <a:t>86%</a:t>
            </a:r>
            <a:r>
              <a:rPr lang="en-IN" sz="2400" dirty="0"/>
              <a:t>, showing strong booster recovery performance. </a:t>
            </a:r>
          </a:p>
          <a:p>
            <a:pPr lvl="0"/>
            <a:r>
              <a:rPr lang="en-IN" sz="2400" dirty="0"/>
              <a:t>LEO, MEO, ISS, and PO achieved moderate landing success rates, indicating variable mission outcomes across these orbit types.</a:t>
            </a:r>
          </a:p>
          <a:p>
            <a:pPr lvl="0"/>
            <a:r>
              <a:rPr lang="en-IN" sz="2400" b="1" dirty="0"/>
              <a:t>GTO</a:t>
            </a:r>
            <a:r>
              <a:rPr lang="en-IN" sz="2400" dirty="0"/>
              <a:t> recorded a comparatively lower landing success rate, while </a:t>
            </a:r>
            <a:r>
              <a:rPr lang="en-IN" sz="2400" b="1" dirty="0"/>
              <a:t>SO</a:t>
            </a:r>
            <a:r>
              <a:rPr lang="en-IN" sz="2400" dirty="0"/>
              <a:t> showed </a:t>
            </a:r>
            <a:r>
              <a:rPr lang="en-IN" sz="2400" b="1" dirty="0"/>
              <a:t>no successful landings</a:t>
            </a:r>
            <a:r>
              <a:rPr lang="en-IN" sz="2400" dirty="0"/>
              <a:t> in the available dataset. </a:t>
            </a:r>
          </a:p>
          <a:p>
            <a:pPr lvl="0"/>
            <a:r>
              <a:rPr lang="en-IN" sz="2400" dirty="0"/>
              <a:t>Overall, orbit type significantly influenced Falcon 9 landing success, although mission characteristics and operational factors also played important roles.</a:t>
            </a:r>
          </a:p>
        </p:txBody>
      </p:sp>
    </p:spTree>
    <p:extLst>
      <p:ext uri="{BB962C8B-B14F-4D97-AF65-F5344CB8AC3E}">
        <p14:creationId xmlns:p14="http://schemas.microsoft.com/office/powerpoint/2010/main" val="61054745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C6A39-2DD4-700D-2971-070040B145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Flight Number vs. Orbit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A6CCA3-587F-AAFF-57E4-F9BCE14966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600200"/>
            <a:ext cx="6019799" cy="4390697"/>
          </a:xfrm>
        </p:spPr>
        <p:txBody>
          <a:bodyPr>
            <a:normAutofit/>
          </a:bodyPr>
          <a:lstStyle/>
          <a:p>
            <a:r>
              <a:rPr lang="en-IN" b="1" dirty="0"/>
              <a:t>Key Findings</a:t>
            </a:r>
          </a:p>
          <a:p>
            <a:r>
              <a:rPr lang="en-IN" sz="2200" dirty="0"/>
              <a:t>LEO, ISS, and VLEO missions generally achieved high landing success rates.</a:t>
            </a:r>
          </a:p>
          <a:p>
            <a:r>
              <a:rPr lang="en-IN" sz="2200" dirty="0"/>
              <a:t>GTO missions showed mixed landing outcomes, with both successful and failed landings.</a:t>
            </a:r>
          </a:p>
          <a:p>
            <a:pPr lvl="0"/>
            <a:r>
              <a:rPr lang="en-IN" sz="2200" dirty="0"/>
              <a:t>Landing success generally improved with increasing flight numbers, especially in later missions. </a:t>
            </a:r>
          </a:p>
          <a:p>
            <a:r>
              <a:rPr lang="en-IN" sz="2200" dirty="0"/>
              <a:t>Orbit type influenced landing success, while payload mass and launch site also played important roles.</a:t>
            </a:r>
          </a:p>
          <a:p>
            <a:endParaRPr lang="en-IN" b="1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CB728AF-1456-2365-66BD-56CAF31A19B2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0" y="1600200"/>
            <a:ext cx="6019800" cy="43906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23400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8F2725-F169-453F-7665-66C5A942F0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Payload Mass vs. Orbit</a:t>
            </a:r>
            <a:br>
              <a:rPr lang="en-IN" dirty="0"/>
            </a:br>
            <a:endParaRPr lang="en-IN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15DD030-A55E-4E81-597D-6066EC90C6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376855"/>
            <a:ext cx="6019799" cy="4645573"/>
          </a:xfrm>
        </p:spPr>
        <p:txBody>
          <a:bodyPr>
            <a:normAutofit/>
          </a:bodyPr>
          <a:lstStyle/>
          <a:p>
            <a:r>
              <a:rPr lang="en-IN" b="1" dirty="0"/>
              <a:t>Key Findings</a:t>
            </a:r>
          </a:p>
          <a:p>
            <a:pPr lvl="0"/>
            <a:r>
              <a:rPr lang="en-IN" sz="2400" dirty="0"/>
              <a:t>GTO missions covered a wide range of payload masses, with both successful and unsuccessful landings observed.</a:t>
            </a:r>
          </a:p>
          <a:p>
            <a:pPr lvl="0"/>
            <a:r>
              <a:rPr lang="en-IN" sz="2400" dirty="0"/>
              <a:t>VLEO missions were associated with the highest payload masses. </a:t>
            </a:r>
          </a:p>
          <a:p>
            <a:pPr lvl="0"/>
            <a:r>
              <a:rPr lang="en-IN" sz="2400" dirty="0"/>
              <a:t>LEO and ISS missions generally carried low to medium payload masses.</a:t>
            </a:r>
          </a:p>
          <a:p>
            <a:pPr lvl="0"/>
            <a:r>
              <a:rPr lang="en-IN" sz="2400" dirty="0"/>
              <a:t>Payload mass alone did not determine Falcon 9 landing success; orbit type and mission characteristics also influenced landing outcomes.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C7A5151-B27F-DD19-F7F0-25A3D473CB25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0" y="1600200"/>
            <a:ext cx="60198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288469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977B56-629A-FD69-8C31-3E6F2481C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Yearly Launch Success Trend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5D7DB9F-10F9-E9E4-2A55-5C8C74947E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600200"/>
            <a:ext cx="6019799" cy="4169979"/>
          </a:xfrm>
        </p:spPr>
        <p:txBody>
          <a:bodyPr>
            <a:normAutofit/>
          </a:bodyPr>
          <a:lstStyle/>
          <a:p>
            <a:r>
              <a:rPr lang="en-IN" sz="2400" b="1" dirty="0"/>
              <a:t>Key Findings</a:t>
            </a:r>
          </a:p>
          <a:p>
            <a:pPr lvl="0"/>
            <a:r>
              <a:rPr lang="en-IN" sz="2200" dirty="0"/>
              <a:t>Overall launch success rates improved over the years despite minor fluctuations.</a:t>
            </a:r>
          </a:p>
          <a:p>
            <a:pPr lvl="0"/>
            <a:r>
              <a:rPr lang="en-IN" sz="2200" dirty="0"/>
              <a:t>Success rates were very low during the early years (2010–2013). </a:t>
            </a:r>
          </a:p>
          <a:p>
            <a:pPr lvl="0"/>
            <a:r>
              <a:rPr lang="en-IN" sz="2400" dirty="0"/>
              <a:t>From 2016 onward, average launch success rates increased significantly.</a:t>
            </a:r>
          </a:p>
          <a:p>
            <a:pPr lvl="0"/>
            <a:r>
              <a:rPr lang="en-IN" sz="2200" dirty="0"/>
              <a:t>By 2019–2020, SpaceX consistently achieved high launch success rates, demonstrating improved booster recovery and mission reliability.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C4EC76C-F2B7-5ED9-6C3C-ADB136229A82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0" y="1706690"/>
            <a:ext cx="5927834" cy="4465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033117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D9C2EF-6B42-0E80-4D37-BF39736D7A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N" dirty="0"/>
              <a:t>Model Evaluation – Confusion Matrix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9CDDAF-3B94-F041-8097-EFCED477D0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0" y="1600200"/>
            <a:ext cx="6095999" cy="4572000"/>
          </a:xfrm>
        </p:spPr>
        <p:txBody>
          <a:bodyPr>
            <a:normAutofit lnSpcReduction="10000"/>
          </a:bodyPr>
          <a:lstStyle/>
          <a:p>
            <a:r>
              <a:rPr lang="en-IN" sz="2400" b="1" dirty="0"/>
              <a:t>Key Findings</a:t>
            </a:r>
          </a:p>
          <a:p>
            <a:pPr lvl="0"/>
            <a:r>
              <a:rPr lang="en-IN" sz="2400" dirty="0"/>
              <a:t>The model correctly predicted </a:t>
            </a:r>
            <a:r>
              <a:rPr lang="en-IN" sz="2400" b="1" dirty="0"/>
              <a:t>12 successful landings (True Positives)</a:t>
            </a:r>
            <a:r>
              <a:rPr lang="en-IN" sz="2400" dirty="0"/>
              <a:t>. </a:t>
            </a:r>
          </a:p>
          <a:p>
            <a:pPr lvl="0"/>
            <a:r>
              <a:rPr lang="en-IN" sz="2400" b="1" dirty="0"/>
              <a:t>2 unsuccessful landings</a:t>
            </a:r>
            <a:r>
              <a:rPr lang="en-IN" sz="2400" dirty="0"/>
              <a:t> were correctly classified (True Negatives). </a:t>
            </a:r>
          </a:p>
          <a:p>
            <a:pPr lvl="0"/>
            <a:r>
              <a:rPr lang="en-IN" sz="2400" b="1" dirty="0"/>
              <a:t>4 unsuccessful landings</a:t>
            </a:r>
            <a:r>
              <a:rPr lang="en-IN" sz="2400" dirty="0"/>
              <a:t> were incorrectly predicted as successful (False Positives). </a:t>
            </a:r>
          </a:p>
          <a:p>
            <a:pPr lvl="0"/>
            <a:r>
              <a:rPr lang="en-IN" sz="2400" dirty="0"/>
              <a:t>The model demonstrated strong performance in identifying successful landings, with no false negatives, although some unsuccessful missions were incorrectly classified as successful.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F5104F8-5136-26EF-9AFC-1242A0574D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0" y="1600200"/>
            <a:ext cx="6019800" cy="4572000"/>
          </a:xfrm>
        </p:spPr>
        <p:txBody>
          <a:bodyPr>
            <a:normAutofit lnSpcReduction="10000"/>
          </a:bodyPr>
          <a:lstStyle/>
          <a:p>
            <a:endParaRPr lang="en-IN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D52B133-92AA-31E9-7740-61951F6EBC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67744"/>
            <a:ext cx="60198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764043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B72497-7C26-C452-3B75-7C083BA3A6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Landing Success by Launch Site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1C91ABDF-F27C-11B6-6503-5F96EEFD1FF9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0" y="1631538"/>
            <a:ext cx="6019800" cy="4044048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22FAC5-C8B1-DBB2-90D4-EA67DED142A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600200"/>
            <a:ext cx="5904186" cy="4075386"/>
          </a:xfrm>
        </p:spPr>
        <p:txBody>
          <a:bodyPr>
            <a:normAutofit fontScale="92500"/>
          </a:bodyPr>
          <a:lstStyle/>
          <a:p>
            <a:r>
              <a:rPr lang="en-IN" sz="2400" b="1" dirty="0"/>
              <a:t>Key Findings</a:t>
            </a:r>
          </a:p>
          <a:p>
            <a:pPr lvl="0"/>
            <a:r>
              <a:rPr lang="en-IN" sz="2400" b="1" dirty="0"/>
              <a:t>KSC LC 39A</a:t>
            </a:r>
            <a:r>
              <a:rPr lang="en-IN" sz="2400" dirty="0"/>
              <a:t> achieved the </a:t>
            </a:r>
            <a:r>
              <a:rPr lang="en-IN" sz="2400" b="1" dirty="0"/>
              <a:t>highest average landing success rate</a:t>
            </a:r>
            <a:r>
              <a:rPr lang="en-IN" sz="2400" dirty="0"/>
              <a:t> among all launch sites. </a:t>
            </a:r>
          </a:p>
          <a:p>
            <a:pPr lvl="0"/>
            <a:r>
              <a:rPr lang="en-IN" sz="2400" b="1" dirty="0"/>
              <a:t>VAFB SLC 4E</a:t>
            </a:r>
            <a:r>
              <a:rPr lang="en-IN" sz="2400" dirty="0"/>
              <a:t> also recorded a </a:t>
            </a:r>
            <a:r>
              <a:rPr lang="en-IN" sz="2400" b="1" dirty="0"/>
              <a:t>high landing success rate</a:t>
            </a:r>
            <a:r>
              <a:rPr lang="en-IN" sz="2400" dirty="0"/>
              <a:t>, indicating strong mission performance. </a:t>
            </a:r>
          </a:p>
          <a:p>
            <a:pPr lvl="0"/>
            <a:r>
              <a:rPr lang="en-IN" sz="2400" b="1" dirty="0"/>
              <a:t>CCAFS SLC 40</a:t>
            </a:r>
            <a:r>
              <a:rPr lang="en-IN" sz="2400" dirty="0"/>
              <a:t> showed the </a:t>
            </a:r>
            <a:r>
              <a:rPr lang="en-IN" sz="2400" b="1" dirty="0"/>
              <a:t>lowest average landing success rate</a:t>
            </a:r>
            <a:r>
              <a:rPr lang="en-IN" sz="2400" dirty="0"/>
              <a:t> in the dataset. </a:t>
            </a:r>
          </a:p>
          <a:p>
            <a:pPr lvl="0"/>
            <a:r>
              <a:rPr lang="en-IN" sz="2400" dirty="0"/>
              <a:t>Launch site significantly influenced Falcon 9 first-stage landing success.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19EBCE-247E-F036-3E10-3B3C8C95FFA9}"/>
              </a:ext>
            </a:extLst>
          </p:cNvPr>
          <p:cNvSpPr txBox="1"/>
          <p:nvPr/>
        </p:nvSpPr>
        <p:spPr>
          <a:xfrm>
            <a:off x="3603171" y="5632406"/>
            <a:ext cx="6422572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GitHub Repository:</a:t>
            </a:r>
          </a:p>
          <a:p>
            <a:pPr algn="ctr"/>
            <a:endParaRPr lang="en-US" dirty="0"/>
          </a:p>
          <a:p>
            <a:pPr algn="ctr"/>
            <a:r>
              <a:rPr lang="en-IN" sz="1400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IN" sz="1400" dirty="0"/>
          </a:p>
        </p:txBody>
      </p:sp>
    </p:spTree>
    <p:extLst>
      <p:ext uri="{BB962C8B-B14F-4D97-AF65-F5344CB8AC3E}">
        <p14:creationId xmlns:p14="http://schemas.microsoft.com/office/powerpoint/2010/main" val="147006318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40A9BF-FA1A-16B2-22A0-10DE7D3499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1690688"/>
          </a:xfrm>
        </p:spPr>
        <p:txBody>
          <a:bodyPr/>
          <a:lstStyle/>
          <a:p>
            <a:pPr algn="ctr"/>
            <a:r>
              <a:rPr lang="en-IN" dirty="0"/>
              <a:t>Launch Site Proximity Analysis (CCAFS)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1E324E-4C98-8046-1238-B0DE803EC8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58759" y="1600200"/>
            <a:ext cx="5738647" cy="4064876"/>
          </a:xfrm>
        </p:spPr>
        <p:txBody>
          <a:bodyPr>
            <a:normAutofit/>
          </a:bodyPr>
          <a:lstStyle/>
          <a:p>
            <a:r>
              <a:rPr lang="en-IN" sz="2400" b="1" dirty="0"/>
              <a:t>Key Findings:</a:t>
            </a:r>
          </a:p>
          <a:p>
            <a:pPr lvl="0"/>
            <a:r>
              <a:rPr lang="en-IN" sz="2200" dirty="0"/>
              <a:t>CCAFS launch site is located close to the coastline.</a:t>
            </a:r>
          </a:p>
          <a:p>
            <a:pPr lvl="0"/>
            <a:r>
              <a:rPr lang="en-IN" sz="2200" dirty="0"/>
              <a:t>The coastal location supports safe launch trajectories over the ocean. </a:t>
            </a:r>
          </a:p>
          <a:p>
            <a:pPr lvl="0"/>
            <a:r>
              <a:rPr lang="en-IN" sz="2200" dirty="0"/>
              <a:t>The site is positioned away from major populated areas to improve safety. </a:t>
            </a:r>
          </a:p>
          <a:p>
            <a:pPr lvl="0"/>
            <a:r>
              <a:rPr lang="en-IN" sz="2200" dirty="0"/>
              <a:t>The proximity map highlights CCAFS's strategic coastal location for safe launch operations.</a:t>
            </a:r>
          </a:p>
        </p:txBody>
      </p:sp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8C70AC36-1D4C-3B7C-48B1-E1C29AEA5DBC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-1" y="1600200"/>
            <a:ext cx="6358759" cy="4064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526406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07BF14-48B4-018D-63EE-DF24A5A8CF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444DA4-C4B2-2A92-8A96-C527D8D026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IN" sz="3200" dirty="0"/>
              <a:t>SPACEX FALCON 9 – FINDINGS &amp; IMPLICATIONS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85DDBB-31B7-4F81-1E76-90009348F1D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13816" y="1825625"/>
            <a:ext cx="5181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b="1" dirty="0"/>
              <a:t>Findings</a:t>
            </a:r>
            <a:endParaRPr lang="en-US" dirty="0"/>
          </a:p>
          <a:p>
            <a:r>
              <a:rPr lang="en-IN" sz="2400" dirty="0"/>
              <a:t>Launch success rate improved over time.</a:t>
            </a:r>
            <a:endParaRPr lang="en-US" sz="2400" dirty="0"/>
          </a:p>
          <a:p>
            <a:r>
              <a:rPr lang="en-IN" sz="2400" dirty="0"/>
              <a:t>Launch site, payload mass, flight number, and orbit type significantly influenced landing success.</a:t>
            </a:r>
          </a:p>
          <a:p>
            <a:r>
              <a:rPr lang="en-IN" sz="2400" dirty="0"/>
              <a:t>The best-performing classification model demonstrated strong predictive performance.</a:t>
            </a:r>
            <a:endParaRPr lang="en-US" sz="24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166E7F-5223-7C98-EBC0-E8FA35940F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b="1" dirty="0"/>
              <a:t>Implications</a:t>
            </a:r>
            <a:endParaRPr lang="en-US" b="1" dirty="0"/>
          </a:p>
          <a:p>
            <a:pPr marL="0" indent="0">
              <a:buNone/>
            </a:pPr>
            <a:endParaRPr lang="en-US" dirty="0"/>
          </a:p>
          <a:p>
            <a:pPr lvl="0"/>
            <a:r>
              <a:rPr lang="en-IN" sz="2400" dirty="0"/>
              <a:t>Machine learning can effectively predict Falcon 9 landing success. </a:t>
            </a:r>
          </a:p>
          <a:p>
            <a:r>
              <a:rPr lang="en-IN" sz="2400" dirty="0"/>
              <a:t>The predictive model can support mission planning and reduce launch costs.</a:t>
            </a:r>
          </a:p>
          <a:p>
            <a:pPr lvl="0"/>
            <a:r>
              <a:rPr lang="en-IN" sz="2400" dirty="0"/>
              <a:t>Data-driven insights help improve future SpaceX launch decisions.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70128874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AA0F35-C02C-0C12-3664-049CAC5AFA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0B430B-2D6C-26E3-5D00-4D061A250E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584" y="428768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IN" dirty="0"/>
              <a:t>Results – Visualizations &amp; Dashboard</a:t>
            </a:r>
            <a:endParaRPr lang="en-US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B3FA5-2985-EAFB-8885-6820D4058A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0486" y="1754331"/>
            <a:ext cx="3374572" cy="57323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IN" b="1" dirty="0"/>
              <a:t>EDA Visualizations</a:t>
            </a:r>
            <a:endParaRPr lang="en-US" b="1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E0AA0B-A66B-F896-65D9-69DDA700D8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4614948" cy="50193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b="1" dirty="0"/>
              <a:t>Interactive Dashboard</a:t>
            </a:r>
            <a:endParaRPr lang="en-US" b="1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4E86EFD-B801-5996-879A-7A13CF75507C}"/>
              </a:ext>
            </a:extLst>
          </p:cNvPr>
          <p:cNvSpPr txBox="1">
            <a:spLocks/>
          </p:cNvSpPr>
          <p:nvPr/>
        </p:nvSpPr>
        <p:spPr>
          <a:xfrm>
            <a:off x="483477" y="2496151"/>
            <a:ext cx="4969672" cy="32424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IN" sz="2400" dirty="0">
                <a:solidFill>
                  <a:schemeClr val="tx1"/>
                </a:solidFill>
              </a:rPr>
              <a:t>Flight Number vs. Launch Site </a:t>
            </a:r>
          </a:p>
          <a:p>
            <a:pPr lvl="0"/>
            <a:r>
              <a:rPr lang="en-IN" sz="2400" dirty="0">
                <a:solidFill>
                  <a:schemeClr val="tx1"/>
                </a:solidFill>
              </a:rPr>
              <a:t>Payload Mass vs. Launch Site </a:t>
            </a:r>
          </a:p>
          <a:p>
            <a:pPr lvl="0"/>
            <a:r>
              <a:rPr lang="en-IN" sz="2400" dirty="0">
                <a:solidFill>
                  <a:schemeClr val="tx1"/>
                </a:solidFill>
              </a:rPr>
              <a:t>Success Rate by Orbit </a:t>
            </a:r>
          </a:p>
          <a:p>
            <a:pPr lvl="0"/>
            <a:r>
              <a:rPr lang="en-IN" sz="2400" dirty="0">
                <a:solidFill>
                  <a:schemeClr val="tx1"/>
                </a:solidFill>
              </a:rPr>
              <a:t>Flight Number vs. Orbit </a:t>
            </a:r>
          </a:p>
          <a:p>
            <a:pPr lvl="0"/>
            <a:r>
              <a:rPr lang="en-IN" sz="2400" dirty="0">
                <a:solidFill>
                  <a:schemeClr val="tx1"/>
                </a:solidFill>
              </a:rPr>
              <a:t>Payload Mass vs. Orbit </a:t>
            </a:r>
          </a:p>
          <a:p>
            <a:pPr lvl="0"/>
            <a:r>
              <a:rPr lang="en-IN" sz="2400" dirty="0">
                <a:solidFill>
                  <a:schemeClr val="tx1"/>
                </a:solidFill>
              </a:rPr>
              <a:t>Yearly Launch Success Trend </a:t>
            </a:r>
          </a:p>
          <a:p>
            <a:pPr lvl="0"/>
            <a:r>
              <a:rPr lang="en-IN" sz="2400" dirty="0">
                <a:solidFill>
                  <a:schemeClr val="tx1"/>
                </a:solidFill>
              </a:rPr>
              <a:t>Landing Success by Launch Site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F288C39-3E30-44CF-06C3-D46763CC8E0C}"/>
              </a:ext>
            </a:extLst>
          </p:cNvPr>
          <p:cNvSpPr txBox="1">
            <a:spLocks/>
          </p:cNvSpPr>
          <p:nvPr/>
        </p:nvSpPr>
        <p:spPr>
          <a:xfrm>
            <a:off x="6172200" y="2506661"/>
            <a:ext cx="4614949" cy="36703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IN" sz="2400" dirty="0">
                <a:solidFill>
                  <a:schemeClr val="tx1"/>
                </a:solidFill>
              </a:rPr>
              <a:t>SQL Query Results </a:t>
            </a:r>
          </a:p>
          <a:p>
            <a:pPr lvl="0"/>
            <a:r>
              <a:rPr lang="en-IN" sz="2400" dirty="0">
                <a:solidFill>
                  <a:schemeClr val="tx1"/>
                </a:solidFill>
              </a:rPr>
              <a:t>Folium Launch Site Map </a:t>
            </a:r>
          </a:p>
          <a:p>
            <a:pPr lvl="0"/>
            <a:r>
              <a:rPr lang="en-IN" sz="2400" dirty="0">
                <a:solidFill>
                  <a:schemeClr val="tx1"/>
                </a:solidFill>
              </a:rPr>
              <a:t>Plotly Dash Dashboard </a:t>
            </a:r>
          </a:p>
          <a:p>
            <a:pPr lvl="0"/>
            <a:r>
              <a:rPr lang="en-IN" sz="2400" dirty="0">
                <a:solidFill>
                  <a:schemeClr val="tx1"/>
                </a:solidFill>
              </a:rPr>
              <a:t>Confusion Matrix (Model Evaluation)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A59009-3D5A-F6B4-540B-109E6E6FD047}"/>
              </a:ext>
            </a:extLst>
          </p:cNvPr>
          <p:cNvSpPr txBox="1"/>
          <p:nvPr/>
        </p:nvSpPr>
        <p:spPr>
          <a:xfrm>
            <a:off x="5334000" y="4985657"/>
            <a:ext cx="6498771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GitHub Repository:</a:t>
            </a:r>
          </a:p>
          <a:p>
            <a:pPr algn="ctr"/>
            <a:endParaRPr lang="en-US" b="1" dirty="0"/>
          </a:p>
          <a:p>
            <a:pPr algn="ctr"/>
            <a:r>
              <a:rPr lang="en-IN" sz="140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IN" sz="1400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50288744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369813-A814-1BC2-62A6-93F767A712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39510"/>
            <a:ext cx="10515600" cy="1300751"/>
          </a:xfrm>
        </p:spPr>
        <p:txBody>
          <a:bodyPr/>
          <a:lstStyle/>
          <a:p>
            <a:pPr algn="ctr"/>
            <a:r>
              <a:rPr lang="en-IN" dirty="0"/>
              <a:t>Interactive Dashboard (Plotly Dash)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E195187-D8E7-1445-177F-C01F1184E15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1891862"/>
            <a:ext cx="7273160" cy="366113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A81C8C4-68A1-2EE2-5BB7-1D90EA1B7AB5}"/>
              </a:ext>
            </a:extLst>
          </p:cNvPr>
          <p:cNvSpPr txBox="1"/>
          <p:nvPr/>
        </p:nvSpPr>
        <p:spPr>
          <a:xfrm>
            <a:off x="304800" y="1305004"/>
            <a:ext cx="6968360" cy="899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b="1" dirty="0"/>
              <a:t>Total Success Launches by All Sites (Pie Chart)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F716A18-9365-1CC9-E029-E790959521D5}"/>
              </a:ext>
            </a:extLst>
          </p:cNvPr>
          <p:cNvSpPr txBox="1"/>
          <p:nvPr/>
        </p:nvSpPr>
        <p:spPr>
          <a:xfrm>
            <a:off x="7525406" y="1524000"/>
            <a:ext cx="4666593" cy="45550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Key Findings:</a:t>
            </a:r>
          </a:p>
          <a:p>
            <a:endParaRPr lang="en-IN" b="1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/>
              <a:t>Interactive dashboard developed using Plotly Dash.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/>
              <a:t>Displays successful launches across all launch sites.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/>
              <a:t>KSC LC-39A recorded the highest number of successful launches.</a:t>
            </a:r>
          </a:p>
          <a:p>
            <a:endParaRPr lang="en-IN" b="1" dirty="0"/>
          </a:p>
          <a:p>
            <a:pPr algn="ctr"/>
            <a:r>
              <a:rPr lang="en-IN" b="1" dirty="0"/>
              <a:t>GitHub Repository:</a:t>
            </a:r>
          </a:p>
          <a:p>
            <a:pPr algn="ctr"/>
            <a:endParaRPr lang="en-IN" b="1" dirty="0"/>
          </a:p>
          <a:p>
            <a:pPr algn="ctr"/>
            <a:r>
              <a:rPr lang="en-IN" sz="160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IN" sz="1600" dirty="0"/>
          </a:p>
          <a:p>
            <a:endParaRPr lang="en-IN" b="1" dirty="0"/>
          </a:p>
          <a:p>
            <a:endParaRPr lang="en-IN" b="1" dirty="0"/>
          </a:p>
          <a:p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367368242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7BCB6F-FDDE-4983-F5C9-64134F73AA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8166"/>
            <a:ext cx="10515600" cy="1103585"/>
          </a:xfrm>
        </p:spPr>
        <p:txBody>
          <a:bodyPr>
            <a:normAutofit/>
          </a:bodyPr>
          <a:lstStyle/>
          <a:p>
            <a:pPr algn="ctr"/>
            <a:r>
              <a:rPr lang="en-IN" dirty="0"/>
              <a:t>Launch Site Analysis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02A1914-EB1F-F6D5-D0EA-9612FBDD355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3333" y="2090770"/>
            <a:ext cx="6378184" cy="372330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31438A3-4C72-BAC9-E68E-5A5A41E90A9F}"/>
              </a:ext>
            </a:extLst>
          </p:cNvPr>
          <p:cNvSpPr txBox="1"/>
          <p:nvPr/>
        </p:nvSpPr>
        <p:spPr>
          <a:xfrm>
            <a:off x="641131" y="1450428"/>
            <a:ext cx="52446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400" b="1" dirty="0"/>
              <a:t>KSC LC-39A: Success vs Failure</a:t>
            </a:r>
            <a:endParaRPr lang="en-IN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7280D13-CE90-B962-BD21-B43E71A82956}"/>
              </a:ext>
            </a:extLst>
          </p:cNvPr>
          <p:cNvSpPr txBox="1"/>
          <p:nvPr/>
        </p:nvSpPr>
        <p:spPr>
          <a:xfrm>
            <a:off x="7052441" y="1545021"/>
            <a:ext cx="5055476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Key Findings:</a:t>
            </a:r>
            <a:endParaRPr lang="en-IN" b="1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Payload mass is compared with launch success.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Different colors represent booster versions.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The dashboard allows interactive payload range filtering.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The visualization helps identify payload-related launch patterns.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endParaRPr lang="en-IN" b="1" dirty="0"/>
          </a:p>
          <a:p>
            <a:endParaRPr lang="en-IN" b="1" dirty="0"/>
          </a:p>
          <a:p>
            <a:pPr algn="ctr"/>
            <a:r>
              <a:rPr lang="en-IN" b="1" dirty="0"/>
              <a:t>GitHub Repository:</a:t>
            </a:r>
          </a:p>
          <a:p>
            <a:pPr algn="ctr"/>
            <a:endParaRPr lang="en-IN" b="1" dirty="0"/>
          </a:p>
          <a:p>
            <a:pPr algn="ctr"/>
            <a:r>
              <a:rPr lang="en-IN" sz="1600" dirty="0">
                <a:solidFill>
                  <a:srgbClr val="0072C3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IN" sz="1600" dirty="0">
              <a:solidFill>
                <a:srgbClr val="0072C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7022606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CE5FB-429A-F315-DCE0-C13A1100F4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48668"/>
          </a:xfrm>
        </p:spPr>
        <p:txBody>
          <a:bodyPr>
            <a:normAutofit/>
          </a:bodyPr>
          <a:lstStyle/>
          <a:p>
            <a:pPr algn="ctr"/>
            <a:r>
              <a:rPr lang="en-IN" dirty="0"/>
              <a:t>Interactive Launch Site Map (Folium)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7D86E98-4263-2F1D-5287-315E04DC56F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-1" y="1833019"/>
            <a:ext cx="5875284" cy="418940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9413E06-F946-BEBE-D121-BE68ED4BE8E5}"/>
              </a:ext>
            </a:extLst>
          </p:cNvPr>
          <p:cNvSpPr txBox="1"/>
          <p:nvPr/>
        </p:nvSpPr>
        <p:spPr>
          <a:xfrm>
            <a:off x="268014" y="1342574"/>
            <a:ext cx="50922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400" b="1" dirty="0"/>
              <a:t>Launch Site Distribution (Folium)</a:t>
            </a:r>
            <a:endParaRPr lang="en-IN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3CE726F-C34A-346B-82B1-9374006BC031}"/>
              </a:ext>
            </a:extLst>
          </p:cNvPr>
          <p:cNvSpPr txBox="1"/>
          <p:nvPr/>
        </p:nvSpPr>
        <p:spPr>
          <a:xfrm>
            <a:off x="5948855" y="1314189"/>
            <a:ext cx="5975131" cy="49859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/>
              <a:t>Key Findings: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/>
              <a:t>Visualized Falcon 9 launch sites using Folium.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/>
              <a:t>Interactive markers display launch site locations and launch counts.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CCAFS SLC-40 recorded the highest number of Falcon 9 launches, indicating it was the most active launch site.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/>
              <a:t>Geographic analysis helped compare launch site distribution.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Location-based visualization helped identify launch site patterns and supported predictive analysis.</a:t>
            </a:r>
            <a:endParaRPr lang="en-US" b="1" dirty="0"/>
          </a:p>
          <a:p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4106047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20697E-E9ED-A44D-FEBB-F5AA6CFBC9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261241"/>
          </a:xfrm>
        </p:spPr>
        <p:txBody>
          <a:bodyPr/>
          <a:lstStyle/>
          <a:p>
            <a:pPr algn="ctr"/>
            <a:r>
              <a:rPr lang="en-IN" dirty="0"/>
              <a:t>Payload Analysis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D4804D26-1F0B-5B1C-791A-1306305740A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2122300"/>
            <a:ext cx="7420302" cy="337382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27E8BA3-6A6E-E744-C144-36D5F640DA76}"/>
              </a:ext>
            </a:extLst>
          </p:cNvPr>
          <p:cNvSpPr txBox="1"/>
          <p:nvPr/>
        </p:nvSpPr>
        <p:spPr>
          <a:xfrm>
            <a:off x="241738" y="1460938"/>
            <a:ext cx="68947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400" b="1" dirty="0"/>
              <a:t>Payload vs Launch Success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9292C6-04FE-466A-2AA9-2884D4A0E718}"/>
              </a:ext>
            </a:extLst>
          </p:cNvPr>
          <p:cNvSpPr txBox="1"/>
          <p:nvPr/>
        </p:nvSpPr>
        <p:spPr>
          <a:xfrm>
            <a:off x="7420302" y="1460938"/>
            <a:ext cx="4771697" cy="42165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Key Findings: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Shows the relationship between payload mass and launch success.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Interactive payload range slider enables dynamic filtering.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Different booster versions are represented by different colors.</a:t>
            </a:r>
          </a:p>
          <a:p>
            <a:endParaRPr lang="en-IN" sz="2400" b="1" dirty="0"/>
          </a:p>
          <a:p>
            <a:pPr algn="ctr"/>
            <a:r>
              <a:rPr lang="en-IN" sz="2000" b="1" dirty="0"/>
              <a:t>GitHub Repository:</a:t>
            </a:r>
          </a:p>
          <a:p>
            <a:pPr algn="ctr"/>
            <a:endParaRPr lang="en-IN" sz="2400" b="1" dirty="0"/>
          </a:p>
          <a:p>
            <a:pPr algn="ctr"/>
            <a:r>
              <a:rPr lang="en-IN" sz="1600" dirty="0">
                <a:solidFill>
                  <a:srgbClr val="0072C3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IN" sz="1600" dirty="0">
              <a:solidFill>
                <a:srgbClr val="0072C3"/>
              </a:solidFill>
            </a:endParaRPr>
          </a:p>
          <a:p>
            <a:endParaRPr lang="en-IN" sz="2400" b="1" dirty="0"/>
          </a:p>
        </p:txBody>
      </p:sp>
    </p:spTree>
    <p:extLst>
      <p:ext uri="{BB962C8B-B14F-4D97-AF65-F5344CB8AC3E}">
        <p14:creationId xmlns:p14="http://schemas.microsoft.com/office/powerpoint/2010/main" val="256556838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66390B-BCF3-2BD1-8DB7-8DC8D46419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Conclusion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0FE341-37B6-1A7A-43AB-27E7F7AFAEA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0" y="1600200"/>
            <a:ext cx="6019800" cy="4572000"/>
          </a:xfrm>
        </p:spPr>
        <p:txBody>
          <a:bodyPr>
            <a:normAutofit/>
          </a:bodyPr>
          <a:lstStyle/>
          <a:p>
            <a:r>
              <a:rPr lang="en-IN" b="1" dirty="0"/>
              <a:t>Key Takeaways</a:t>
            </a:r>
          </a:p>
          <a:p>
            <a:r>
              <a:rPr lang="en-IN" sz="2400" dirty="0"/>
              <a:t>The analysis identified several factors that influence </a:t>
            </a:r>
            <a:r>
              <a:rPr lang="en-IN" sz="2400" b="1" dirty="0"/>
              <a:t>SpaceX Falcon 9 landing success</a:t>
            </a:r>
            <a:r>
              <a:rPr lang="en-IN" sz="2400" dirty="0"/>
              <a:t>.</a:t>
            </a:r>
          </a:p>
          <a:p>
            <a:r>
              <a:rPr lang="en-IN" sz="2400" b="1" dirty="0"/>
              <a:t>Flight Number</a:t>
            </a:r>
            <a:r>
              <a:rPr lang="en-IN" sz="2400" dirty="0"/>
              <a:t> showed a positive relationship with landing success, indicating improved performance over time.</a:t>
            </a:r>
          </a:p>
          <a:p>
            <a:r>
              <a:rPr lang="en-IN" sz="2400" dirty="0"/>
              <a:t>Payload mass, orbit type, and launch site were key factors influencing landing success.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94C101-A308-275B-9441-A1EEAF8E05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600200"/>
            <a:ext cx="6019799" cy="4572000"/>
          </a:xfrm>
        </p:spPr>
        <p:txBody>
          <a:bodyPr>
            <a:normAutofit/>
          </a:bodyPr>
          <a:lstStyle/>
          <a:p>
            <a:r>
              <a:rPr lang="en-IN" b="1" dirty="0"/>
              <a:t>Overall Findings</a:t>
            </a:r>
          </a:p>
          <a:p>
            <a:r>
              <a:rPr lang="en-IN" sz="2400" dirty="0"/>
              <a:t>Landing success rates improved significantly over time, reaching their highest levels by 2019 and remaining consistently high thereafter.</a:t>
            </a:r>
          </a:p>
          <a:p>
            <a:r>
              <a:rPr lang="en-IN" sz="2400" dirty="0"/>
              <a:t>Historical launch data provides valuable insights into Falcon 9 landing success and supports data-driven decision-making.</a:t>
            </a:r>
          </a:p>
        </p:txBody>
      </p:sp>
    </p:spTree>
    <p:extLst>
      <p:ext uri="{BB962C8B-B14F-4D97-AF65-F5344CB8AC3E}">
        <p14:creationId xmlns:p14="http://schemas.microsoft.com/office/powerpoint/2010/main" val="239867172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E8291F-E27C-74F8-33D3-FF131FC968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BB7D73-872E-CFE8-1C38-8422F38386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IN" dirty="0"/>
              <a:t>GITHUB REPOSITORY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C64183-B387-01E7-21BA-4DA6B1F51815}"/>
              </a:ext>
            </a:extLst>
          </p:cNvPr>
          <p:cNvSpPr txBox="1">
            <a:spLocks/>
          </p:cNvSpPr>
          <p:nvPr/>
        </p:nvSpPr>
        <p:spPr>
          <a:xfrm>
            <a:off x="4285075" y="3142210"/>
            <a:ext cx="7068725" cy="25692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IN" sz="2000" b="1" dirty="0"/>
              <a:t>GitHub Repository</a:t>
            </a:r>
            <a:endParaRPr lang="en-US" sz="2200" b="1" u="sng" dirty="0">
              <a:solidFill>
                <a:srgbClr val="0072C3"/>
              </a:solidFill>
              <a:hlinkClick r:id="rId3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 marL="0" indent="0">
              <a:buNone/>
            </a:pPr>
            <a:r>
              <a:rPr lang="en-US" sz="2200" u="sng" dirty="0">
                <a:solidFill>
                  <a:srgbClr val="0072C3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US" sz="2200" u="sng" dirty="0">
              <a:solidFill>
                <a:srgbClr val="0072C3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79822F7-4A79-5E92-9C6D-8A9769182E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" y="1901819"/>
            <a:ext cx="4131836" cy="380963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7521984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D1598F-DBE3-7B78-D1F9-0BA7F7DC75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34A3B939-6057-23B6-25B3-E33A2D205C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pPr algn="ctr"/>
            <a:r>
              <a:rPr lang="en-US" dirty="0"/>
              <a:t>APPENDIX</a:t>
            </a:r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8E40FF55-AE57-CB43-454D-CEFBE080CE8E}"/>
              </a:ext>
            </a:extLst>
          </p:cNvPr>
          <p:cNvSpPr txBox="1">
            <a:spLocks/>
          </p:cNvSpPr>
          <p:nvPr/>
        </p:nvSpPr>
        <p:spPr>
          <a:xfrm>
            <a:off x="4544291" y="1589314"/>
            <a:ext cx="7300868" cy="315685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b="1" dirty="0"/>
              <a:t>Additional Analysis</a:t>
            </a:r>
            <a:endParaRPr lang="en-IN" dirty="0"/>
          </a:p>
          <a:p>
            <a:pPr lvl="0"/>
            <a:r>
              <a:rPr lang="en-IN" sz="2400" dirty="0"/>
              <a:t>SQL query outputs used for exploratory analysis. </a:t>
            </a:r>
          </a:p>
          <a:p>
            <a:pPr lvl="0"/>
            <a:r>
              <a:rPr lang="en-IN" sz="2400" dirty="0"/>
              <a:t>Interactive Plotly Dash dashboard for exploratory data analysis.</a:t>
            </a:r>
          </a:p>
          <a:p>
            <a:pPr lvl="0"/>
            <a:r>
              <a:rPr lang="en-IN" sz="2400" dirty="0"/>
              <a:t>Folium map showing launch site proximity. </a:t>
            </a:r>
          </a:p>
          <a:p>
            <a:pPr lvl="0"/>
            <a:r>
              <a:rPr lang="en-IN" sz="2400" dirty="0"/>
              <a:t>Additional EDA charts supporting model development.</a:t>
            </a:r>
          </a:p>
        </p:txBody>
      </p:sp>
      <p:pic>
        <p:nvPicPr>
          <p:cNvPr id="11" name="Content Placeholder 3">
            <a:extLst>
              <a:ext uri="{FF2B5EF4-FFF2-40B4-BE49-F238E27FC236}">
                <a16:creationId xmlns:a16="http://schemas.microsoft.com/office/drawing/2014/main" id="{E8E550E5-7A15-A106-D083-8C1433A790A1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4"/>
          <a:stretch>
            <a:fillRect/>
          </a:stretch>
        </p:blipFill>
        <p:spPr>
          <a:xfrm>
            <a:off x="168166" y="1682804"/>
            <a:ext cx="4035972" cy="427656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3EC41F8-6A38-74E6-2697-E8E27733B4D6}"/>
              </a:ext>
            </a:extLst>
          </p:cNvPr>
          <p:cNvSpPr txBox="1"/>
          <p:nvPr/>
        </p:nvSpPr>
        <p:spPr>
          <a:xfrm>
            <a:off x="4865914" y="4963886"/>
            <a:ext cx="648788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b="1" dirty="0"/>
              <a:t>GitHub Repository:</a:t>
            </a:r>
          </a:p>
          <a:p>
            <a:pPr algn="ctr"/>
            <a:endParaRPr lang="en-IN" b="1" dirty="0"/>
          </a:p>
          <a:p>
            <a:pPr algn="ctr"/>
            <a:r>
              <a:rPr lang="en-IN" sz="1400" dirty="0"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IN" sz="1400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86015865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F851AAAE-35F9-B79F-6905-4E8B93B93625}"/>
              </a:ext>
            </a:extLst>
          </p:cNvPr>
          <p:cNvSpPr txBox="1"/>
          <p:nvPr/>
        </p:nvSpPr>
        <p:spPr>
          <a:xfrm>
            <a:off x="0" y="-12312"/>
            <a:ext cx="12192000" cy="76328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IN" dirty="0"/>
          </a:p>
          <a:p>
            <a:pPr algn="ctr"/>
            <a:r>
              <a:rPr lang="en-US" sz="9600" dirty="0"/>
              <a:t>Thank You!</a:t>
            </a:r>
          </a:p>
          <a:p>
            <a:endParaRPr lang="en-US" dirty="0"/>
          </a:p>
          <a:p>
            <a:endParaRPr lang="en-US" sz="3200" dirty="0"/>
          </a:p>
          <a:p>
            <a:endParaRPr lang="en-US" sz="3200" dirty="0"/>
          </a:p>
          <a:p>
            <a:endParaRPr lang="en-US" sz="3200" dirty="0"/>
          </a:p>
          <a:p>
            <a:pPr algn="ctr"/>
            <a:r>
              <a:rPr lang="en-US" sz="3000" dirty="0"/>
              <a:t>IBM Data Science Professional Certificate </a:t>
            </a:r>
          </a:p>
          <a:p>
            <a:pPr algn="ctr"/>
            <a:r>
              <a:rPr lang="en-US" sz="3000" dirty="0"/>
              <a:t>Capstone Project</a:t>
            </a:r>
            <a:endParaRPr lang="en-IN" sz="3000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341100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COUNT" val="18"/>
  <p:tag name="ARTICULATE_DESIGN_ID_SLIDE_TEMPLATE_SKILL_NETWORK" val="762xjmeN"/>
  <p:tag name="ARTICULATE_DESIGN_ID_IBM DEVELOPER 2018 WHITE BACKGROUND" val="AcyDFp8V"/>
  <p:tag name="ARTICULATE_SLIDE_THUMBNAIL_REFRESH" val="1"/>
  <p:tag name="ARTICULATE_PROJECT_OPEN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heme/theme1.xml><?xml version="1.0" encoding="utf-8"?>
<a:theme xmlns:a="http://schemas.openxmlformats.org/drawingml/2006/main" name="SLIDE_TEMPLATE_skill_network">
  <a:themeElements>
    <a:clrScheme name="IBM Skills Network">
      <a:dk1>
        <a:srgbClr val="262626"/>
      </a:dk1>
      <a:lt1>
        <a:srgbClr val="525252"/>
      </a:lt1>
      <a:dk2>
        <a:srgbClr val="FFFFFF"/>
      </a:dk2>
      <a:lt2>
        <a:srgbClr val="FFFFFF"/>
      </a:lt2>
      <a:accent1>
        <a:srgbClr val="6C4DEA"/>
      </a:accent1>
      <a:accent2>
        <a:srgbClr val="82CFFF"/>
      </a:accent2>
      <a:accent3>
        <a:srgbClr val="FF7EB6"/>
      </a:accent3>
      <a:accent4>
        <a:srgbClr val="3DDBD9"/>
      </a:accent4>
      <a:accent5>
        <a:srgbClr val="5B9BD5"/>
      </a:accent5>
      <a:accent6>
        <a:srgbClr val="525252"/>
      </a:accent6>
      <a:hlink>
        <a:srgbClr val="C1C7CD"/>
      </a:hlink>
      <a:folHlink>
        <a:srgbClr val="DA1E28"/>
      </a:folHlink>
    </a:clrScheme>
    <a:fontScheme name="IBM Skills Network">
      <a:majorFont>
        <a:latin typeface="IBM Plex Sans SemiBold"/>
        <a:ea typeface=""/>
        <a:cs typeface=""/>
      </a:majorFont>
      <a:minorFont>
        <a:latin typeface="IBM Plex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BM Skills Network PPT Template 01.2023.pptx" id="{565886F7-76CC-4370-877F-2511E1EB1B28}" vid="{AD061E48-3596-4052-9172-46F1919207B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ECD86F56755A646AC8AFCBCBD967F21" ma:contentTypeVersion="19" ma:contentTypeDescription="Create a new document." ma:contentTypeScope="" ma:versionID="d7279d4efbac013e02c1e816bc7f7c13">
  <xsd:schema xmlns:xsd="http://www.w3.org/2001/XMLSchema" xmlns:xs="http://www.w3.org/2001/XMLSchema" xmlns:p="http://schemas.microsoft.com/office/2006/metadata/properties" xmlns:ns2="155be751-a274-42e8-93fb-f39d3b9bccc8" xmlns:ns3="f80a141d-92ca-4d3d-9308-f7e7b1d44ce8" targetNamespace="http://schemas.microsoft.com/office/2006/metadata/properties" ma:root="true" ma:fieldsID="0a3fd1dbe83fc08387abb87098562ef0" ns2:_="" ns3:_="">
    <xsd:import namespace="155be751-a274-42e8-93fb-f39d3b9bccc8"/>
    <xsd:import namespace="f80a141d-92ca-4d3d-9308-f7e7b1d44ce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AWBlink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55be751-a274-42e8-93fb-f39d3b9bccc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ternalName="MediaServiceLocation" ma:readOnly="true">
      <xsd:simpleType>
        <xsd:restriction base="dms:Text"/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1bfc8dc1-ab14-4a6b-8a4a-9f7f0b948a9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AWBlink" ma:index="25" nillable="true" ma:displayName="AWB link" ma:description="Author Workbench link" ma:format="Dropdown" ma:internalName="AWBlink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80a141d-92ca-4d3d-9308-f7e7b1d44ce8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02edd55d-11a0-43df-8094-42adcb6055ca}" ma:internalName="TaxCatchAll" ma:showField="CatchAllData" ma:web="f80a141d-92ca-4d3d-9308-f7e7b1d44ce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155be751-a274-42e8-93fb-f39d3b9bccc8">
      <Terms xmlns="http://schemas.microsoft.com/office/infopath/2007/PartnerControls"/>
    </lcf76f155ced4ddcb4097134ff3c332f>
    <TaxCatchAll xmlns="f80a141d-92ca-4d3d-9308-f7e7b1d44ce8" xsi:nil="true"/>
    <AWBlink xmlns="155be751-a274-42e8-93fb-f39d3b9bccc8" xsi:nil="true"/>
  </documentManagement>
</p:properties>
</file>

<file path=customXml/itemProps1.xml><?xml version="1.0" encoding="utf-8"?>
<ds:datastoreItem xmlns:ds="http://schemas.openxmlformats.org/officeDocument/2006/customXml" ds:itemID="{7EFDA260-DDA0-422C-B7AE-778F653FBB3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EAB06F8-DBB4-44C7-AF84-8B098C8B039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55be751-a274-42e8-93fb-f39d3b9bccc8"/>
    <ds:schemaRef ds:uri="f80a141d-92ca-4d3d-9308-f7e7b1d44ce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54DA07C5-A406-4A0D-B3E6-3856C94AC7F3}">
  <ds:schemaRefs>
    <ds:schemaRef ds:uri="f80a141d-92ca-4d3d-9308-f7e7b1d44ce8"/>
    <ds:schemaRef ds:uri="http://purl.org/dc/elements/1.1/"/>
    <ds:schemaRef ds:uri="155be751-a274-42e8-93fb-f39d3b9bccc8"/>
    <ds:schemaRef ds:uri="http://purl.org/dc/terms/"/>
    <ds:schemaRef ds:uri="http://schemas.openxmlformats.org/package/2006/metadata/core-properties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IBM PPT Temp Jan 2023</Template>
  <TotalTime>2018</TotalTime>
  <Words>2320</Words>
  <Application>Microsoft Office PowerPoint</Application>
  <PresentationFormat>Widescreen</PresentationFormat>
  <Paragraphs>314</Paragraphs>
  <Slides>34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1" baseType="lpstr">
      <vt:lpstr>Arial</vt:lpstr>
      <vt:lpstr>Calibri</vt:lpstr>
      <vt:lpstr>Helv</vt:lpstr>
      <vt:lpstr>IBM Plex Mono</vt:lpstr>
      <vt:lpstr>IBM Plex Sans</vt:lpstr>
      <vt:lpstr>IBM Plex Sans SemiBold</vt:lpstr>
      <vt:lpstr>SLIDE_TEMPLATE_skill_network</vt:lpstr>
      <vt:lpstr>SpaceX Falcon 9 First Stage Landing Prediction</vt:lpstr>
      <vt:lpstr>PowerPoint Presentation</vt:lpstr>
      <vt:lpstr>Executive Summary</vt:lpstr>
      <vt:lpstr>Introduction</vt:lpstr>
      <vt:lpstr>Methodology</vt:lpstr>
      <vt:lpstr>Data Collection using SpaceX API</vt:lpstr>
      <vt:lpstr>Data Collection using Wikipedia Web Scraping </vt:lpstr>
      <vt:lpstr> Data Wrangling</vt:lpstr>
      <vt:lpstr>EDA using Visualizations</vt:lpstr>
      <vt:lpstr>EDA using SQL</vt:lpstr>
      <vt:lpstr>Interactive Visual Analytics (Folium &amp; Plotly Dash)</vt:lpstr>
      <vt:lpstr>Predictive Analysis</vt:lpstr>
      <vt:lpstr>EDA Using SQL Queries (Part 1)</vt:lpstr>
      <vt:lpstr>EDA Using SQL Queries (Part 2)</vt:lpstr>
      <vt:lpstr>Results</vt:lpstr>
      <vt:lpstr>Flight Number vs. Launch Site</vt:lpstr>
      <vt:lpstr>Payload Mass vs. Launch Site</vt:lpstr>
      <vt:lpstr>Success Rate by Orbit </vt:lpstr>
      <vt:lpstr>Flight Number vs. Orbit</vt:lpstr>
      <vt:lpstr>Payload Mass vs. Orbit </vt:lpstr>
      <vt:lpstr>Yearly Launch Success Trend</vt:lpstr>
      <vt:lpstr>Model Evaluation – Confusion Matrix</vt:lpstr>
      <vt:lpstr>Landing Success by Launch Site</vt:lpstr>
      <vt:lpstr>Launch Site Proximity Analysis (CCAFS)</vt:lpstr>
      <vt:lpstr>SPACEX FALCON 9 – FINDINGS &amp; IMPLICATIONS</vt:lpstr>
      <vt:lpstr>Results – Visualizations &amp; Dashboard</vt:lpstr>
      <vt:lpstr>Interactive Dashboard (Plotly Dash)</vt:lpstr>
      <vt:lpstr>Launch Site Analysis</vt:lpstr>
      <vt:lpstr>Interactive Launch Site Map (Folium)</vt:lpstr>
      <vt:lpstr>Payload Analysis</vt:lpstr>
      <vt:lpstr>Conclusion </vt:lpstr>
      <vt:lpstr>GITHUB REPOSITORY</vt:lpstr>
      <vt:lpstr>APPENDIX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Tori Sleeper</dc:creator>
  <cp:lastModifiedBy>Satish Thakur</cp:lastModifiedBy>
  <cp:revision>141</cp:revision>
  <dcterms:created xsi:type="dcterms:W3CDTF">2024-10-30T05:40:03Z</dcterms:created>
  <dcterms:modified xsi:type="dcterms:W3CDTF">2026-08-03T17:56:24Z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0x010100EECD86F56755A646AC8AFCBCBD967F21</vt:lpwstr>
  </property>
  <property fmtid="{D5CDD505-2E9C-101B-9397-08002B2CF9AE}" pid="3" name="MediaServiceImageTags">
    <vt:lpwstr/>
  </property>
  <property fmtid="{D5CDD505-2E9C-101B-9397-08002B2CF9AE}" pid="4" name="ArticulateGUID">
    <vt:lpwstr>07C438A6-8092-445C-AC0D-AE1422093206</vt:lpwstr>
  </property>
  <property fmtid="{D5CDD505-2E9C-101B-9397-08002B2CF9AE}" pid="5" name="ArticulatePath">
    <vt:lpwstr>https://skilluptech.sharepoint.com/sites/Coursera/Shared Documents/General/PPT template/IBM Skills Network PPT Template 01.2023</vt:lpwstr>
  </property>
</Properties>
</file>