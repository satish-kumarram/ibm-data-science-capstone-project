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13.xml" ContentType="application/vnd.openxmlformats-officedocument.presentationml.tags+xml"/>
  <Override PartName="/ppt/notesSlides/notesSlide10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8"/>
  </p:notesMasterIdLst>
  <p:sldIdLst>
    <p:sldId id="256" r:id="rId5"/>
    <p:sldId id="288" r:id="rId6"/>
    <p:sldId id="258" r:id="rId7"/>
    <p:sldId id="259" r:id="rId8"/>
    <p:sldId id="260" r:id="rId9"/>
    <p:sldId id="261" r:id="rId10"/>
    <p:sldId id="278" r:id="rId11"/>
    <p:sldId id="283" r:id="rId12"/>
    <p:sldId id="277" r:id="rId13"/>
    <p:sldId id="284" r:id="rId14"/>
    <p:sldId id="285" r:id="rId15"/>
    <p:sldId id="286" r:id="rId16"/>
    <p:sldId id="281" r:id="rId17"/>
    <p:sldId id="280" r:id="rId18"/>
    <p:sldId id="287" r:id="rId19"/>
    <p:sldId id="263" r:id="rId20"/>
    <p:sldId id="264" r:id="rId21"/>
    <p:sldId id="282" r:id="rId22"/>
    <p:sldId id="265" r:id="rId23"/>
    <p:sldId id="266" r:id="rId24"/>
    <p:sldId id="270" r:id="rId25"/>
    <p:sldId id="272" r:id="rId26"/>
    <p:sldId id="273" r:id="rId27"/>
  </p:sldIdLst>
  <p:sldSz cx="12192000" cy="6858000"/>
  <p:notesSz cx="6858000" cy="1857375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054FF21-EC98-4CE8-8061-B6A003B18E50}">
          <p14:sldIdLst>
            <p14:sldId id="256"/>
            <p14:sldId id="288"/>
            <p14:sldId id="258"/>
            <p14:sldId id="259"/>
            <p14:sldId id="260"/>
            <p14:sldId id="261"/>
            <p14:sldId id="278"/>
            <p14:sldId id="283"/>
            <p14:sldId id="277"/>
            <p14:sldId id="284"/>
            <p14:sldId id="285"/>
            <p14:sldId id="286"/>
            <p14:sldId id="281"/>
            <p14:sldId id="280"/>
            <p14:sldId id="287"/>
            <p14:sldId id="263"/>
            <p14:sldId id="264"/>
            <p14:sldId id="282"/>
            <p14:sldId id="265"/>
            <p14:sldId id="266"/>
            <p14:sldId id="270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33B1FF"/>
    <a:srgbClr val="007D79"/>
    <a:srgbClr val="D02670"/>
    <a:srgbClr val="231F20"/>
    <a:srgbClr val="262626"/>
    <a:srgbClr val="525252"/>
    <a:srgbClr val="BE95FF"/>
    <a:srgbClr val="FFFF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 autoAdjust="0"/>
    <p:restoredTop sz="91480" autoAdjust="0"/>
  </p:normalViewPr>
  <p:slideViewPr>
    <p:cSldViewPr snapToGrid="0">
      <p:cViewPr>
        <p:scale>
          <a:sx n="70" d="100"/>
          <a:sy n="70" d="100"/>
        </p:scale>
        <p:origin x="38" y="202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commentAuthors" Target="commentAuthors.xml"/><Relationship Id="rId35" Type="http://schemas.microsoft.com/office/2018/10/relationships/authors" Target="authors.xml"/><Relationship Id="rId8" Type="http://schemas.openxmlformats.org/officeDocument/2006/relationships/slide" Target="slides/slide4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26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839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208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7228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3705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8179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6789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4036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731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7720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9108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419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38200" y="1364249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image" Target="../media/image6.png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7.png"/><Relationship Id="rId15" Type="http://schemas.openxmlformats.org/officeDocument/2006/relationships/hyperlink" Target="https://github.com/Satish-KumarRam/IBM-Data-Science-Capstone-Project" TargetMode="External"/><Relationship Id="rId10" Type="http://schemas.openxmlformats.org/officeDocument/2006/relationships/customXml" Target="../ink/ink5.xml"/><Relationship Id="rId4" Type="http://schemas.openxmlformats.org/officeDocument/2006/relationships/customXml" Target="../ink/ink1.xml"/><Relationship Id="rId9" Type="http://schemas.openxmlformats.org/officeDocument/2006/relationships/image" Target="../media/image8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4" Type="http://schemas.openxmlformats.org/officeDocument/2006/relationships/hyperlink" Target="https://github.com/Satish-KumarRam/IBM-Data-Science-Capstone-Project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/upload/main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image" Target="../media/image21.png"/><Relationship Id="rId4" Type="http://schemas.openxmlformats.org/officeDocument/2006/relationships/hyperlink" Target="https://github.com/Satish-KumarRam/IBM-Data-Science-Capstone-Project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Relationship Id="rId4" Type="http://schemas.openxmlformats.org/officeDocument/2006/relationships/hyperlink" Target="https://github.com/Satish-KumarRam/IBM-Data-Science-Capstone-Project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233681"/>
            <a:ext cx="7184720" cy="1777999"/>
          </a:xfrm>
          <a:noFill/>
        </p:spPr>
        <p:txBody>
          <a:bodyPr>
            <a:normAutofit fontScale="90000"/>
          </a:bodyPr>
          <a:lstStyle/>
          <a:p>
            <a:r>
              <a:rPr lang="en-IN" dirty="0"/>
              <a:t>SpaceX Falcon 9 First Stage Landing Prediction</a:t>
            </a:r>
            <a:endParaRPr lang="en-US" sz="1600" dirty="0">
              <a:solidFill>
                <a:srgbClr val="0072C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31247"/>
            <a:ext cx="7074692" cy="840753"/>
          </a:xfrm>
          <a:noFill/>
        </p:spPr>
        <p:txBody>
          <a:bodyPr>
            <a:noAutofit/>
          </a:bodyPr>
          <a:lstStyle/>
          <a:p>
            <a:r>
              <a:rPr lang="en-IN" b="1" dirty="0"/>
              <a:t>IBM Data Science Professional Certificate</a:t>
            </a:r>
            <a:br>
              <a:rPr lang="en-IN" dirty="0"/>
            </a:br>
            <a:r>
              <a:rPr lang="en-IN" b="1" dirty="0"/>
              <a:t>Capstone Project</a:t>
            </a:r>
          </a:p>
          <a:p>
            <a:endParaRPr lang="en-IN" b="1" dirty="0"/>
          </a:p>
          <a:p>
            <a:r>
              <a:rPr lang="en-IN" b="1" dirty="0"/>
              <a:t>Satish Kumar Ram</a:t>
            </a:r>
          </a:p>
          <a:p>
            <a:r>
              <a:rPr lang="en-IN" sz="1800" b="1" dirty="0"/>
              <a:t>01 August 2026     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E19822-A94B-3390-47E6-908CD50533E4}"/>
              </a:ext>
            </a:extLst>
          </p:cNvPr>
          <p:cNvSpPr txBox="1"/>
          <p:nvPr/>
        </p:nvSpPr>
        <p:spPr>
          <a:xfrm>
            <a:off x="489857" y="2329538"/>
            <a:ext cx="61939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DA0D6-819E-F3F9-D97B-1AA14A03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7CCC8A1-01EA-24FA-9310-CEBBC3CFB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89" y="1894174"/>
            <a:ext cx="4505605" cy="318945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24210998-3D1A-F46C-CC36-CAEAA08DE009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D78DA1-C8CA-F9E4-D103-A5E66840A01B}"/>
              </a:ext>
            </a:extLst>
          </p:cNvPr>
          <p:cNvSpPr txBox="1">
            <a:spLocks/>
          </p:cNvSpPr>
          <p:nvPr/>
        </p:nvSpPr>
        <p:spPr>
          <a:xfrm>
            <a:off x="6172199" y="1589373"/>
            <a:ext cx="4833257" cy="31894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IN" sz="3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14:cNvPr>
              <p14:cNvContentPartPr/>
              <p14:nvPr/>
            </p14:nvContentPartPr>
            <p14:xfrm>
              <a:off x="5800663" y="3934752"/>
              <a:ext cx="360" cy="3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0663" y="37547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F9AA929-A325-F4BA-690A-0FE40911FB85}"/>
              </a:ext>
            </a:extLst>
          </p:cNvPr>
          <p:cNvSpPr txBox="1"/>
          <p:nvPr/>
        </p:nvSpPr>
        <p:spPr>
          <a:xfrm>
            <a:off x="859971" y="489680"/>
            <a:ext cx="33745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525252"/>
                </a:solidFill>
                <a:latin typeface="IBM Plex Sans SemiBold" panose="020B0503050203000203" pitchFamily="34" charset="0"/>
              </a:rPr>
              <a:t>OUTLINE</a:t>
            </a:r>
            <a:endParaRPr lang="en-IN" sz="4000" b="1" dirty="0">
              <a:solidFill>
                <a:srgbClr val="525252"/>
              </a:solidFill>
              <a:latin typeface="IBM Plex Sans SemiBold" panose="020B050305020300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92ADE-DA61-C50A-02E8-5E658C03AFD5}"/>
              </a:ext>
            </a:extLst>
          </p:cNvPr>
          <p:cNvSpPr txBox="1"/>
          <p:nvPr/>
        </p:nvSpPr>
        <p:spPr>
          <a:xfrm>
            <a:off x="6680880" y="1589373"/>
            <a:ext cx="46957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Executive Summary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Introduction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Methodology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Results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Conclusion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Appendix</a:t>
            </a:r>
            <a:endParaRPr lang="en-IN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A1E3D6-7198-4E3F-82FC-DA27C57FA003}"/>
              </a:ext>
            </a:extLst>
          </p:cNvPr>
          <p:cNvSpPr txBox="1"/>
          <p:nvPr/>
        </p:nvSpPr>
        <p:spPr>
          <a:xfrm>
            <a:off x="4234543" y="5203371"/>
            <a:ext cx="729162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dirty="0"/>
          </a:p>
          <a:p>
            <a:pPr algn="ctr"/>
            <a:r>
              <a:rPr lang="en-IN" sz="1400" dirty="0"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793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3783725" y="1460938"/>
            <a:ext cx="8408276" cy="40581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800" b="1" dirty="0"/>
              <a:t>Objective</a:t>
            </a:r>
          </a:p>
          <a:p>
            <a:pPr lvl="0"/>
            <a:r>
              <a:rPr lang="en-IN" sz="1800" dirty="0"/>
              <a:t>Predict Falcon 9 first-stage landing success using historical launch data. </a:t>
            </a:r>
          </a:p>
          <a:p>
            <a:r>
              <a:rPr lang="en-IN" sz="1800" b="1" dirty="0"/>
              <a:t>Methodology Summary</a:t>
            </a:r>
          </a:p>
          <a:p>
            <a:pPr lvl="1"/>
            <a:r>
              <a:rPr lang="en-IN" sz="1600" dirty="0"/>
              <a:t>Data Collection through </a:t>
            </a:r>
            <a:r>
              <a:rPr lang="en-IN" sz="1600" b="1" dirty="0"/>
              <a:t>SpaceX REST API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Data Collection with </a:t>
            </a:r>
            <a:r>
              <a:rPr lang="en-IN" sz="1600" b="1" dirty="0"/>
              <a:t>Web Scraping (Wikipedia)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Data Wrangling </a:t>
            </a:r>
          </a:p>
          <a:p>
            <a:pPr lvl="1"/>
            <a:r>
              <a:rPr lang="en-IN" sz="1600" dirty="0"/>
              <a:t>Exploratory Data Analysis (</a:t>
            </a:r>
            <a:r>
              <a:rPr lang="en-IN" sz="1600" b="1" dirty="0"/>
              <a:t>Visualization &amp; SQL</a:t>
            </a:r>
            <a:r>
              <a:rPr lang="en-IN" sz="1600" dirty="0"/>
              <a:t>) </a:t>
            </a:r>
          </a:p>
          <a:p>
            <a:pPr lvl="1"/>
            <a:r>
              <a:rPr lang="en-IN" sz="1600" dirty="0"/>
              <a:t>Interactive Visual Analytics (</a:t>
            </a:r>
            <a:r>
              <a:rPr lang="en-IN" sz="1600" b="1" dirty="0"/>
              <a:t>Folium &amp; Plotly Dash</a:t>
            </a:r>
            <a:r>
              <a:rPr lang="en-IN" sz="1600" dirty="0"/>
              <a:t>) </a:t>
            </a:r>
          </a:p>
          <a:p>
            <a:pPr lvl="1"/>
            <a:r>
              <a:rPr lang="en-IN" sz="1600" dirty="0"/>
              <a:t>Predictive Analysis using Machine Learning</a:t>
            </a:r>
          </a:p>
          <a:p>
            <a:r>
              <a:rPr lang="en-IN" sz="1800" b="1" dirty="0"/>
              <a:t>Key Results</a:t>
            </a:r>
          </a:p>
          <a:p>
            <a:pPr lvl="1"/>
            <a:r>
              <a:rPr lang="en-IN" sz="1600" dirty="0"/>
              <a:t>Landing success increased over time. </a:t>
            </a:r>
          </a:p>
          <a:p>
            <a:pPr lvl="1"/>
            <a:r>
              <a:rPr lang="en-IN" sz="1600" dirty="0"/>
              <a:t>Payload mass, orbit, and launch site significantly affected landing success. </a:t>
            </a:r>
          </a:p>
          <a:p>
            <a:pPr lvl="1"/>
            <a:r>
              <a:rPr lang="en-IN" sz="1600" dirty="0"/>
              <a:t>The best machine learning model achieved the highest prediction accuracy.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021641"/>
            <a:ext cx="3783724" cy="3878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93BA98-7562-0C73-3F5F-21EF0490EE49}"/>
              </a:ext>
            </a:extLst>
          </p:cNvPr>
          <p:cNvSpPr txBox="1"/>
          <p:nvPr/>
        </p:nvSpPr>
        <p:spPr>
          <a:xfrm>
            <a:off x="2993571" y="5627914"/>
            <a:ext cx="657497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021" y="2262036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3983421" y="1450427"/>
            <a:ext cx="7840717" cy="48959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200" b="1" dirty="0">
                <a:solidFill>
                  <a:schemeClr val="tx1"/>
                </a:solidFill>
              </a:rPr>
              <a:t>Project Background:</a:t>
            </a:r>
            <a:r>
              <a:rPr lang="en-IN" sz="2200" dirty="0">
                <a:solidFill>
                  <a:schemeClr val="tx1"/>
                </a:solidFill>
              </a:rPr>
              <a:t> SpaceX reduces launch costs by successfully recovering and reusing Falcon 9 first-stage boosters, making launches more efficient and cost-effective. </a:t>
            </a:r>
          </a:p>
          <a:p>
            <a:pPr lvl="0"/>
            <a:r>
              <a:rPr lang="en-IN" sz="2400" b="1" dirty="0">
                <a:solidFill>
                  <a:schemeClr val="tx1"/>
                </a:solidFill>
              </a:rPr>
              <a:t>Problem Statement</a:t>
            </a:r>
            <a:r>
              <a:rPr lang="en-IN" sz="2200" b="1" dirty="0">
                <a:solidFill>
                  <a:schemeClr val="tx1"/>
                </a:solidFill>
              </a:rPr>
              <a:t>:</a:t>
            </a:r>
            <a:r>
              <a:rPr lang="en-IN" sz="2200" dirty="0">
                <a:solidFill>
                  <a:schemeClr val="tx1"/>
                </a:solidFill>
              </a:rPr>
              <a:t> Predict whether the Falcon 9 first-stage landing will be successful before launch using historical mission data and machine learning techniques. </a:t>
            </a:r>
          </a:p>
          <a:p>
            <a:pPr lvl="0"/>
            <a:r>
              <a:rPr lang="en-IN" sz="2200" b="1" dirty="0">
                <a:solidFill>
                  <a:schemeClr val="tx1"/>
                </a:solidFill>
              </a:rPr>
              <a:t>Project Objective:</a:t>
            </a:r>
            <a:r>
              <a:rPr lang="en-IN" sz="2200" dirty="0">
                <a:solidFill>
                  <a:schemeClr val="tx1"/>
                </a:solidFill>
              </a:rPr>
              <a:t> Build, train, and evaluate machine learning classification models to predict Falcon 9 first-stage landing success using historical launch data. </a:t>
            </a:r>
          </a:p>
          <a:p>
            <a:pPr lvl="0"/>
            <a:r>
              <a:rPr lang="en-IN" sz="2200" b="1" dirty="0">
                <a:solidFill>
                  <a:schemeClr val="tx1"/>
                </a:solidFill>
              </a:rPr>
              <a:t>Data Sources:</a:t>
            </a:r>
          </a:p>
          <a:p>
            <a:pPr lvl="1"/>
            <a:r>
              <a:rPr lang="en-IN" sz="2000" b="1" dirty="0">
                <a:solidFill>
                  <a:schemeClr val="tx1"/>
                </a:solidFill>
              </a:rPr>
              <a:t>SpaceX REST API:</a:t>
            </a:r>
            <a:r>
              <a:rPr lang="en-IN" sz="2000" dirty="0">
                <a:solidFill>
                  <a:schemeClr val="tx1"/>
                </a:solidFill>
              </a:rPr>
              <a:t> Launch information, payload details, booster version, launch site, and mission outcomes. </a:t>
            </a:r>
          </a:p>
          <a:p>
            <a:pPr lvl="1"/>
            <a:r>
              <a:rPr lang="en-IN" sz="2000" b="1" dirty="0">
                <a:solidFill>
                  <a:schemeClr val="tx1"/>
                </a:solidFill>
              </a:rPr>
              <a:t>Wikipedia (Web Scraping):</a:t>
            </a:r>
            <a:r>
              <a:rPr lang="en-IN" sz="2000" dirty="0">
                <a:solidFill>
                  <a:schemeClr val="tx1"/>
                </a:solidFill>
              </a:rPr>
              <a:t> Additional Falcon 9 launch records used to validate and enrich the dataset.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76642"/>
            <a:ext cx="723072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114800" y="1360714"/>
            <a:ext cx="8077200" cy="51206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b="1" dirty="0"/>
              <a:t>Data Collection:</a:t>
            </a:r>
          </a:p>
          <a:p>
            <a:pPr lvl="1"/>
            <a:r>
              <a:rPr lang="en-IN" sz="1400" dirty="0"/>
              <a:t>Collected Falcon 9 launch data using the </a:t>
            </a:r>
            <a:r>
              <a:rPr lang="en-IN" sz="1400" b="1" dirty="0"/>
              <a:t>SpaceX REST API</a:t>
            </a:r>
            <a:r>
              <a:rPr lang="en-IN" sz="1400" dirty="0"/>
              <a:t>. </a:t>
            </a:r>
          </a:p>
          <a:p>
            <a:pPr lvl="1"/>
            <a:r>
              <a:rPr lang="en-IN" sz="1400" dirty="0"/>
              <a:t>Collected additional launch records through </a:t>
            </a:r>
            <a:r>
              <a:rPr lang="en-IN" sz="1400" b="1" dirty="0"/>
              <a:t>Wikipedia Web Scraping</a:t>
            </a:r>
            <a:r>
              <a:rPr lang="en-IN" sz="1400" dirty="0"/>
              <a:t>.</a:t>
            </a:r>
          </a:p>
          <a:p>
            <a:r>
              <a:rPr lang="en-IN" sz="1600" b="1" dirty="0"/>
              <a:t>Data Wrangling:</a:t>
            </a:r>
          </a:p>
          <a:p>
            <a:pPr lvl="1"/>
            <a:r>
              <a:rPr lang="en-IN" sz="1400" dirty="0"/>
              <a:t>Cleaned missing values and standardized the dataset. </a:t>
            </a:r>
          </a:p>
          <a:p>
            <a:pPr lvl="1"/>
            <a:r>
              <a:rPr lang="en-IN" sz="1400" dirty="0"/>
              <a:t>Merged API and Wikipedia datasets. </a:t>
            </a:r>
          </a:p>
          <a:p>
            <a:r>
              <a:rPr lang="en-IN" sz="1600" b="1" dirty="0"/>
              <a:t>Exploratory Data Analysis (EDA):</a:t>
            </a:r>
          </a:p>
          <a:p>
            <a:pPr lvl="1"/>
            <a:r>
              <a:rPr lang="en-IN" sz="1400" dirty="0"/>
              <a:t>Created visualizations using Matplotlib and Seaborn. </a:t>
            </a:r>
          </a:p>
          <a:p>
            <a:pPr lvl="1"/>
            <a:r>
              <a:rPr lang="en-IN" sz="1400" dirty="0" err="1"/>
              <a:t>Analyzed</a:t>
            </a:r>
            <a:r>
              <a:rPr lang="en-IN" sz="1400" dirty="0"/>
              <a:t> relationships between mission features and landing success. </a:t>
            </a:r>
          </a:p>
          <a:p>
            <a:r>
              <a:rPr lang="en-IN" sz="1600" b="1" dirty="0"/>
              <a:t>SQL Analysis:</a:t>
            </a:r>
          </a:p>
          <a:p>
            <a:pPr lvl="1"/>
            <a:r>
              <a:rPr lang="en-IN" sz="1400" dirty="0"/>
              <a:t>Queried the database to </a:t>
            </a:r>
            <a:r>
              <a:rPr lang="en-IN" sz="1400" dirty="0" err="1"/>
              <a:t>analyze</a:t>
            </a:r>
            <a:r>
              <a:rPr lang="en-IN" sz="1400" dirty="0"/>
              <a:t> launch statistics. </a:t>
            </a:r>
          </a:p>
          <a:p>
            <a:pPr lvl="1"/>
            <a:r>
              <a:rPr lang="en-IN" sz="1400" dirty="0"/>
              <a:t>Retrieved insights using SQL queries. </a:t>
            </a:r>
          </a:p>
          <a:p>
            <a:r>
              <a:rPr lang="en-IN" sz="1600" b="1" dirty="0"/>
              <a:t>Interactive Visualization:</a:t>
            </a:r>
          </a:p>
          <a:p>
            <a:pPr lvl="1"/>
            <a:r>
              <a:rPr lang="en-IN" sz="1400" dirty="0"/>
              <a:t>Built interactive </a:t>
            </a:r>
            <a:r>
              <a:rPr lang="en-IN" sz="1400" b="1" dirty="0"/>
              <a:t>Folium</a:t>
            </a:r>
            <a:r>
              <a:rPr lang="en-IN" sz="1400" dirty="0"/>
              <a:t> maps. </a:t>
            </a:r>
          </a:p>
          <a:p>
            <a:pPr lvl="1"/>
            <a:r>
              <a:rPr lang="en-IN" sz="1400" dirty="0"/>
              <a:t>Developed a </a:t>
            </a:r>
            <a:r>
              <a:rPr lang="en-IN" sz="1400" b="1" dirty="0"/>
              <a:t>Plotly Dash</a:t>
            </a:r>
            <a:r>
              <a:rPr lang="en-IN" sz="1400" dirty="0"/>
              <a:t> dashboard. </a:t>
            </a:r>
          </a:p>
          <a:p>
            <a:r>
              <a:rPr lang="en-IN" sz="1600" b="1" dirty="0"/>
              <a:t>Predictive Analysis:</a:t>
            </a:r>
          </a:p>
          <a:p>
            <a:pPr lvl="1"/>
            <a:r>
              <a:rPr lang="en-IN" sz="1400" dirty="0"/>
              <a:t>Built and evaluated multiple classification models. </a:t>
            </a:r>
          </a:p>
          <a:p>
            <a:pPr lvl="1"/>
            <a:r>
              <a:rPr lang="en-IN" sz="1400" dirty="0"/>
              <a:t>Selected the best-performing model.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8344"/>
            <a:ext cx="3233057" cy="420385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409903" y="1408386"/>
            <a:ext cx="11540359" cy="4477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/>
          </a:p>
          <a:p>
            <a:pPr marL="0" indent="0">
              <a:buFont typeface="Arial"/>
              <a:buNone/>
            </a:pPr>
            <a:endParaRPr lang="en-US" sz="180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869CF1-93F4-8EB1-2010-62FE5F37A7DF}"/>
              </a:ext>
            </a:extLst>
          </p:cNvPr>
          <p:cNvSpPr txBox="1"/>
          <p:nvPr/>
        </p:nvSpPr>
        <p:spPr>
          <a:xfrm>
            <a:off x="441435" y="1536174"/>
            <a:ext cx="1134066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Landing Success Trend:</a:t>
            </a:r>
            <a:r>
              <a:rPr lang="en-IN" sz="2400" dirty="0"/>
              <a:t> Landing success improved steadily over time.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Factors:</a:t>
            </a:r>
            <a:r>
              <a:rPr lang="en-IN" sz="2400" dirty="0"/>
              <a:t> Payload mass, launch site, orbit type, flight number, and booster version influenced landing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EDA, SQL &amp; Visualization:</a:t>
            </a:r>
            <a:r>
              <a:rPr lang="en-IN" sz="2400" dirty="0"/>
              <a:t> SQL queries, Folium maps, and the Plotly Dash dashboard provided interactive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Predictive Analysis:</a:t>
            </a:r>
            <a:r>
              <a:rPr lang="en-IN" sz="2400" dirty="0"/>
              <a:t> The best classification model achieved the highest prediction accuracy.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Overall Outcome:</a:t>
            </a:r>
            <a:r>
              <a:rPr lang="en-IN" sz="2400" dirty="0"/>
              <a:t> Historical launch data can effectively predict Falcon 9 first-stage landing success and support mission planning.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E55EF-D581-9CF3-9BA3-939D83937186}"/>
              </a:ext>
            </a:extLst>
          </p:cNvPr>
          <p:cNvSpPr txBox="1"/>
          <p:nvPr/>
        </p:nvSpPr>
        <p:spPr>
          <a:xfrm>
            <a:off x="1861457" y="5061857"/>
            <a:ext cx="73260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US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04988-88C2-64FE-D96F-5FAEDB78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FF1992-6B02-B279-E196-437EBDE73E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" y="1450427"/>
            <a:ext cx="6096000" cy="45641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0622A-975B-D3C1-CFE7-E8E2245C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35717" cy="4414344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Key Findings</a:t>
            </a:r>
            <a:endParaRPr lang="en-IN" dirty="0"/>
          </a:p>
          <a:p>
            <a:pPr lvl="0"/>
            <a:r>
              <a:rPr lang="en-IN" sz="2400" dirty="0"/>
              <a:t>Early Falcon 9 missions had lower landing success, while later missions showed higher success rates.</a:t>
            </a:r>
          </a:p>
          <a:p>
            <a:pPr lvl="0"/>
            <a:r>
              <a:rPr lang="en-IN" sz="2400" dirty="0"/>
              <a:t>Launch success improved as the </a:t>
            </a:r>
            <a:r>
              <a:rPr lang="en-IN" sz="2400" b="1" dirty="0"/>
              <a:t>flight number</a:t>
            </a:r>
            <a:r>
              <a:rPr lang="en-IN" sz="2400" dirty="0"/>
              <a:t> increased, indicating continuous improvements in booster recovery and operational experience.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recorded the highest number of Falcon 9 launches, making it the most frequently used launch site. 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and </a:t>
            </a:r>
            <a:r>
              <a:rPr lang="en-IN" sz="2400" b="1" dirty="0"/>
              <a:t>VAFB SLC 4E</a:t>
            </a:r>
            <a:r>
              <a:rPr lang="en-IN" sz="2400" dirty="0"/>
              <a:t> also demonstrated successful landings, although with fewer launches than CCAFS SLC 40. </a:t>
            </a:r>
          </a:p>
          <a:p>
            <a:r>
              <a:rPr lang="en-IN" sz="2400" dirty="0"/>
              <a:t>Overall, both launch site and flight number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3517882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B2CF-DEB3-BE2F-832B-ABD069D83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Payload Mass vs. Launch Site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36E3C-5569-0A2E-3A1B-32AFA41E5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8345" y="1600200"/>
            <a:ext cx="6253653" cy="4572000"/>
          </a:xfrm>
        </p:spPr>
        <p:txBody>
          <a:bodyPr>
            <a:normAutofit fontScale="85000" lnSpcReduction="20000"/>
          </a:bodyPr>
          <a:lstStyle/>
          <a:p>
            <a:r>
              <a:rPr lang="en-IN" sz="3000" b="1" dirty="0"/>
              <a:t>Key Findings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handled the widest range of payload masses and was the most frequently used launch site.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primarily handled medium- to high-payload missions and achieved several successful landings.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conducted fewer launches but demonstrated successful missions across different payload categories. </a:t>
            </a:r>
          </a:p>
          <a:p>
            <a:pPr lvl="0"/>
            <a:r>
              <a:rPr lang="en-IN" sz="2400" dirty="0"/>
              <a:t>Both </a:t>
            </a:r>
            <a:r>
              <a:rPr lang="en-IN" sz="2400" b="1" dirty="0"/>
              <a:t>successful</a:t>
            </a:r>
            <a:r>
              <a:rPr lang="en-IN" sz="2400" dirty="0"/>
              <a:t> and </a:t>
            </a:r>
            <a:r>
              <a:rPr lang="en-IN" sz="2400" b="1" dirty="0"/>
              <a:t>unsuccessful</a:t>
            </a:r>
            <a:r>
              <a:rPr lang="en-IN" sz="2400" dirty="0"/>
              <a:t> landings occurred at low, medium, and high payload masses, indicating that </a:t>
            </a:r>
            <a:r>
              <a:rPr lang="en-IN" sz="2400" b="1" dirty="0"/>
              <a:t>payload mass alone was not the primary factor affecting landing success</a:t>
            </a:r>
            <a:r>
              <a:rPr lang="en-IN" sz="2400" dirty="0"/>
              <a:t>. </a:t>
            </a:r>
          </a:p>
          <a:p>
            <a:pPr lvl="0"/>
            <a:r>
              <a:rPr lang="en-IN" sz="2400" dirty="0"/>
              <a:t>Overall, launch site and payload mass together influenced Falcon 9 landing success.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D663B-C687-577E-4BE2-C0232181ACB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5759669" cy="43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373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9511-0C4E-7201-C73B-240A3CC5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Success Rate by Orbit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ED8DE1-F132-69DA-9999-21690FCAD3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387366"/>
            <a:ext cx="6019801" cy="462455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98BF-3152-047E-DBDF-BBFACB511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1" y="1387366"/>
            <a:ext cx="6172199" cy="4624551"/>
          </a:xfrm>
        </p:spPr>
        <p:txBody>
          <a:bodyPr>
            <a:normAutofit fontScale="85000" lnSpcReduction="20000"/>
          </a:bodyPr>
          <a:lstStyle/>
          <a:p>
            <a:r>
              <a:rPr lang="en-IN" sz="2600" b="1" dirty="0"/>
              <a:t>Key Findings</a:t>
            </a:r>
          </a:p>
          <a:p>
            <a:pPr lvl="0"/>
            <a:r>
              <a:rPr lang="en-IN" sz="2400" b="1" dirty="0"/>
              <a:t>ES-L1, GEO, HEO,</a:t>
            </a:r>
            <a:r>
              <a:rPr lang="en-IN" sz="2400" dirty="0"/>
              <a:t> and </a:t>
            </a:r>
            <a:r>
              <a:rPr lang="en-IN" sz="2400" b="1" dirty="0"/>
              <a:t>SSO</a:t>
            </a:r>
            <a:r>
              <a:rPr lang="en-IN" sz="2400" dirty="0"/>
              <a:t> achieved a </a:t>
            </a:r>
            <a:r>
              <a:rPr lang="en-IN" sz="2400" b="1" dirty="0"/>
              <a:t>100% landing success rate</a:t>
            </a:r>
            <a:r>
              <a:rPr lang="en-IN" sz="2400" dirty="0"/>
              <a:t>, indicating highly reliable mission outcomes for these orbit types. </a:t>
            </a:r>
          </a:p>
          <a:p>
            <a:pPr lvl="0"/>
            <a:r>
              <a:rPr lang="en-IN" sz="2400" b="1" dirty="0"/>
              <a:t>VLEO</a:t>
            </a:r>
            <a:r>
              <a:rPr lang="en-IN" sz="2400" dirty="0"/>
              <a:t> also demonstrated a high landing success rate of approximately </a:t>
            </a:r>
            <a:r>
              <a:rPr lang="en-IN" sz="2400" b="1" dirty="0"/>
              <a:t>86%</a:t>
            </a:r>
            <a:r>
              <a:rPr lang="en-IN" sz="2400" dirty="0"/>
              <a:t>, showing strong booster recovery performance. </a:t>
            </a:r>
          </a:p>
          <a:p>
            <a:pPr lvl="0"/>
            <a:r>
              <a:rPr lang="en-IN" sz="2400" dirty="0"/>
              <a:t>LEO, MEO, ISS, and PO achieved moderate landing success rates, indicating variable mission outcomes across these orbit types.</a:t>
            </a:r>
          </a:p>
          <a:p>
            <a:pPr lvl="0"/>
            <a:r>
              <a:rPr lang="en-IN" sz="2400" b="1" dirty="0"/>
              <a:t>GTO</a:t>
            </a:r>
            <a:r>
              <a:rPr lang="en-IN" sz="2400" dirty="0"/>
              <a:t> recorded a comparatively lower landing success rate, while </a:t>
            </a:r>
            <a:r>
              <a:rPr lang="en-IN" sz="2400" b="1" dirty="0"/>
              <a:t>SO</a:t>
            </a:r>
            <a:r>
              <a:rPr lang="en-IN" sz="2400" dirty="0"/>
              <a:t> showed </a:t>
            </a:r>
            <a:r>
              <a:rPr lang="en-IN" sz="2400" b="1" dirty="0"/>
              <a:t>no successful landings</a:t>
            </a:r>
            <a:r>
              <a:rPr lang="en-IN" sz="2400" dirty="0"/>
              <a:t> in the available dataset. </a:t>
            </a:r>
          </a:p>
          <a:p>
            <a:pPr lvl="0"/>
            <a:r>
              <a:rPr lang="en-IN" sz="2400" dirty="0"/>
              <a:t>Overall, orbit type significantly influenced Falcon 9 landing success, although mission characteristics and operational factors also played important roles.</a:t>
            </a:r>
          </a:p>
        </p:txBody>
      </p:sp>
    </p:spTree>
    <p:extLst>
      <p:ext uri="{BB962C8B-B14F-4D97-AF65-F5344CB8AC3E}">
        <p14:creationId xmlns:p14="http://schemas.microsoft.com/office/powerpoint/2010/main" val="610547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6A39-2DD4-700D-2971-070040B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Orbit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6CCA3-587F-AAFF-57E4-F9BCE1496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390697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r>
              <a:rPr lang="en-IN" sz="2200" dirty="0"/>
              <a:t>LEO, ISS, and VLEO missions generally achieved high landing success rates.</a:t>
            </a:r>
          </a:p>
          <a:p>
            <a:r>
              <a:rPr lang="en-IN" sz="2200" dirty="0"/>
              <a:t>GTO missions showed mixed landing outcomes, with both successful and failed landings.</a:t>
            </a:r>
          </a:p>
          <a:p>
            <a:pPr lvl="0"/>
            <a:r>
              <a:rPr lang="en-IN" sz="2200" dirty="0"/>
              <a:t>Landing success generally improved with increasing flight numbers, especially in later missions. </a:t>
            </a:r>
          </a:p>
          <a:p>
            <a:r>
              <a:rPr lang="en-IN" sz="2200" dirty="0"/>
              <a:t>Orbit type influenced landing success, while payload mass and launch site also played important roles.</a:t>
            </a:r>
          </a:p>
          <a:p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B728AF-1456-2365-66BD-56CAF31A19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39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40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2725-F169-453F-7665-66C5A942F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Payload Mass vs. Orbit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DD030-A55E-4E81-597D-6066EC90C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376855"/>
            <a:ext cx="6019799" cy="4645573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GTO missions covered a wide range of payload masses, with both successful and unsuccessful landings observed.</a:t>
            </a:r>
          </a:p>
          <a:p>
            <a:pPr lvl="0"/>
            <a:r>
              <a:rPr lang="en-IN" sz="2400" dirty="0"/>
              <a:t>VLEO missions were associated with the highest payload masses. </a:t>
            </a:r>
          </a:p>
          <a:p>
            <a:pPr lvl="0"/>
            <a:r>
              <a:rPr lang="en-IN" sz="2400" dirty="0"/>
              <a:t>LEO and ISS missions generally carried low to medium payload masses.</a:t>
            </a:r>
          </a:p>
          <a:p>
            <a:pPr lvl="0"/>
            <a:r>
              <a:rPr lang="en-IN" sz="2400" dirty="0"/>
              <a:t>Payload mass alone did not determine Falcon 9 landing success; orbit type and mission characteristics also influenced landing outcomes.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7A5151-B27F-DD19-F7F0-25A3D473CB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84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7B56-629A-FD69-8C31-3E6F2481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Yearly Launch Success Trend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7DB9F-10F9-E9E4-2A55-5C8C74947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169979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200" dirty="0"/>
              <a:t>Overall launch success rates improved over the years despite minor fluctuations.</a:t>
            </a:r>
          </a:p>
          <a:p>
            <a:pPr lvl="0"/>
            <a:r>
              <a:rPr lang="en-IN" sz="2200" dirty="0"/>
              <a:t>Success rates were very low during the early years (2010–2013). </a:t>
            </a:r>
          </a:p>
          <a:p>
            <a:pPr lvl="0"/>
            <a:r>
              <a:rPr lang="en-IN" sz="2400" dirty="0"/>
              <a:t>From 2016 onward, average launch success rates increased significantly.</a:t>
            </a:r>
          </a:p>
          <a:p>
            <a:pPr lvl="0"/>
            <a:r>
              <a:rPr lang="en-IN" sz="2200" dirty="0"/>
              <a:t>By 2019–2020, SpaceX consistently achieved high launch success rates, demonstrating improved booster recovery and mission reliability.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4EC76C-F2B7-5ED9-6C3C-ADB136229A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06690"/>
            <a:ext cx="5927834" cy="446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31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C2EF-6B42-0E80-4D37-BF39736D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Model Evaluation – Confusion Matrix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CDDAF-3B94-F041-8097-EFCED477D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600200"/>
            <a:ext cx="6095999" cy="4572000"/>
          </a:xfrm>
        </p:spPr>
        <p:txBody>
          <a:bodyPr>
            <a:normAutofit lnSpcReduction="100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The model correctly predicted </a:t>
            </a:r>
            <a:r>
              <a:rPr lang="en-IN" sz="2400" b="1" dirty="0"/>
              <a:t>12 successful landings (True Positives)</a:t>
            </a:r>
            <a:r>
              <a:rPr lang="en-IN" sz="2400" dirty="0"/>
              <a:t>. </a:t>
            </a:r>
          </a:p>
          <a:p>
            <a:pPr lvl="0"/>
            <a:r>
              <a:rPr lang="en-IN" sz="2400" b="1" dirty="0"/>
              <a:t>2 unsuccessful landings</a:t>
            </a:r>
            <a:r>
              <a:rPr lang="en-IN" sz="2400" dirty="0"/>
              <a:t> were correctly classified (True Negatives). </a:t>
            </a:r>
          </a:p>
          <a:p>
            <a:pPr lvl="0"/>
            <a:r>
              <a:rPr lang="en-IN" sz="2400" b="1" dirty="0"/>
              <a:t>4 unsuccessful landings</a:t>
            </a:r>
            <a:r>
              <a:rPr lang="en-IN" sz="2400" dirty="0"/>
              <a:t> were incorrectly predicted as successful (False Positives). </a:t>
            </a:r>
          </a:p>
          <a:p>
            <a:pPr lvl="0"/>
            <a:r>
              <a:rPr lang="en-IN" sz="2400" dirty="0"/>
              <a:t>The model demonstrated strong performance in identifying successful landings, with no false negatives, although some unsuccessful missions were incorrectly classified as successful.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104F8-5136-26EF-9AFC-1242A057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 lnSpcReduction="10000"/>
          </a:bodyPr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52B133-92AA-31E9-7740-61951F6E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744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40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72497-7C26-C452-3B75-7C083BA3A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Landing Success by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91ABDF-F27C-11B6-6503-5F96EEFD1F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31538"/>
            <a:ext cx="6019800" cy="40440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2FAC5-C8B1-DBB2-90D4-EA67DED14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904186" cy="4075386"/>
          </a:xfrm>
        </p:spPr>
        <p:txBody>
          <a:bodyPr>
            <a:normAutofit fontScale="925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achieved the </a:t>
            </a:r>
            <a:r>
              <a:rPr lang="en-IN" sz="2400" b="1" dirty="0"/>
              <a:t>highest average landing success rate</a:t>
            </a:r>
            <a:r>
              <a:rPr lang="en-IN" sz="2400" dirty="0"/>
              <a:t> among all launch sites.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also recorded a </a:t>
            </a:r>
            <a:r>
              <a:rPr lang="en-IN" sz="2400" b="1" dirty="0"/>
              <a:t>high landing success rate</a:t>
            </a:r>
            <a:r>
              <a:rPr lang="en-IN" sz="2400" dirty="0"/>
              <a:t>, indicating strong mission performance.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showed the </a:t>
            </a:r>
            <a:r>
              <a:rPr lang="en-IN" sz="2400" b="1" dirty="0"/>
              <a:t>lowest average landing success rate</a:t>
            </a:r>
            <a:r>
              <a:rPr lang="en-IN" sz="2400" dirty="0"/>
              <a:t> in the dataset. </a:t>
            </a:r>
          </a:p>
          <a:p>
            <a:pPr lvl="0"/>
            <a:r>
              <a:rPr lang="en-IN" sz="2400" dirty="0"/>
              <a:t>Launch site significantly influenced Falcon 9 first-stage landing success.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19EBCE-247E-F036-3E10-3B3C8C95FFA9}"/>
              </a:ext>
            </a:extLst>
          </p:cNvPr>
          <p:cNvSpPr txBox="1"/>
          <p:nvPr/>
        </p:nvSpPr>
        <p:spPr>
          <a:xfrm>
            <a:off x="3603171" y="5632406"/>
            <a:ext cx="642257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dirty="0"/>
          </a:p>
          <a:p>
            <a:pPr algn="ctr"/>
            <a:r>
              <a:rPr lang="en-IN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470063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A9BF-FA1A-16B2-22A0-10DE7D349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8"/>
          </a:xfrm>
        </p:spPr>
        <p:txBody>
          <a:bodyPr/>
          <a:lstStyle/>
          <a:p>
            <a:pPr algn="ctr"/>
            <a:r>
              <a:rPr lang="en-IN" dirty="0"/>
              <a:t>Launch Site Proximity Analysis (CCAFS)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324E-4C98-8046-1238-B0DE803EC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8759" y="1600200"/>
            <a:ext cx="5738647" cy="4064876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lvl="0"/>
            <a:r>
              <a:rPr lang="en-IN" sz="2200" dirty="0"/>
              <a:t>CCAFS launch site is located close to the coastline.</a:t>
            </a:r>
          </a:p>
          <a:p>
            <a:pPr lvl="0"/>
            <a:r>
              <a:rPr lang="en-IN" sz="2200" dirty="0"/>
              <a:t>The coastal location supports safe launch trajectories over the ocean. </a:t>
            </a:r>
          </a:p>
          <a:p>
            <a:pPr lvl="0"/>
            <a:r>
              <a:rPr lang="en-IN" sz="2200" dirty="0"/>
              <a:t>The site is positioned away from major populated areas to improve safety. </a:t>
            </a:r>
          </a:p>
          <a:p>
            <a:pPr lvl="0"/>
            <a:r>
              <a:rPr lang="en-IN" sz="2200" dirty="0"/>
              <a:t>The proximity map highlights CCAFS's strategic coastal location for safe launch operations.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8C70AC36-1D4C-3B7C-48B1-E1C29AEA5D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600200"/>
            <a:ext cx="6358759" cy="406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640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dirty="0"/>
              <a:t>SPACEX FALCON 9 –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Findings</a:t>
            </a:r>
            <a:endParaRPr lang="en-US" dirty="0"/>
          </a:p>
          <a:p>
            <a:r>
              <a:rPr lang="en-IN" sz="2400" dirty="0"/>
              <a:t>Launch success rate improved over time.</a:t>
            </a:r>
            <a:endParaRPr lang="en-US" sz="2400" dirty="0"/>
          </a:p>
          <a:p>
            <a:r>
              <a:rPr lang="en-IN" sz="2400" dirty="0"/>
              <a:t>Launch site, payload mass, flight number, and orbit type significantly influenced landing success.</a:t>
            </a:r>
          </a:p>
          <a:p>
            <a:r>
              <a:rPr lang="en-IN" sz="2400" dirty="0"/>
              <a:t>The best-performing classification model demonstrated strong predictive performance.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Implications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IN" sz="2400" dirty="0"/>
              <a:t>Machine learning can effectively predict Falcon 9 landing success. </a:t>
            </a:r>
          </a:p>
          <a:p>
            <a:r>
              <a:rPr lang="en-IN" sz="2400" dirty="0"/>
              <a:t>The predictive model can support mission planning and reduce launch costs.</a:t>
            </a:r>
          </a:p>
          <a:p>
            <a:pPr lvl="0"/>
            <a:r>
              <a:rPr lang="en-IN" sz="2400" dirty="0"/>
              <a:t>Data-driven insights help improve future SpaceX launch decisions.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600" b="0" dirty="0"/>
              <a:t>RESULTS – VISUALIZATIONS &amp; DASHBOARD</a:t>
            </a:r>
            <a:endParaRPr lang="en-US" sz="36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486" y="1754331"/>
            <a:ext cx="3374572" cy="5732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EDA Visualizations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614948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Interactive Dashboard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483477" y="2496151"/>
            <a:ext cx="4969672" cy="3242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Success Rate by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Yearly Launch Success Trend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Landing Success by Launch Site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SQL Query Results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Folium Launch Site Map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Plotly Dash Dashboard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Confusion Matrix (Model Evaluation)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59009-3D5A-F6B4-540B-109E6E6FD047}"/>
              </a:ext>
            </a:extLst>
          </p:cNvPr>
          <p:cNvSpPr txBox="1"/>
          <p:nvPr/>
        </p:nvSpPr>
        <p:spPr>
          <a:xfrm>
            <a:off x="5334000" y="4985657"/>
            <a:ext cx="649877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IN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390B-BCF3-2BD1-8DB7-8DC8D464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E341-37B6-1A7A-43AB-27E7F7AFAE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/>
          </a:bodyPr>
          <a:lstStyle/>
          <a:p>
            <a:r>
              <a:rPr lang="en-IN" b="1" dirty="0"/>
              <a:t>Key Takeaways</a:t>
            </a:r>
          </a:p>
          <a:p>
            <a:r>
              <a:rPr lang="en-IN" sz="2400" dirty="0"/>
              <a:t>The analysis identified several factors that influence </a:t>
            </a:r>
            <a:r>
              <a:rPr lang="en-IN" sz="2400" b="1" dirty="0"/>
              <a:t>SpaceX Falcon 9 landing success</a:t>
            </a:r>
            <a:r>
              <a:rPr lang="en-IN" sz="2400" dirty="0"/>
              <a:t>.</a:t>
            </a:r>
          </a:p>
          <a:p>
            <a:r>
              <a:rPr lang="en-IN" sz="2400" b="1" dirty="0"/>
              <a:t>Flight Number</a:t>
            </a:r>
            <a:r>
              <a:rPr lang="en-IN" sz="2400" dirty="0"/>
              <a:t> showed a positive relationship with landing success, indicating improved performance over time.</a:t>
            </a:r>
          </a:p>
          <a:p>
            <a:r>
              <a:rPr lang="en-IN" sz="2400" dirty="0"/>
              <a:t>Payload mass, orbit type, and launch site significantly influenced landing success.</a:t>
            </a:r>
            <a:endParaRPr lang="en-IN" sz="2400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4C101-A308-275B-9441-A1EEAF8E0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>
            <a:normAutofit/>
          </a:bodyPr>
          <a:lstStyle/>
          <a:p>
            <a:r>
              <a:rPr lang="en-IN" b="1" dirty="0"/>
              <a:t>Overall Findings</a:t>
            </a:r>
          </a:p>
          <a:p>
            <a:r>
              <a:rPr lang="en-IN" sz="2400" dirty="0"/>
              <a:t>The yearly trend demonstrated a significant improvement in landing success rates. By 2019, launch success rates had reached their highest levels and remained consistently high thereafter.</a:t>
            </a:r>
          </a:p>
          <a:p>
            <a:r>
              <a:rPr lang="en-IN" sz="2400" dirty="0"/>
              <a:t>Overall, the analysis shows that historical launch data can effectively predict Falcon 9 landing success and support data-driven decision making.</a:t>
            </a:r>
          </a:p>
        </p:txBody>
      </p:sp>
    </p:spTree>
    <p:extLst>
      <p:ext uri="{BB962C8B-B14F-4D97-AF65-F5344CB8AC3E}">
        <p14:creationId xmlns:p14="http://schemas.microsoft.com/office/powerpoint/2010/main" val="23986717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6A9C-70D0-119E-38BE-1738DA5A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97E2B-01DB-9C21-4CF2-1586AB1C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85" y="365125"/>
            <a:ext cx="12094029" cy="1325563"/>
          </a:xfrm>
        </p:spPr>
        <p:txBody>
          <a:bodyPr/>
          <a:lstStyle/>
          <a:p>
            <a:pPr algn="ctr"/>
            <a:r>
              <a:rPr lang="en-IN" dirty="0"/>
              <a:t>OVERALL FINDINGS &amp; IMPLICATIONS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C42F-75A2-FA08-F2B6-EB2817BBF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IN" sz="2600" dirty="0"/>
              <a:t>Launch success rate improved significantly over the years. </a:t>
            </a:r>
          </a:p>
          <a:p>
            <a:r>
              <a:rPr lang="en-IN" sz="2400" dirty="0"/>
              <a:t>Flight number, launch site, orbit type, and payload mass were identified as key factors influencing landing success. </a:t>
            </a:r>
          </a:p>
          <a:p>
            <a:r>
              <a:rPr lang="en-IN" sz="2600" dirty="0"/>
              <a:t>Machine learning models successfully predicted Falcon 9 landing outcomes with good accuracy.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7B10A-E9C3-5B71-0345-782E28BDB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IN" sz="2600" dirty="0"/>
              <a:t>Predictive models can support mission planning and decision-making. </a:t>
            </a:r>
          </a:p>
          <a:p>
            <a:r>
              <a:rPr lang="en-IN" sz="2600" dirty="0"/>
              <a:t>Understanding launch factors helps improve mission reliability and reduce operational costs. </a:t>
            </a:r>
          </a:p>
          <a:p>
            <a:r>
              <a:rPr lang="en-IN" sz="2400" dirty="0"/>
              <a:t>Data-driven insights support better decision-making for future Falcon 9 missions.</a:t>
            </a:r>
            <a:endParaRPr lang="en-IN" sz="2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8125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IN" dirty="0"/>
              <a:t>GITHUB 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/>
              <a:t>GitHub Repository</a:t>
            </a:r>
            <a:endParaRPr lang="en-US" sz="2200" b="1" u="sng" dirty="0">
              <a:solidFill>
                <a:srgbClr val="0072C3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sz="2200" u="sng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2200" u="sng" dirty="0">
              <a:solidFill>
                <a:srgbClr val="0072C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901819"/>
            <a:ext cx="4131836" cy="38096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62C0A-56EF-B349-A097-27B4D460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8769-531F-C6A5-406F-D1C3D2805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DISCUSSION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F45ECC1-C956-CADF-DDFD-F54C6608E4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371475" y="1825625"/>
            <a:ext cx="4371975" cy="4351338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7EF50-003F-6BB0-4367-42BB884C77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43476" y="1495425"/>
            <a:ext cx="6762750" cy="4848225"/>
          </a:xfrm>
        </p:spPr>
        <p:txBody>
          <a:bodyPr>
            <a:normAutofit/>
          </a:bodyPr>
          <a:lstStyle/>
          <a:p>
            <a:r>
              <a:rPr lang="en-IN" sz="2400" b="1" dirty="0"/>
              <a:t>Key Discussion Points</a:t>
            </a:r>
          </a:p>
          <a:p>
            <a:pPr lvl="0"/>
            <a:r>
              <a:rPr lang="en-IN" sz="2000" dirty="0"/>
              <a:t>Launch success was influenced by payload mass, launch site, flight number, and orbit type. </a:t>
            </a:r>
          </a:p>
          <a:p>
            <a:pPr lvl="0"/>
            <a:r>
              <a:rPr lang="en-IN" sz="2000" dirty="0"/>
              <a:t>EDA identified important trends in the SpaceX launch dataset. </a:t>
            </a:r>
          </a:p>
          <a:p>
            <a:pPr lvl="0"/>
            <a:r>
              <a:rPr lang="en-IN" sz="2000" dirty="0"/>
              <a:t>Plotly Dash and Folium visualizations improved interactive data exploration. </a:t>
            </a:r>
          </a:p>
          <a:p>
            <a:pPr lvl="0"/>
            <a:r>
              <a:rPr lang="en-IN" sz="2000" dirty="0"/>
              <a:t>The best classification model achieved good predictive performance with high prediction accuracy. </a:t>
            </a:r>
          </a:p>
          <a:p>
            <a:pPr lvl="0"/>
            <a:r>
              <a:rPr lang="en-IN" sz="2000" dirty="0"/>
              <a:t>Predictions are based on historical data and may not fully capture future mission conditions. </a:t>
            </a:r>
          </a:p>
          <a:p>
            <a:pPr lvl="0"/>
            <a:r>
              <a:rPr lang="en-IN" sz="2000" dirty="0"/>
              <a:t>Future work can include weather data, real-time launch conditions, and more advanced machine learning models.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57333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A16F-6AB5-5C0B-5466-65B2A6AE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E978FF3-BC93-079A-1687-DD4786B81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E75918E-509D-16F8-F478-FA41759FEFE9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328612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/>
              <a:t>Launch success increased over time. </a:t>
            </a:r>
          </a:p>
          <a:p>
            <a:r>
              <a:rPr lang="en-IN" sz="2400" dirty="0"/>
              <a:t>Payload mass, launch site, and orbit type influenced landing success.</a:t>
            </a:r>
          </a:p>
          <a:p>
            <a:r>
              <a:rPr lang="en-IN" sz="2400" dirty="0"/>
              <a:t>The best classification model achieved good predictive performance with high prediction accuracy.</a:t>
            </a:r>
          </a:p>
          <a:p>
            <a:pPr lvl="0"/>
            <a:r>
              <a:rPr lang="en-IN" sz="2400" dirty="0"/>
              <a:t>The interactive dashboard and machine learning model support analysis and prediction of Falcon 9 landing success.</a:t>
            </a:r>
          </a:p>
        </p:txBody>
      </p:sp>
      <p:pic>
        <p:nvPicPr>
          <p:cNvPr id="13" name="Content Placeholder 5">
            <a:extLst>
              <a:ext uri="{FF2B5EF4-FFF2-40B4-BE49-F238E27FC236}">
                <a16:creationId xmlns:a16="http://schemas.microsoft.com/office/drawing/2014/main" id="{CD985AE9-0D12-3398-B9B7-4395CABF17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5967" y="2113896"/>
            <a:ext cx="3054361" cy="305436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1E7D25-4FC0-BD8F-57AC-EB3691C19ABE}"/>
              </a:ext>
            </a:extLst>
          </p:cNvPr>
          <p:cNvSpPr txBox="1"/>
          <p:nvPr/>
        </p:nvSpPr>
        <p:spPr>
          <a:xfrm>
            <a:off x="3886200" y="5011136"/>
            <a:ext cx="70212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dirty="0"/>
          </a:p>
          <a:p>
            <a:pPr algn="ctr"/>
            <a:r>
              <a:rPr lang="en-IN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403782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589314"/>
            <a:ext cx="7300868" cy="31568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Additional Analysis</a:t>
            </a:r>
            <a:endParaRPr lang="en-IN" dirty="0"/>
          </a:p>
          <a:p>
            <a:pPr lvl="0"/>
            <a:r>
              <a:rPr lang="en-IN" sz="2400" dirty="0"/>
              <a:t>SQL query outputs used for exploratory analysis. </a:t>
            </a:r>
          </a:p>
          <a:p>
            <a:pPr lvl="0"/>
            <a:r>
              <a:rPr lang="en-IN" sz="2400" dirty="0"/>
              <a:t>Interactive Plotly Dash dashboard for exploratory data analysis.</a:t>
            </a:r>
          </a:p>
          <a:p>
            <a:pPr lvl="0"/>
            <a:r>
              <a:rPr lang="en-IN" sz="2400" dirty="0"/>
              <a:t>Folium map showing launch site proximity. </a:t>
            </a:r>
          </a:p>
          <a:p>
            <a:pPr lvl="0"/>
            <a:r>
              <a:rPr lang="en-IN" sz="2400" dirty="0"/>
              <a:t>Additional EDA charts supporting model development.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68166" y="1682804"/>
            <a:ext cx="4035972" cy="42765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EC41F8-6A38-74E6-2697-E8E27733B4D6}"/>
              </a:ext>
            </a:extLst>
          </p:cNvPr>
          <p:cNvSpPr txBox="1"/>
          <p:nvPr/>
        </p:nvSpPr>
        <p:spPr>
          <a:xfrm>
            <a:off x="4865914" y="4963886"/>
            <a:ext cx="64878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DA07C5-A406-4A0D-B3E6-3856C94AC7F3}">
  <ds:schemaRefs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purl.org/dc/elements/1.1/"/>
    <ds:schemaRef ds:uri="155be751-a274-42e8-93fb-f39d3b9bccc8"/>
    <ds:schemaRef ds:uri="f80a141d-92ca-4d3d-9308-f7e7b1d44ce8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1494</TotalTime>
  <Words>1729</Words>
  <Application>Microsoft Office PowerPoint</Application>
  <PresentationFormat>Widescreen</PresentationFormat>
  <Paragraphs>217</Paragraphs>
  <Slides>23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SpaceX Falcon 9 First Stage Landing Prediction</vt:lpstr>
      <vt:lpstr>PowerPoint Presentation</vt:lpstr>
      <vt:lpstr>EXECUTIVE SUMMARY</vt:lpstr>
      <vt:lpstr>INTRODUCTION</vt:lpstr>
      <vt:lpstr>METHODOLOGY</vt:lpstr>
      <vt:lpstr>RESULTS</vt:lpstr>
      <vt:lpstr>Flight Number vs. Launch Site</vt:lpstr>
      <vt:lpstr>Payload Mass vs. Launch Site</vt:lpstr>
      <vt:lpstr>Success Rate by Orbit </vt:lpstr>
      <vt:lpstr>Flight Number vs. Orbit</vt:lpstr>
      <vt:lpstr>Payload Mass vs. Orbit </vt:lpstr>
      <vt:lpstr>Yearly Launch Success Trend</vt:lpstr>
      <vt:lpstr>Model Evaluation – Confusion Matrix</vt:lpstr>
      <vt:lpstr>Landing Success by Launch Site</vt:lpstr>
      <vt:lpstr>Launch Site Proximity Analysis (CCAFS)</vt:lpstr>
      <vt:lpstr>SPACEX FALCON 9 – FINDINGS &amp; IMPLICATIONS</vt:lpstr>
      <vt:lpstr>RESULTS – VISUALIZATIONS &amp; DASHBOARD</vt:lpstr>
      <vt:lpstr>Conclusion </vt:lpstr>
      <vt:lpstr>OVERALL FINDINGS &amp; IMPLICATIONS</vt:lpstr>
      <vt:lpstr>GITHUB REPOSITORY</vt:lpstr>
      <vt:lpstr>DISCUSSION</vt:lpstr>
      <vt:lpstr>CONCLUSION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Satish Thakur</cp:lastModifiedBy>
  <cp:revision>95</cp:revision>
  <dcterms:created xsi:type="dcterms:W3CDTF">2024-10-30T05:40:03Z</dcterms:created>
  <dcterms:modified xsi:type="dcterms:W3CDTF">2026-08-01T22:32:44Z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