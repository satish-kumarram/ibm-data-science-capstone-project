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tags/tag12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3.xml" ContentType="application/vnd.openxmlformats-officedocument.presentationml.tags+xml"/>
  <Override PartName="/ppt/notesSlides/notesSlide11.xml" ContentType="application/vnd.openxmlformats-officedocument.presentationml.notesSlide+xml"/>
  <Override PartName="/ppt/tags/tag14.xml" ContentType="application/vnd.openxmlformats-officedocument.presentationml.tags+xml"/>
  <Override PartName="/ppt/notesSlides/notesSlide12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2"/>
  </p:notesMasterIdLst>
  <p:sldIdLst>
    <p:sldId id="256" r:id="rId5"/>
    <p:sldId id="288" r:id="rId6"/>
    <p:sldId id="258" r:id="rId7"/>
    <p:sldId id="259" r:id="rId8"/>
    <p:sldId id="260" r:id="rId9"/>
    <p:sldId id="289" r:id="rId10"/>
    <p:sldId id="293" r:id="rId11"/>
    <p:sldId id="261" r:id="rId12"/>
    <p:sldId id="278" r:id="rId13"/>
    <p:sldId id="283" r:id="rId14"/>
    <p:sldId id="277" r:id="rId15"/>
    <p:sldId id="284" r:id="rId16"/>
    <p:sldId id="285" r:id="rId17"/>
    <p:sldId id="286" r:id="rId18"/>
    <p:sldId id="281" r:id="rId19"/>
    <p:sldId id="280" r:id="rId20"/>
    <p:sldId id="287" r:id="rId21"/>
    <p:sldId id="263" r:id="rId22"/>
    <p:sldId id="264" r:id="rId23"/>
    <p:sldId id="291" r:id="rId24"/>
    <p:sldId id="290" r:id="rId25"/>
    <p:sldId id="292" r:id="rId26"/>
    <p:sldId id="295" r:id="rId27"/>
    <p:sldId id="282" r:id="rId28"/>
    <p:sldId id="266" r:id="rId29"/>
    <p:sldId id="273" r:id="rId30"/>
    <p:sldId id="296" r:id="rId31"/>
  </p:sldIdLst>
  <p:sldSz cx="12192000" cy="6858000"/>
  <p:notesSz cx="6858000" cy="1857375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8"/>
            <p14:sldId id="259"/>
            <p14:sldId id="260"/>
            <p14:sldId id="289"/>
            <p14:sldId id="293"/>
            <p14:sldId id="261"/>
            <p14:sldId id="278"/>
            <p14:sldId id="283"/>
            <p14:sldId id="277"/>
            <p14:sldId id="284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>
        <p:scale>
          <a:sx n="70" d="100"/>
          <a:sy n="70" d="100"/>
        </p:scale>
        <p:origin x="1118" y="168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6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5" Type="http://schemas.openxmlformats.org/officeDocument/2006/relationships/hyperlink" Target="https://github.com/Satish-KumarRam/IBM-Data-Science-Capstone-Project" TargetMode="External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5.png"/><Relationship Id="rId4" Type="http://schemas.openxmlformats.org/officeDocument/2006/relationships/hyperlink" Target="https://github.com/Satish-KumarRam/IBM-Data-Science-Capstone-Project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pPr algn="l"/>
            <a:r>
              <a:rPr lang="en-IN" sz="1800" b="1" dirty="0"/>
              <a:t>                                             2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7CCC8A1-01EA-24FA-9310-CEBBC3CFB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89" y="1894174"/>
            <a:ext cx="4505605" cy="318945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859971" y="489680"/>
            <a:ext cx="33745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6680880" y="1589373"/>
            <a:ext cx="46957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Executive Summary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Methodology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Results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Conclusion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Appendix</a:t>
            </a: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A1E3D6-7198-4E3F-82FC-DA27C57FA003}"/>
              </a:ext>
            </a:extLst>
          </p:cNvPr>
          <p:cNvSpPr txBox="1"/>
          <p:nvPr/>
        </p:nvSpPr>
        <p:spPr>
          <a:xfrm>
            <a:off x="4234543" y="5203371"/>
            <a:ext cx="729162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3783725" y="1460938"/>
            <a:ext cx="8408276" cy="40581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800" b="1" dirty="0"/>
              <a:t>Objective</a:t>
            </a:r>
          </a:p>
          <a:p>
            <a:pPr lvl="0"/>
            <a:r>
              <a:rPr lang="en-IN" sz="1800" dirty="0"/>
              <a:t>Predict Falcon 9 first-stage landing success using historical launch data. </a:t>
            </a:r>
          </a:p>
          <a:p>
            <a:r>
              <a:rPr lang="en-IN" sz="1800" b="1" dirty="0"/>
              <a:t>Methodology Summary</a:t>
            </a:r>
          </a:p>
          <a:p>
            <a:pPr lvl="1"/>
            <a:r>
              <a:rPr lang="en-IN" sz="1600" dirty="0"/>
              <a:t>Data Collection through </a:t>
            </a:r>
            <a:r>
              <a:rPr lang="en-IN" sz="1600" b="1" dirty="0"/>
              <a:t>SpaceX REST API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Data Collection with </a:t>
            </a:r>
            <a:r>
              <a:rPr lang="en-IN" sz="1600" b="1" dirty="0"/>
              <a:t>Web Scraping (Wikipedia)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Data Wrangling </a:t>
            </a:r>
          </a:p>
          <a:p>
            <a:pPr lvl="1"/>
            <a:r>
              <a:rPr lang="en-IN" sz="1600" dirty="0"/>
              <a:t>Exploratory Data Analysis (</a:t>
            </a:r>
            <a:r>
              <a:rPr lang="en-IN" sz="1600" b="1" dirty="0"/>
              <a:t>Visualization &amp; SQL</a:t>
            </a:r>
            <a:r>
              <a:rPr lang="en-IN" sz="1600" dirty="0"/>
              <a:t>) </a:t>
            </a:r>
          </a:p>
          <a:p>
            <a:pPr lvl="1"/>
            <a:r>
              <a:rPr lang="en-IN" sz="1600" dirty="0"/>
              <a:t>Interactive Visual Analytics (</a:t>
            </a:r>
            <a:r>
              <a:rPr lang="en-IN" sz="1600" b="1" dirty="0"/>
              <a:t>Folium &amp; Plotly Dash</a:t>
            </a:r>
            <a:r>
              <a:rPr lang="en-IN" sz="1600" dirty="0"/>
              <a:t>) </a:t>
            </a:r>
          </a:p>
          <a:p>
            <a:pPr lvl="1"/>
            <a:r>
              <a:rPr lang="en-IN" sz="1600" dirty="0"/>
              <a:t>Predictive Analysis using Machine Learning</a:t>
            </a:r>
          </a:p>
          <a:p>
            <a:r>
              <a:rPr lang="en-IN" sz="1800" b="1" dirty="0"/>
              <a:t>Key Results</a:t>
            </a:r>
          </a:p>
          <a:p>
            <a:pPr lvl="1"/>
            <a:r>
              <a:rPr lang="en-IN" sz="1600" dirty="0"/>
              <a:t>Landing success increased over time. </a:t>
            </a:r>
          </a:p>
          <a:p>
            <a:pPr lvl="1"/>
            <a:r>
              <a:rPr lang="en-IN" sz="1600" dirty="0"/>
              <a:t>Payload mass, orbit, and launch site significantly affected landing success. </a:t>
            </a:r>
          </a:p>
          <a:p>
            <a:pPr lvl="1"/>
            <a:r>
              <a:rPr lang="en-IN" sz="1600" dirty="0"/>
              <a:t>The best machine learning model achieved the highest prediction accuracy.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021641"/>
            <a:ext cx="3783724" cy="3878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3BA98-7562-0C73-3F5F-21EF0490EE49}"/>
              </a:ext>
            </a:extLst>
          </p:cNvPr>
          <p:cNvSpPr txBox="1"/>
          <p:nvPr/>
        </p:nvSpPr>
        <p:spPr>
          <a:xfrm>
            <a:off x="2993571" y="5627914"/>
            <a:ext cx="65749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021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3983421" y="1450427"/>
            <a:ext cx="7840717" cy="48959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200" b="1" dirty="0">
                <a:solidFill>
                  <a:schemeClr val="tx1"/>
                </a:solidFill>
              </a:rPr>
              <a:t>Project Background:</a:t>
            </a:r>
            <a:r>
              <a:rPr lang="en-IN" sz="2200" dirty="0">
                <a:solidFill>
                  <a:schemeClr val="tx1"/>
                </a:solidFill>
              </a:rPr>
              <a:t> SpaceX reduces launch costs by successfully recovering and reusing Falcon 9 first-stage boosters, making launches more efficient and cost-effective. </a:t>
            </a:r>
          </a:p>
          <a:p>
            <a:pPr lvl="0"/>
            <a:r>
              <a:rPr lang="en-IN" sz="2400" b="1" dirty="0">
                <a:solidFill>
                  <a:schemeClr val="tx1"/>
                </a:solidFill>
              </a:rPr>
              <a:t>Problem Statement</a:t>
            </a:r>
            <a:r>
              <a:rPr lang="en-IN" sz="2200" b="1" dirty="0">
                <a:solidFill>
                  <a:schemeClr val="tx1"/>
                </a:solidFill>
              </a:rPr>
              <a:t>:</a:t>
            </a:r>
            <a:r>
              <a:rPr lang="en-IN" sz="2200" dirty="0">
                <a:solidFill>
                  <a:schemeClr val="tx1"/>
                </a:solidFill>
              </a:rPr>
              <a:t> Predict whether the Falcon 9 first-stage landing will be successful before launch using historical mission data and machine learning techniques. </a:t>
            </a:r>
          </a:p>
          <a:p>
            <a:pPr lvl="0"/>
            <a:r>
              <a:rPr lang="en-IN" sz="2200" b="1" dirty="0">
                <a:solidFill>
                  <a:schemeClr val="tx1"/>
                </a:solidFill>
              </a:rPr>
              <a:t>Project Objective:</a:t>
            </a:r>
            <a:r>
              <a:rPr lang="en-IN" sz="2200" dirty="0">
                <a:solidFill>
                  <a:schemeClr val="tx1"/>
                </a:solidFill>
              </a:rPr>
              <a:t> Build, train, and evaluate machine learning classification models to predict Falcon 9 first-stage landing success using historical launch data. </a:t>
            </a:r>
          </a:p>
          <a:p>
            <a:pPr lvl="0"/>
            <a:r>
              <a:rPr lang="en-IN" sz="2200" b="1" dirty="0">
                <a:solidFill>
                  <a:schemeClr val="tx1"/>
                </a:solidFill>
              </a:rPr>
              <a:t>Data Sources:</a:t>
            </a:r>
          </a:p>
          <a:p>
            <a:pPr lvl="1"/>
            <a:r>
              <a:rPr lang="en-IN" sz="2000" b="1" dirty="0">
                <a:solidFill>
                  <a:schemeClr val="tx1"/>
                </a:solidFill>
              </a:rPr>
              <a:t>SpaceX REST API:</a:t>
            </a:r>
            <a:r>
              <a:rPr lang="en-IN" sz="2000" dirty="0">
                <a:solidFill>
                  <a:schemeClr val="tx1"/>
                </a:solidFill>
              </a:rPr>
              <a:t> Launch information, payload details, booster version, launch site, and mission outcomes. </a:t>
            </a:r>
          </a:p>
          <a:p>
            <a:pPr lvl="1"/>
            <a:r>
              <a:rPr lang="en-IN" sz="2000" b="1" dirty="0">
                <a:solidFill>
                  <a:schemeClr val="tx1"/>
                </a:solidFill>
              </a:rPr>
              <a:t>Wikipedia (Web Scraping):</a:t>
            </a:r>
            <a:r>
              <a:rPr lang="en-IN" sz="2000" dirty="0">
                <a:solidFill>
                  <a:schemeClr val="tx1"/>
                </a:solidFill>
              </a:rPr>
              <a:t> Additional Falcon 9 launch records used to validate and enrich the dataset.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114800" y="1360714"/>
            <a:ext cx="8077200" cy="51206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Collection:</a:t>
            </a:r>
          </a:p>
          <a:p>
            <a:pPr lvl="1"/>
            <a:r>
              <a:rPr lang="en-IN" sz="1400" dirty="0"/>
              <a:t>Collected Falcon 9 launch data using the </a:t>
            </a:r>
            <a:r>
              <a:rPr lang="en-IN" sz="1400" b="1" dirty="0"/>
              <a:t>SpaceX REST API</a:t>
            </a:r>
            <a:r>
              <a:rPr lang="en-IN" sz="1400" dirty="0"/>
              <a:t>. </a:t>
            </a:r>
          </a:p>
          <a:p>
            <a:pPr lvl="1"/>
            <a:r>
              <a:rPr lang="en-IN" sz="1400" dirty="0"/>
              <a:t>Collected additional launch records through </a:t>
            </a:r>
            <a:r>
              <a:rPr lang="en-IN" sz="1400" b="1" dirty="0"/>
              <a:t>Wikipedia Web Scraping</a:t>
            </a:r>
            <a:r>
              <a:rPr lang="en-IN" sz="1400" dirty="0"/>
              <a:t>.</a:t>
            </a:r>
          </a:p>
          <a:p>
            <a:r>
              <a:rPr lang="en-IN" sz="1600" b="1" dirty="0"/>
              <a:t>Data Wrangling:</a:t>
            </a:r>
          </a:p>
          <a:p>
            <a:pPr lvl="1"/>
            <a:r>
              <a:rPr lang="en-IN" sz="1400" dirty="0"/>
              <a:t>Cleaned missing values and standardized the dataset. </a:t>
            </a:r>
          </a:p>
          <a:p>
            <a:pPr lvl="1"/>
            <a:r>
              <a:rPr lang="en-IN" sz="1400" dirty="0"/>
              <a:t>Merged API and Wikipedia datasets. </a:t>
            </a:r>
          </a:p>
          <a:p>
            <a:r>
              <a:rPr lang="en-IN" sz="1600" b="1" dirty="0"/>
              <a:t>Exploratory Data Analysis (EDA):</a:t>
            </a:r>
          </a:p>
          <a:p>
            <a:pPr lvl="1"/>
            <a:r>
              <a:rPr lang="en-IN" sz="1400" dirty="0"/>
              <a:t>Created visualizations using Matplotlib and Seaborn. </a:t>
            </a:r>
          </a:p>
          <a:p>
            <a:pPr lvl="1"/>
            <a:r>
              <a:rPr lang="en-IN" sz="1400" dirty="0"/>
              <a:t>Analyzed relationships between mission features and landing success. </a:t>
            </a:r>
          </a:p>
          <a:p>
            <a:r>
              <a:rPr lang="en-IN" sz="1600" b="1" dirty="0"/>
              <a:t>SQL Analysis:</a:t>
            </a:r>
          </a:p>
          <a:p>
            <a:pPr lvl="1"/>
            <a:r>
              <a:rPr lang="en-IN" sz="1400" dirty="0"/>
              <a:t>Queried the database to analyze launch statistics. </a:t>
            </a:r>
          </a:p>
          <a:p>
            <a:pPr lvl="1"/>
            <a:r>
              <a:rPr lang="en-IN" sz="1400" dirty="0"/>
              <a:t>Retrieved insights using SQL queries. </a:t>
            </a:r>
          </a:p>
          <a:p>
            <a:r>
              <a:rPr lang="en-IN" sz="1600" b="1" dirty="0"/>
              <a:t>Interactive Visualization:</a:t>
            </a:r>
          </a:p>
          <a:p>
            <a:pPr lvl="1"/>
            <a:r>
              <a:rPr lang="en-IN" sz="1400" dirty="0"/>
              <a:t>Built interactive </a:t>
            </a:r>
            <a:r>
              <a:rPr lang="en-IN" sz="1400" b="1" dirty="0"/>
              <a:t>Folium</a:t>
            </a:r>
            <a:r>
              <a:rPr lang="en-IN" sz="1400" dirty="0"/>
              <a:t> maps. </a:t>
            </a:r>
          </a:p>
          <a:p>
            <a:pPr lvl="1"/>
            <a:r>
              <a:rPr lang="en-IN" sz="1400" dirty="0"/>
              <a:t>Developed a </a:t>
            </a:r>
            <a:r>
              <a:rPr lang="en-IN" sz="1400" b="1" dirty="0"/>
              <a:t>Plotly Dash</a:t>
            </a:r>
            <a:r>
              <a:rPr lang="en-IN" sz="1400" dirty="0"/>
              <a:t> dashboard. </a:t>
            </a:r>
          </a:p>
          <a:p>
            <a:r>
              <a:rPr lang="en-IN" sz="1600" b="1" dirty="0"/>
              <a:t>Predictive Analysis:</a:t>
            </a:r>
          </a:p>
          <a:p>
            <a:pPr lvl="1"/>
            <a:r>
              <a:rPr lang="en-IN" sz="1400" dirty="0"/>
              <a:t>Built and evaluated multiple classification models. </a:t>
            </a:r>
          </a:p>
          <a:p>
            <a:pPr lvl="1"/>
            <a:r>
              <a:rPr lang="en-IN" sz="1400" dirty="0"/>
              <a:t>Selected the best-performing model.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8344"/>
            <a:ext cx="3233057" cy="420385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3172" y="2365507"/>
            <a:ext cx="3174125" cy="38461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517931" y="1471448"/>
            <a:ext cx="610651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analyzed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73270" y="1534510"/>
            <a:ext cx="4866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SQL Query Output – Launch Site Analysis</a:t>
            </a:r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20"/>
            <a:ext cx="3972909" cy="34973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30 missions</a:t>
            </a:r>
            <a:r>
              <a:rPr lang="en-IN" sz="24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Only </a:t>
            </a:r>
            <a:r>
              <a:rPr lang="en-IN" sz="2400" b="1" dirty="0"/>
              <a:t>1 mission</a:t>
            </a:r>
            <a:r>
              <a:rPr lang="en-IN" sz="24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aggregation helped validate mission performance before predictive modeling.</a:t>
            </a:r>
            <a:endParaRPr lang="en-US" sz="24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Landing success improved steadily over time.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E55EF-D581-9CF3-9BA3-939D83937186}"/>
              </a:ext>
            </a:extLst>
          </p:cNvPr>
          <p:cNvSpPr txBox="1"/>
          <p:nvPr/>
        </p:nvSpPr>
        <p:spPr>
          <a:xfrm>
            <a:off x="1861457" y="5061857"/>
            <a:ext cx="73260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US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correctly predicted </a:t>
            </a:r>
            <a:r>
              <a:rPr lang="en-IN" sz="2400" b="1" dirty="0"/>
              <a:t>12 successful landings (True Positives)</a:t>
            </a:r>
            <a:r>
              <a:rPr lang="en-IN" sz="2400" dirty="0"/>
              <a:t>. 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9EBCE-247E-F036-3E10-3B3C8C95FFA9}"/>
              </a:ext>
            </a:extLst>
          </p:cNvPr>
          <p:cNvSpPr txBox="1"/>
          <p:nvPr/>
        </p:nvSpPr>
        <p:spPr>
          <a:xfrm>
            <a:off x="3603171" y="5632406"/>
            <a:ext cx="64225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4000"/>
            <a:ext cx="4666593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/>
          </a:p>
          <a:p>
            <a:endParaRPr lang="en-IN" b="1" dirty="0"/>
          </a:p>
          <a:p>
            <a:endParaRPr lang="en-IN" b="1" dirty="0"/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is compared with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colors represent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dashboard allows interactive payload range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visualization helps identify payload-related launch patterns.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relationship between payload mass and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payload range slider enables dynamic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booster versions are represented by different colors.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b="1" dirty="0"/>
              <a:t>Key Takeaways</a:t>
            </a:r>
          </a:p>
          <a:p>
            <a:r>
              <a:rPr lang="en-IN" sz="2400" dirty="0"/>
              <a:t>The analysis identified several factors that influence </a:t>
            </a:r>
            <a:r>
              <a:rPr lang="en-IN" sz="2400" b="1" dirty="0"/>
              <a:t>SpaceX Falcon 9 landing success</a:t>
            </a:r>
            <a:r>
              <a:rPr lang="en-IN" sz="2400" dirty="0"/>
              <a:t>.</a:t>
            </a:r>
          </a:p>
          <a:p>
            <a:r>
              <a:rPr lang="en-IN" sz="2400" b="1" dirty="0"/>
              <a:t>Flight Number</a:t>
            </a:r>
            <a:r>
              <a:rPr lang="en-IN" sz="2400" dirty="0"/>
              <a:t> showed a positive relationship with landing success, indicating improved performance over time.</a:t>
            </a:r>
          </a:p>
          <a:p>
            <a:r>
              <a:rPr lang="en-IN" sz="2400" dirty="0"/>
              <a:t>Payload mass, orbit type, and launch site were key factors influencing landing success.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4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400" dirty="0"/>
              <a:t>Historical launch data provides valuable insights into Falcon 9 landing success and supports data-driven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632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9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r>
              <a:rPr lang="en-US" sz="3000" dirty="0"/>
              <a:t>IBM Data Science Professional Certificate </a:t>
            </a:r>
          </a:p>
          <a:p>
            <a:pPr algn="ctr"/>
            <a:r>
              <a:rPr lang="en-US" sz="3000" dirty="0"/>
              <a:t>Capstone Project</a:t>
            </a:r>
            <a:endParaRPr lang="en-IN" sz="3000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www.w3.org/XML/1998/namespace"/>
    <ds:schemaRef ds:uri="http://purl.org/dc/elements/1.1/"/>
    <ds:schemaRef ds:uri="http://schemas.microsoft.com/office/2006/documentManagement/types"/>
    <ds:schemaRef ds:uri="http://purl.org/dc/dcmitype/"/>
    <ds:schemaRef ds:uri="155be751-a274-42e8-93fb-f39d3b9bccc8"/>
    <ds:schemaRef ds:uri="http://purl.org/dc/terms/"/>
    <ds:schemaRef ds:uri="http://schemas.microsoft.com/office/infopath/2007/PartnerControls"/>
    <ds:schemaRef ds:uri="f80a141d-92ca-4d3d-9308-f7e7b1d44ce8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1864</TotalTime>
  <Words>1877</Words>
  <Application>Microsoft Office PowerPoint</Application>
  <PresentationFormat>Widescreen</PresentationFormat>
  <Paragraphs>268</Paragraphs>
  <Slides>27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EXECUTIVE SUMMARY</vt:lpstr>
      <vt:lpstr>INTRODUCTION</vt:lpstr>
      <vt:lpstr>METHODOLOGY</vt:lpstr>
      <vt:lpstr>EDA Using SQL Queries (Part 1)</vt:lpstr>
      <vt:lpstr>EDA Using SQL Queries (Part 2)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113</cp:revision>
  <dcterms:created xsi:type="dcterms:W3CDTF">2024-10-30T05:40:03Z</dcterms:created>
  <dcterms:modified xsi:type="dcterms:W3CDTF">2026-08-02T21:44:44Z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