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41"/>
  </p:notesMasterIdLst>
  <p:sldIdLst>
    <p:sldId id="256" r:id="rId5"/>
    <p:sldId id="288" r:id="rId6"/>
    <p:sldId id="259" r:id="rId7"/>
    <p:sldId id="258" r:id="rId8"/>
    <p:sldId id="260" r:id="rId9"/>
    <p:sldId id="297" r:id="rId10"/>
    <p:sldId id="303" r:id="rId11"/>
    <p:sldId id="302" r:id="rId12"/>
    <p:sldId id="300" r:id="rId13"/>
    <p:sldId id="301" r:id="rId14"/>
    <p:sldId id="289" r:id="rId15"/>
    <p:sldId id="293" r:id="rId16"/>
    <p:sldId id="304" r:id="rId17"/>
    <p:sldId id="299" r:id="rId18"/>
    <p:sldId id="298" r:id="rId19"/>
    <p:sldId id="261" r:id="rId20"/>
    <p:sldId id="278" r:id="rId21"/>
    <p:sldId id="283" r:id="rId22"/>
    <p:sldId id="284" r:id="rId23"/>
    <p:sldId id="277" r:id="rId24"/>
    <p:sldId id="285" r:id="rId25"/>
    <p:sldId id="286" r:id="rId26"/>
    <p:sldId id="281" r:id="rId27"/>
    <p:sldId id="280" r:id="rId28"/>
    <p:sldId id="287" r:id="rId29"/>
    <p:sldId id="263" r:id="rId30"/>
    <p:sldId id="264" r:id="rId31"/>
    <p:sldId id="291" r:id="rId32"/>
    <p:sldId id="290" r:id="rId33"/>
    <p:sldId id="292" r:id="rId34"/>
    <p:sldId id="305" r:id="rId35"/>
    <p:sldId id="295" r:id="rId36"/>
    <p:sldId id="282" r:id="rId37"/>
    <p:sldId id="266" r:id="rId38"/>
    <p:sldId id="273" r:id="rId39"/>
    <p:sldId id="296" r:id="rId40"/>
  </p:sldIdLst>
  <p:sldSz cx="12192000" cy="6858000"/>
  <p:notesSz cx="6858000" cy="1857375"/>
  <p:custDataLst>
    <p:tags r:id="rId4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9"/>
            <p14:sldId id="258"/>
            <p14:sldId id="260"/>
            <p14:sldId id="297"/>
            <p14:sldId id="303"/>
            <p14:sldId id="302"/>
            <p14:sldId id="300"/>
            <p14:sldId id="301"/>
            <p14:sldId id="289"/>
            <p14:sldId id="293"/>
            <p14:sldId id="304"/>
            <p14:sldId id="299"/>
            <p14:sldId id="298"/>
            <p14:sldId id="261"/>
            <p14:sldId id="278"/>
            <p14:sldId id="283"/>
            <p14:sldId id="284"/>
            <p14:sldId id="277"/>
            <p14:sldId id="285"/>
            <p14:sldId id="286"/>
            <p14:sldId id="281"/>
            <p14:sldId id="280"/>
            <p14:sldId id="287"/>
            <p14:sldId id="263"/>
            <p14:sldId id="264"/>
            <p14:sldId id="291"/>
            <p14:sldId id="290"/>
            <p14:sldId id="292"/>
            <p14:sldId id="305"/>
            <p14:sldId id="295"/>
            <p14:sldId id="282"/>
            <p14:sldId id="266"/>
            <p14:sldId id="27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FFFFFF"/>
    <a:srgbClr val="33B1FF"/>
    <a:srgbClr val="007D79"/>
    <a:srgbClr val="D02670"/>
    <a:srgbClr val="231F20"/>
    <a:srgbClr val="262626"/>
    <a:srgbClr val="525252"/>
    <a:srgbClr val="BE95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 varScale="1">
        <p:scale>
          <a:sx n="73" d="100"/>
          <a:sy n="73" d="100"/>
        </p:scale>
        <p:origin x="43" y="82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gs" Target="tags/tag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commentAuthors" Target="commentAuthors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 dirty="0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70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82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028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9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 dirty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0.png"/><Relationship Id="rId10" Type="http://schemas.openxmlformats.org/officeDocument/2006/relationships/customXml" Target="../ink/ink5.xml"/><Relationship Id="rId9" Type="http://schemas.openxmlformats.org/officeDocument/2006/relationships/image" Target="../media/image8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4" Type="http://schemas.openxmlformats.org/officeDocument/2006/relationships/hyperlink" Target="https://github.com/Satish-KumarRam/IBM-Data-Science-Capstone-Project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5" Type="http://schemas.openxmlformats.org/officeDocument/2006/relationships/image" Target="../media/image29.png"/><Relationship Id="rId4" Type="http://schemas.openxmlformats.org/officeDocument/2006/relationships/hyperlink" Target="https://github.com/Satish-KumarRam/IBM-Data-Science-Capstone-Project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pPr algn="l"/>
            <a:r>
              <a:rPr lang="en-IN" sz="1800" b="1" dirty="0"/>
              <a:t>                                             3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782053" y="121340"/>
            <a:ext cx="10758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782054" y="1287303"/>
            <a:ext cx="73392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Executive Summary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Introduction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Data Collection &amp; Data Wrangling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&amp; Data Visualization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Visualization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SQL Queries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Folium Map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Plotly Dash Dashboard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(Classification)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Results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Conclusion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Appendix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105104"/>
            <a:ext cx="11897711" cy="735724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105103" y="840828"/>
            <a:ext cx="11719036" cy="55055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>
                <a:solidFill>
                  <a:schemeClr val="tx1"/>
                </a:solidFill>
              </a:rPr>
              <a:t>• </a:t>
            </a:r>
            <a:r>
              <a:rPr lang="en-IN" sz="2400" b="1" dirty="0">
                <a:solidFill>
                  <a:schemeClr val="tx1"/>
                </a:solidFill>
              </a:rPr>
              <a:t>Project Background and Context:</a:t>
            </a:r>
          </a:p>
          <a:p>
            <a:r>
              <a:rPr lang="en-IN" sz="2000" dirty="0">
                <a:solidFill>
                  <a:schemeClr val="tx1"/>
                </a:solidFill>
              </a:rPr>
              <a:t>SpaceX has significantly reduced the cost of space missions by successfully recovering and reusing Falcon 9 first-stage boosters. Traditional rocket launches are expensive because rockets are usually discarded after launch. By predicting whether the Falcon 9 first stage will land successfully, organizations can estimate mission costs, improve planning, and support data-driven decision-making. This project uses historical SpaceX launch data to analyze landing outcomes and build machine learning models for landing prediction.</a:t>
            </a:r>
          </a:p>
          <a:p>
            <a:r>
              <a:rPr lang="en-IN" sz="2400" b="1" dirty="0">
                <a:solidFill>
                  <a:schemeClr val="tx1"/>
                </a:solidFill>
              </a:rPr>
              <a:t>Project Objective:</a:t>
            </a:r>
          </a:p>
          <a:p>
            <a:r>
              <a:rPr lang="en-IN" sz="2000" dirty="0">
                <a:solidFill>
                  <a:schemeClr val="tx1"/>
                </a:solidFill>
              </a:rPr>
              <a:t>The project aims to identify the factors influencing Falcon 9 first-stage landing success and develop a machine learning model to predict landing outcomes.</a:t>
            </a:r>
            <a:endParaRPr lang="en-IN" sz="2000" b="1" dirty="0">
              <a:solidFill>
                <a:schemeClr val="tx1"/>
              </a:solidFill>
            </a:endParaRPr>
          </a:p>
          <a:p>
            <a:r>
              <a:rPr lang="en-IN" sz="2000" dirty="0">
                <a:solidFill>
                  <a:schemeClr val="tx1"/>
                </a:solidFill>
              </a:rPr>
              <a:t>Collect Falcon 9 launch data using the SpaceX REST API and </a:t>
            </a:r>
            <a:r>
              <a:rPr lang="en-IN" sz="2000" b="1" dirty="0">
                <a:solidFill>
                  <a:schemeClr val="tx1"/>
                </a:solidFill>
              </a:rPr>
              <a:t>Wikipedia Web Scraping</a:t>
            </a:r>
            <a:r>
              <a:rPr lang="en-IN" sz="20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Perform </a:t>
            </a:r>
            <a:r>
              <a:rPr lang="en-IN" sz="2000" b="1" dirty="0">
                <a:solidFill>
                  <a:schemeClr val="tx1"/>
                </a:solidFill>
              </a:rPr>
              <a:t>data wrangling, SQL analysis, and exploratory data analysis (EDA).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Build interactive visualizations using SQL, Folium, and Plotly Dash.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Develop, evaluate, and compare machine learning classification models to predict Falcon 9 first-stage landing success.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14" y="73573"/>
            <a:ext cx="11960772" cy="935730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0" y="756746"/>
            <a:ext cx="12192001" cy="54548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B7B3B-8652-5980-CA50-B93EB13E927F}"/>
              </a:ext>
            </a:extLst>
          </p:cNvPr>
          <p:cNvSpPr txBox="1"/>
          <p:nvPr/>
        </p:nvSpPr>
        <p:spPr>
          <a:xfrm>
            <a:off x="189186" y="1040526"/>
            <a:ext cx="11813628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Objective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 Falcon 9 first-stage landing success using historical launch data and machine learning.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Methodology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through </a:t>
            </a:r>
            <a:r>
              <a:rPr lang="en-IN" sz="2000" b="1" dirty="0"/>
              <a:t>SpaceX REST API.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using </a:t>
            </a:r>
            <a:r>
              <a:rPr lang="en-IN" sz="2000" b="1" dirty="0"/>
              <a:t>Wikipedia Web Scraping.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Wrangling and Feature Engineering.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Exploratory Data Analysis (EDA) using SQL Queries, Python Visualizations (Matplotlib &amp; Seaborn), and Plotly Dash.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Visual Analytics using </a:t>
            </a:r>
            <a:r>
              <a:rPr lang="en-IN" sz="2000" b="1" dirty="0"/>
              <a:t>Folium</a:t>
            </a:r>
            <a:r>
              <a:rPr lang="en-IN" sz="2000" dirty="0"/>
              <a:t> and </a:t>
            </a:r>
            <a:r>
              <a:rPr lang="en-IN" sz="2000" b="1" dirty="0"/>
              <a:t>Plotly Dash.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Predictive Analysis using </a:t>
            </a:r>
            <a:r>
              <a:rPr lang="en-IN" sz="2000" b="1" dirty="0"/>
              <a:t>Classification Models.</a:t>
            </a:r>
            <a:endParaRPr lang="en-I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Results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Landing success rate improved significantly over time.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mass, orbit type, and launch site influenced landing success.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SQL and visualizations revealed important launch patterns.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dashboards provided deeper insights into launch data.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The best classification model achieved the highest prediction accuracy.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73572"/>
            <a:ext cx="11981794" cy="798787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105103" y="872359"/>
            <a:ext cx="11855669" cy="5444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 Methodology</a:t>
            </a:r>
          </a:p>
          <a:p>
            <a:pPr lvl="0"/>
            <a:r>
              <a:rPr lang="en-IN" sz="1600" dirty="0"/>
              <a:t>Collected Falcon 9 launch data using the </a:t>
            </a:r>
            <a:r>
              <a:rPr lang="en-IN" sz="1600" b="1" dirty="0"/>
              <a:t>SpaceX REST API</a:t>
            </a:r>
            <a:r>
              <a:rPr lang="en-IN" sz="1600" dirty="0"/>
              <a:t>. </a:t>
            </a:r>
          </a:p>
          <a:p>
            <a:pPr lvl="0"/>
            <a:r>
              <a:rPr lang="en-IN" sz="1600" dirty="0"/>
              <a:t>Collected additional launch records through </a:t>
            </a:r>
            <a:r>
              <a:rPr lang="en-IN" sz="1600" b="1" dirty="0"/>
              <a:t>Wikipedia Web Scraping</a:t>
            </a:r>
            <a:r>
              <a:rPr lang="en-IN" sz="1600" dirty="0"/>
              <a:t>. </a:t>
            </a:r>
          </a:p>
          <a:p>
            <a:r>
              <a:rPr lang="en-IN" sz="1600" b="1" dirty="0"/>
              <a:t>Data Wrangling</a:t>
            </a:r>
          </a:p>
          <a:p>
            <a:pPr lvl="0"/>
            <a:r>
              <a:rPr lang="en-IN" sz="1600" dirty="0"/>
              <a:t>Cleaned missing values and standardized the dataset. </a:t>
            </a:r>
          </a:p>
          <a:p>
            <a:pPr lvl="0"/>
            <a:r>
              <a:rPr lang="en-IN" sz="1600" dirty="0"/>
              <a:t>Created the landing success label and prepared features for analysis. </a:t>
            </a:r>
          </a:p>
          <a:p>
            <a:r>
              <a:rPr lang="en-IN" sz="1600" b="1" dirty="0"/>
              <a:t>Exploratory Data Analysis (EDA)</a:t>
            </a:r>
          </a:p>
          <a:p>
            <a:pPr lvl="0"/>
            <a:r>
              <a:rPr lang="en-IN" sz="1600" dirty="0"/>
              <a:t>Performed </a:t>
            </a:r>
            <a:r>
              <a:rPr lang="en-IN" sz="1600" b="1" dirty="0"/>
              <a:t>SQL queries</a:t>
            </a:r>
            <a:r>
              <a:rPr lang="en-IN" sz="1600" dirty="0"/>
              <a:t> to analyze launch statistics. </a:t>
            </a:r>
          </a:p>
          <a:p>
            <a:pPr lvl="0"/>
            <a:r>
              <a:rPr lang="en-IN" sz="1600" dirty="0"/>
              <a:t>Created visualizations using Matplotlib and Seaborn.</a:t>
            </a:r>
          </a:p>
          <a:p>
            <a:pPr lvl="0"/>
            <a:r>
              <a:rPr lang="en-IN" sz="1600" b="1" dirty="0"/>
              <a:t>Interactive Visual Analytics</a:t>
            </a:r>
          </a:p>
          <a:p>
            <a:pPr lvl="0"/>
            <a:r>
              <a:rPr lang="en-IN" sz="1600" dirty="0"/>
              <a:t>Built an interactive </a:t>
            </a:r>
            <a:r>
              <a:rPr lang="en-IN" sz="1600" b="1" dirty="0"/>
              <a:t>Folium</a:t>
            </a:r>
            <a:r>
              <a:rPr lang="en-IN" sz="1600" dirty="0"/>
              <a:t> map to analyze launch site locations. </a:t>
            </a:r>
          </a:p>
          <a:p>
            <a:pPr lvl="0"/>
            <a:r>
              <a:rPr lang="en-IN" sz="1600" dirty="0"/>
              <a:t>Developed an interactive Plotly Dash dashboard with dropdown filters, charts, and data visualizations for launch analysis.</a:t>
            </a:r>
          </a:p>
          <a:p>
            <a:pPr lvl="0"/>
            <a:r>
              <a:rPr lang="en-IN" sz="1600" b="1" dirty="0"/>
              <a:t>Predictive Analysis</a:t>
            </a:r>
          </a:p>
          <a:p>
            <a:pPr lvl="0"/>
            <a:r>
              <a:rPr lang="en-IN" sz="1600" dirty="0"/>
              <a:t>Built, trained, and evaluated multiple machine learning classification models. </a:t>
            </a:r>
          </a:p>
          <a:p>
            <a:pPr lvl="0"/>
            <a:r>
              <a:rPr lang="en-IN" sz="1600" dirty="0"/>
              <a:t>Compared model performance and selected the best-performing model based on prediction accuracy.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04FCD-52D4-3BF7-F049-C6D7E36B6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2" y="157654"/>
            <a:ext cx="10975428" cy="872359"/>
          </a:xfrm>
        </p:spPr>
        <p:txBody>
          <a:bodyPr/>
          <a:lstStyle/>
          <a:p>
            <a:r>
              <a:rPr lang="en-IN" dirty="0"/>
              <a:t>Data Collection using SpaceX API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AB85-5D65-5515-B010-1DAC960964F2}"/>
              </a:ext>
            </a:extLst>
          </p:cNvPr>
          <p:cNvSpPr txBox="1"/>
          <p:nvPr/>
        </p:nvSpPr>
        <p:spPr>
          <a:xfrm>
            <a:off x="1" y="1313793"/>
            <a:ext cx="5864772" cy="382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Collected Falcon 9 launch data using the </a:t>
            </a:r>
            <a:r>
              <a:rPr lang="en-IN" sz="2400" b="1" dirty="0"/>
              <a:t>SpaceX REST API</a:t>
            </a:r>
            <a:r>
              <a:rPr lang="en-IN" sz="24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Retrieved launch date, payload mass, orbit, launch site, booster version, and mission outcome.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Converted JSON responses into a structured Pandas DataFrame for analysis.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Right side:</a:t>
            </a:r>
            <a:r>
              <a:rPr lang="en-IN" sz="2400" dirty="0"/>
              <a:t> SpaceX API notebook screenshot.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A5CA74-3BE6-05EF-B674-AD060009B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773" y="1030013"/>
            <a:ext cx="6327226" cy="40511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4FE305-3D90-F245-AD38-862BC9D2639D}"/>
              </a:ext>
            </a:extLst>
          </p:cNvPr>
          <p:cNvSpPr txBox="1"/>
          <p:nvPr/>
        </p:nvSpPr>
        <p:spPr>
          <a:xfrm>
            <a:off x="483477" y="5244663"/>
            <a:ext cx="94382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b="1" dirty="0"/>
              <a:t>GitHub Repository:</a:t>
            </a:r>
            <a:endParaRPr lang="en-IN" dirty="0"/>
          </a:p>
          <a:p>
            <a:pPr lvl="2"/>
            <a:endParaRPr lang="en-IN" dirty="0"/>
          </a:p>
          <a:p>
            <a:pPr lvl="2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006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EE966-B69D-65EC-3F45-25BD7760D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9" y="365125"/>
            <a:ext cx="11382703" cy="969689"/>
          </a:xfrm>
        </p:spPr>
        <p:txBody>
          <a:bodyPr>
            <a:no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Data Collection using Wikipedia Web Scraping</a:t>
            </a:r>
            <a:br>
              <a:rPr lang="en-IN" dirty="0">
                <a:solidFill>
                  <a:schemeClr val="bg1"/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2D724-D96E-A607-212A-47E0616864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1" y="1042934"/>
            <a:ext cx="5507418" cy="3697232"/>
          </a:xfrm>
        </p:spPr>
        <p:txBody>
          <a:bodyPr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Extracted additional Falcon 9 launch records from </a:t>
            </a:r>
            <a:r>
              <a:rPr lang="en-IN" sz="2200" b="1" dirty="0"/>
              <a:t>Wikipedia</a:t>
            </a:r>
            <a:r>
              <a:rPr lang="en-IN" sz="2200" dirty="0"/>
              <a:t> using </a:t>
            </a:r>
            <a:r>
              <a:rPr lang="en-IN" sz="2200" b="1" dirty="0"/>
              <a:t>BeautifulSoup</a:t>
            </a:r>
            <a:r>
              <a:rPr lang="en-IN" sz="22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Parsed HTML tables and converted them into a Pandas DataFrame.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Used the scraped data to enrich and validate the dataset.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Successfully extracted Falcon 9 launch tables using BeautifulSoup for further analysis.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E81469-0444-B094-FFC6-3B330E3E2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6097" y="1042934"/>
            <a:ext cx="5507418" cy="29615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47EDCC-84C2-B525-4733-B1291F87A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6097" y="4004440"/>
            <a:ext cx="5507418" cy="1843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604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A637-0D76-B729-E4AC-966ADB530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66951"/>
          </a:xfrm>
        </p:spPr>
        <p:txBody>
          <a:bodyPr/>
          <a:lstStyle/>
          <a:p>
            <a:r>
              <a:rPr lang="en-IN" dirty="0"/>
              <a:t> Data Wrangling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C2033-F342-834F-4A68-4883B0DE5B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1" y="872359"/>
            <a:ext cx="4792717" cy="3268717"/>
          </a:xfrm>
        </p:spPr>
        <p:txBody>
          <a:bodyPr>
            <a:normAutofit/>
          </a:bodyPr>
          <a:lstStyle/>
          <a:p>
            <a:pPr lvl="0"/>
            <a:endParaRPr lang="en-IN" sz="2200" dirty="0"/>
          </a:p>
          <a:p>
            <a:pPr lvl="0"/>
            <a:r>
              <a:rPr lang="en-IN" sz="2200" dirty="0"/>
              <a:t>Cleaned missing and inconsistent values. </a:t>
            </a:r>
          </a:p>
          <a:p>
            <a:pPr lvl="0"/>
            <a:r>
              <a:rPr lang="en-IN" sz="2200" dirty="0"/>
              <a:t>Selected relevant features for analysis. </a:t>
            </a:r>
          </a:p>
          <a:p>
            <a:pPr lvl="0"/>
            <a:r>
              <a:rPr lang="en-IN" sz="2200" dirty="0"/>
              <a:t>Created the landing success label. </a:t>
            </a:r>
          </a:p>
          <a:p>
            <a:pPr lvl="0"/>
            <a:r>
              <a:rPr lang="en-IN" sz="2200" dirty="0"/>
              <a:t>Prepared the final dataset for EDA and machine learning.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0E0DB7-3A43-1EDD-F6E4-491DE180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392" y="1162841"/>
            <a:ext cx="6434331" cy="46140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C2AF16-9FB9-0AE0-F109-2CC172631F52}"/>
              </a:ext>
            </a:extLst>
          </p:cNvPr>
          <p:cNvSpPr txBox="1"/>
          <p:nvPr/>
        </p:nvSpPr>
        <p:spPr>
          <a:xfrm>
            <a:off x="0" y="4656080"/>
            <a:ext cx="49693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200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C4734-2A4F-3231-376A-38F409CC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/>
          <a:lstStyle/>
          <a:p>
            <a:r>
              <a:rPr lang="en-IN" dirty="0"/>
              <a:t>EDA using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5B336-DEFD-1F02-9289-0E8CEC170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914401"/>
            <a:ext cx="5013434" cy="2238702"/>
          </a:xfrm>
        </p:spPr>
        <p:txBody>
          <a:bodyPr>
            <a:normAutofit/>
          </a:bodyPr>
          <a:lstStyle/>
          <a:p>
            <a:pPr lvl="0"/>
            <a:r>
              <a:rPr lang="en-IN" sz="2200" dirty="0"/>
              <a:t>Launch success increased over time. </a:t>
            </a:r>
          </a:p>
          <a:p>
            <a:pPr lvl="0"/>
            <a:r>
              <a:rPr lang="en-IN" sz="2200" dirty="0"/>
              <a:t>Success rates differed across orbit classes. </a:t>
            </a:r>
          </a:p>
          <a:p>
            <a:pPr lvl="0"/>
            <a:r>
              <a:rPr lang="en-IN" sz="2200" dirty="0"/>
              <a:t>EDA revealed patterns influencing landing success.</a:t>
            </a:r>
          </a:p>
          <a:p>
            <a:pPr marL="0" indent="0">
              <a:buNone/>
            </a:pP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8A9616-DC58-3C70-B0EB-7F074A2E8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958" y="852974"/>
            <a:ext cx="6358759" cy="31579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08497B-6F82-BE14-6713-EB3DC5A6E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3281740"/>
            <a:ext cx="5255172" cy="29885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D14618-3CD2-9885-4E2C-7C32950D14CA}"/>
              </a:ext>
            </a:extLst>
          </p:cNvPr>
          <p:cNvSpPr txBox="1"/>
          <p:nvPr/>
        </p:nvSpPr>
        <p:spPr>
          <a:xfrm>
            <a:off x="5549462" y="4435366"/>
            <a:ext cx="622212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0175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4B41E-0926-FE17-2CFA-01FEC859E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5103"/>
            <a:ext cx="10515600" cy="1103587"/>
          </a:xfrm>
        </p:spPr>
        <p:txBody>
          <a:bodyPr/>
          <a:lstStyle/>
          <a:p>
            <a:pPr algn="ctr"/>
            <a:r>
              <a:rPr lang="en-IN" dirty="0"/>
              <a:t>EDA using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7A916-7C8B-6F91-6FA3-0543D0D6BC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10515600" cy="2194034"/>
          </a:xfrm>
        </p:spPr>
        <p:txBody>
          <a:bodyPr/>
          <a:lstStyle/>
          <a:p>
            <a:pPr lvl="0"/>
            <a:r>
              <a:rPr lang="en-IN" dirty="0"/>
              <a:t>Used SQL queries to summarize launch statistics. </a:t>
            </a:r>
          </a:p>
          <a:p>
            <a:pPr lvl="0"/>
            <a:r>
              <a:rPr lang="en-IN" dirty="0"/>
              <a:t>Analyzed launches by launch site, mission outcome, and booster version. </a:t>
            </a:r>
          </a:p>
          <a:p>
            <a:pPr lvl="0"/>
            <a:r>
              <a:rPr lang="en-IN" dirty="0"/>
              <a:t>Identified trends and generated insights from the data.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717F0-BEA8-DA2E-296E-94B406E348BF}"/>
              </a:ext>
            </a:extLst>
          </p:cNvPr>
          <p:cNvSpPr txBox="1"/>
          <p:nvPr/>
        </p:nvSpPr>
        <p:spPr>
          <a:xfrm>
            <a:off x="1051034" y="3962400"/>
            <a:ext cx="888124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endParaRPr lang="en-IN" dirty="0"/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45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B075-4270-E344-414F-B8B7EA07C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1568"/>
          </a:xfrm>
        </p:spPr>
        <p:txBody>
          <a:bodyPr/>
          <a:lstStyle/>
          <a:p>
            <a:pPr algn="ctr"/>
            <a:r>
              <a:rPr lang="en-IN" dirty="0"/>
              <a:t>EDA Using SQL Queries (Part 1)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EF32F8-B127-B654-AE26-A31508520C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759" y="1991730"/>
            <a:ext cx="3957144" cy="42409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91042-D361-F493-9751-841FDC547DE1}"/>
              </a:ext>
            </a:extLst>
          </p:cNvPr>
          <p:cNvSpPr txBox="1"/>
          <p:nvPr/>
        </p:nvSpPr>
        <p:spPr>
          <a:xfrm>
            <a:off x="5454869" y="1324304"/>
            <a:ext cx="6169572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Used SQL to calculate total launches for each Falcon 9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SLC-40</a:t>
            </a:r>
            <a:r>
              <a:rPr lang="en-IN" sz="2000" dirty="0"/>
              <a:t> recorded the highest number of launches (</a:t>
            </a:r>
            <a:r>
              <a:rPr lang="en-IN" sz="2000" b="1" dirty="0"/>
              <a:t>34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LC-40</a:t>
            </a:r>
            <a:r>
              <a:rPr lang="en-IN" sz="2000" dirty="0"/>
              <a:t> completed </a:t>
            </a:r>
            <a:r>
              <a:rPr lang="en-IN" sz="2000" b="1" dirty="0"/>
              <a:t>26</a:t>
            </a:r>
            <a:r>
              <a:rPr lang="en-IN" sz="2000" dirty="0"/>
              <a:t> launches during the analyzed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KSC LC-39A completed 25 launches.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VAFB SLC-4E</a:t>
            </a:r>
            <a:r>
              <a:rPr lang="en-IN" sz="2000" dirty="0"/>
              <a:t> recorded the fewest launches (</a:t>
            </a:r>
            <a:r>
              <a:rPr lang="en-IN" sz="2000" b="1" dirty="0"/>
              <a:t>16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These SQL results identified the busiest launch sites and supported subsequent visualization and predictive analysis.</a:t>
            </a:r>
            <a:endParaRPr 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D9C96-8F48-F04D-BA82-E19D41B2413F}"/>
              </a:ext>
            </a:extLst>
          </p:cNvPr>
          <p:cNvSpPr txBox="1"/>
          <p:nvPr/>
        </p:nvSpPr>
        <p:spPr>
          <a:xfrm>
            <a:off x="262759" y="1324304"/>
            <a:ext cx="48768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b="1" dirty="0"/>
              <a:t>SQL Query Output – Launch Site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AA0D1C-78D0-83B3-A4F2-4FE2FFD94DF8}"/>
              </a:ext>
            </a:extLst>
          </p:cNvPr>
          <p:cNvSpPr txBox="1"/>
          <p:nvPr/>
        </p:nvSpPr>
        <p:spPr>
          <a:xfrm>
            <a:off x="4593021" y="5297214"/>
            <a:ext cx="689478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2422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DD5-8827-E17A-8330-A74F43C3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pPr algn="ctr"/>
            <a:r>
              <a:rPr lang="en-IN" dirty="0"/>
              <a:t>EDA Using SQL Queries (Part 2)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98C5EF-D576-D376-7E0E-7EEAB20A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228" y="1355834"/>
            <a:ext cx="11873686" cy="4761937"/>
          </a:xfrm>
        </p:spPr>
        <p:txBody>
          <a:bodyPr/>
          <a:lstStyle/>
          <a:p>
            <a:endParaRPr lang="en-US" dirty="0"/>
          </a:p>
          <a:p>
            <a:endParaRPr lang="en-IN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10C7F7F-F651-75DC-6AC9-61164C1C0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2230819"/>
            <a:ext cx="4529958" cy="39876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33D808-704B-4284-EA3A-6CCC267B7F70}"/>
              </a:ext>
            </a:extLst>
          </p:cNvPr>
          <p:cNvSpPr txBox="1"/>
          <p:nvPr/>
        </p:nvSpPr>
        <p:spPr>
          <a:xfrm>
            <a:off x="609602" y="1347624"/>
            <a:ext cx="45299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2400" b="1" dirty="0"/>
              <a:t>Mission Outcome Analysis (SQL Query Result)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22D46-62B2-40B7-DCFE-B211539E2EFE}"/>
              </a:ext>
            </a:extLst>
          </p:cNvPr>
          <p:cNvSpPr txBox="1"/>
          <p:nvPr/>
        </p:nvSpPr>
        <p:spPr>
          <a:xfrm>
            <a:off x="5812221" y="1355834"/>
            <a:ext cx="62926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SQL was used to summarize mission outcomes.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30 missions</a:t>
            </a:r>
            <a:r>
              <a:rPr lang="en-IN" sz="2200" dirty="0"/>
              <a:t> were completed successfully.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Only </a:t>
            </a:r>
            <a:r>
              <a:rPr lang="en-IN" sz="2200" b="1" dirty="0"/>
              <a:t>1 mission</a:t>
            </a:r>
            <a:r>
              <a:rPr lang="en-IN" sz="2200" dirty="0"/>
              <a:t> resulted in failure during the selected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The high success rate indicates improved Falcon 9 reliability.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SQL aggregation helped validate mission performance before predictive modelling.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These SQL results supported exploratory data analysis and feature selection for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1364971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80374-BAAF-7C5A-03BE-0A954980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82261"/>
          </a:xfrm>
        </p:spPr>
        <p:txBody>
          <a:bodyPr/>
          <a:lstStyle/>
          <a:p>
            <a:pPr algn="ctr"/>
            <a:r>
              <a:rPr lang="en-IN" dirty="0"/>
              <a:t>EDA Using SQL Queries (Part 3)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D3B15C1-801C-52FC-E70A-5EB73418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1376855"/>
            <a:ext cx="6632028" cy="4204138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SQL was used to identify booster versions carrying payloads between </a:t>
            </a:r>
            <a:r>
              <a:rPr lang="en-IN" sz="2200" b="1" dirty="0"/>
              <a:t>4000 kg and 6000 kg</a:t>
            </a:r>
            <a:r>
              <a:rPr lang="en-IN" sz="22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Multiple Falcon 9 booster versions operated within this payload range.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Medium-weight payload missions were common across several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These findings support payload trend analysis and provide useful insights for predictive modelling.</a:t>
            </a:r>
            <a:endParaRPr lang="en-IN" sz="2200" b="1" dirty="0"/>
          </a:p>
          <a:p>
            <a:endParaRPr lang="en-IN" sz="2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3E6B5ED-A492-8CD3-83B0-A1AFA4751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75" y="1376855"/>
            <a:ext cx="4617884" cy="46350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F78E521-92F1-8223-A90B-B2166FE17498}"/>
              </a:ext>
            </a:extLst>
          </p:cNvPr>
          <p:cNvSpPr txBox="1"/>
          <p:nvPr/>
        </p:nvSpPr>
        <p:spPr>
          <a:xfrm>
            <a:off x="3373821" y="5381297"/>
            <a:ext cx="76094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42987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AFC7-9943-6F04-208E-BD1EC4083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310" y="365125"/>
            <a:ext cx="11288110" cy="990709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Interactive Visual Analytics (Folium &amp; Plotly Dash)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A25C6-F943-0F4A-935D-C79B390A73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10" y="1545022"/>
            <a:ext cx="11038490" cy="2354316"/>
          </a:xfrm>
        </p:spPr>
        <p:txBody>
          <a:bodyPr/>
          <a:lstStyle/>
          <a:p>
            <a:pPr lvl="0"/>
            <a:r>
              <a:rPr lang="en-IN" dirty="0"/>
              <a:t>Built interactive </a:t>
            </a:r>
            <a:r>
              <a:rPr lang="en-IN" b="1" dirty="0"/>
              <a:t>Folium</a:t>
            </a:r>
            <a:r>
              <a:rPr lang="en-IN" dirty="0"/>
              <a:t> maps to visualize launch site locations. </a:t>
            </a:r>
          </a:p>
          <a:p>
            <a:pPr lvl="0"/>
            <a:r>
              <a:rPr lang="en-IN" dirty="0"/>
              <a:t>Developed a </a:t>
            </a:r>
            <a:r>
              <a:rPr lang="en-IN" b="1" dirty="0"/>
              <a:t>Plotly Dash</a:t>
            </a:r>
            <a:r>
              <a:rPr lang="en-IN" dirty="0"/>
              <a:t> dashboard with filters and interactive charts. </a:t>
            </a:r>
          </a:p>
          <a:p>
            <a:pPr lvl="0"/>
            <a:r>
              <a:rPr lang="en-IN" dirty="0"/>
              <a:t>Enabled dynamic exploration of launch data.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8580A-F97F-C8B1-2F63-B1880C78A143}"/>
              </a:ext>
            </a:extLst>
          </p:cNvPr>
          <p:cNvSpPr txBox="1"/>
          <p:nvPr/>
        </p:nvSpPr>
        <p:spPr>
          <a:xfrm>
            <a:off x="493986" y="4204138"/>
            <a:ext cx="101214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1180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E551B-8823-E8DA-794B-7E85F392B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0709"/>
          </a:xfrm>
        </p:spPr>
        <p:txBody>
          <a:bodyPr/>
          <a:lstStyle/>
          <a:p>
            <a:pPr algn="ctr"/>
            <a:r>
              <a:rPr lang="en-IN" dirty="0"/>
              <a:t>Predictive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13146-62C1-1DDA-C130-6B225233B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600200"/>
            <a:ext cx="10334297" cy="2446283"/>
          </a:xfrm>
        </p:spPr>
        <p:txBody>
          <a:bodyPr/>
          <a:lstStyle/>
          <a:p>
            <a:pPr lvl="0"/>
            <a:r>
              <a:rPr lang="en-IN" dirty="0"/>
              <a:t>Built multiple classification models to predict landing success. </a:t>
            </a:r>
          </a:p>
          <a:p>
            <a:pPr lvl="0"/>
            <a:r>
              <a:rPr lang="en-IN" dirty="0"/>
              <a:t>Compared model performance using evaluation metrics. </a:t>
            </a:r>
          </a:p>
          <a:p>
            <a:pPr lvl="0"/>
            <a:r>
              <a:rPr lang="en-IN" dirty="0"/>
              <a:t>Selected the best-performing model based on prediction accuracy.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76B4E-F21C-2A32-5B48-C9E19C7E4FA5}"/>
              </a:ext>
            </a:extLst>
          </p:cNvPr>
          <p:cNvSpPr txBox="1"/>
          <p:nvPr/>
        </p:nvSpPr>
        <p:spPr>
          <a:xfrm>
            <a:off x="1008993" y="4046483"/>
            <a:ext cx="937522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139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This project integrates data collection, EDA, SQL, interactive dashboards, and machine learning to predict Falcon 9 landing success.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fontScale="92500"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achieved good predictive performance with no false negatives, although a few unsuccessful missions were classified as successful.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fontScale="92500"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EC7309-8596-7107-C27A-A456A4AA6061}"/>
              </a:ext>
            </a:extLst>
          </p:cNvPr>
          <p:cNvSpPr txBox="1"/>
          <p:nvPr/>
        </p:nvSpPr>
        <p:spPr>
          <a:xfrm>
            <a:off x="4382814" y="5833241"/>
            <a:ext cx="63272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Results – Visualizations &amp; Dashboard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9813-A814-1BC2-62A6-93F767A71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510"/>
            <a:ext cx="10515600" cy="1300751"/>
          </a:xfrm>
        </p:spPr>
        <p:txBody>
          <a:bodyPr/>
          <a:lstStyle/>
          <a:p>
            <a:pPr algn="ctr"/>
            <a:r>
              <a:rPr lang="en-IN" dirty="0"/>
              <a:t>Interactive Dashboard (Plotly Dash)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95187-D8E7-1445-177F-C01F1184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91862"/>
            <a:ext cx="7273160" cy="3661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81C8C4-68A1-2EE2-5BB7-1D90EA1B7AB5}"/>
              </a:ext>
            </a:extLst>
          </p:cNvPr>
          <p:cNvSpPr txBox="1"/>
          <p:nvPr/>
        </p:nvSpPr>
        <p:spPr>
          <a:xfrm>
            <a:off x="304800" y="1305004"/>
            <a:ext cx="6968360" cy="899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Total Success Launches by All Sites (Pie Chart)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16A18-9365-1CC9-E029-E790959521D5}"/>
              </a:ext>
            </a:extLst>
          </p:cNvPr>
          <p:cNvSpPr txBox="1"/>
          <p:nvPr/>
        </p:nvSpPr>
        <p:spPr>
          <a:xfrm>
            <a:off x="7525406" y="1523999"/>
            <a:ext cx="4582511" cy="3920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endParaRPr lang="en-IN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Interactive dashboard developed using Plotly Dash.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Displays successful launches across all launch sites.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KSC LC-39A recorded the highest number of successful launches.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Figure: Plotly Dash dashboard showing the success distribution across all launch sites.</a:t>
            </a:r>
          </a:p>
          <a:p>
            <a:endParaRPr lang="en-IN" b="1" dirty="0"/>
          </a:p>
          <a:p>
            <a:endParaRPr lang="en-IN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0C29C3-F997-DC2E-874B-0CFB9BF32257}"/>
              </a:ext>
            </a:extLst>
          </p:cNvPr>
          <p:cNvSpPr txBox="1"/>
          <p:nvPr/>
        </p:nvSpPr>
        <p:spPr>
          <a:xfrm>
            <a:off x="4267200" y="5444358"/>
            <a:ext cx="65584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36824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CB6F-FDDE-4983-F5C9-64134F73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166"/>
            <a:ext cx="10515600" cy="1103585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Launch Site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A1914-EB1F-F6D5-D0EA-9612FBDD35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3" y="2090770"/>
            <a:ext cx="6378184" cy="3723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438A3-4C72-BAC9-E68E-5A5A41E90A9F}"/>
              </a:ext>
            </a:extLst>
          </p:cNvPr>
          <p:cNvSpPr txBox="1"/>
          <p:nvPr/>
        </p:nvSpPr>
        <p:spPr>
          <a:xfrm>
            <a:off x="641131" y="1450428"/>
            <a:ext cx="5244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KSC LC-39A: Success vs Failure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80D13-CE90-B962-BD21-B43E71A82956}"/>
              </a:ext>
            </a:extLst>
          </p:cNvPr>
          <p:cNvSpPr txBox="1"/>
          <p:nvPr/>
        </p:nvSpPr>
        <p:spPr>
          <a:xfrm>
            <a:off x="7052441" y="1545021"/>
            <a:ext cx="50554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Shows the success and failure distribution for </a:t>
            </a:r>
            <a:r>
              <a:rPr lang="en-IN" sz="2000" b="1" dirty="0"/>
              <a:t>KSC LC-39A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Approximately </a:t>
            </a:r>
            <a:r>
              <a:rPr lang="en-IN" sz="2000" b="1" dirty="0"/>
              <a:t>76.9%</a:t>
            </a:r>
            <a:r>
              <a:rPr lang="en-IN" sz="2000" dirty="0"/>
              <a:t> of launches were successful.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Helps compare mission outcomes at the selected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Demonstrates the effectiveness of Falcon 9 operations at KSC LC-39A.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2260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E5FB-429A-F315-DCE0-C13A1100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866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Interactive Launch Site Map (Folium)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D86E98-4263-2F1D-5287-315E04DC5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1833019"/>
            <a:ext cx="5875284" cy="4189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413E06-F946-BEBE-D121-BE68ED4BE8E5}"/>
              </a:ext>
            </a:extLst>
          </p:cNvPr>
          <p:cNvSpPr txBox="1"/>
          <p:nvPr/>
        </p:nvSpPr>
        <p:spPr>
          <a:xfrm>
            <a:off x="268014" y="1342574"/>
            <a:ext cx="509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Launch Site Distribution (Folium)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E726F-C34A-346B-82B1-9374006BC031}"/>
              </a:ext>
            </a:extLst>
          </p:cNvPr>
          <p:cNvSpPr txBox="1"/>
          <p:nvPr/>
        </p:nvSpPr>
        <p:spPr>
          <a:xfrm>
            <a:off x="5948855" y="1314189"/>
            <a:ext cx="597513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Visualized Falcon 9 launch sites using Folium.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Interactive markers display launch site locations and launch counts.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CCAFS SLC-40 recorded the highest number of Falcon 9 launches, indicating it was the most active launch site.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Geographic analysis helped compare launch site distribution.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Location-based visualization helped identify launch site patterns and supported predictive analysis.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0604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48104-5359-D9D2-0BA8-81B126A22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18428" cy="1208689"/>
          </a:xfrm>
        </p:spPr>
        <p:txBody>
          <a:bodyPr/>
          <a:lstStyle/>
          <a:p>
            <a:pPr algn="ctr"/>
            <a:r>
              <a:rPr lang="en-IN" dirty="0"/>
              <a:t>Interactive Marker Cluster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D553D-4216-F30D-8BD9-FA660DE0C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3558" y="1397875"/>
            <a:ext cx="5454869" cy="4774324"/>
          </a:xfrm>
        </p:spPr>
        <p:txBody>
          <a:bodyPr>
            <a:normAutofit/>
          </a:bodyPr>
          <a:lstStyle/>
          <a:p>
            <a:r>
              <a:rPr lang="en-IN" b="1" dirty="0"/>
              <a:t>Key Findings:</a:t>
            </a:r>
          </a:p>
          <a:p>
            <a:pPr lvl="0"/>
            <a:r>
              <a:rPr lang="en-IN" sz="2000" dirty="0"/>
              <a:t>Folium was used to visualize individual Falcon 9 launch records at </a:t>
            </a:r>
            <a:r>
              <a:rPr lang="en-IN" sz="2000" b="1" dirty="0"/>
              <a:t>CCAFS SLC-40</a:t>
            </a:r>
            <a:r>
              <a:rPr lang="en-IN" sz="2000" dirty="0"/>
              <a:t>. </a:t>
            </a:r>
          </a:p>
          <a:p>
            <a:pPr lvl="0"/>
            <a:r>
              <a:rPr lang="en-IN" sz="2000" b="1" dirty="0"/>
              <a:t>Green markers</a:t>
            </a:r>
            <a:r>
              <a:rPr lang="en-IN" sz="2000" dirty="0"/>
              <a:t> represent successful launches, while </a:t>
            </a:r>
            <a:r>
              <a:rPr lang="en-IN" sz="2000" b="1" dirty="0"/>
              <a:t>red markers</a:t>
            </a:r>
            <a:r>
              <a:rPr lang="en-IN" sz="2000" dirty="0"/>
              <a:t> represent failed launches. </a:t>
            </a:r>
          </a:p>
          <a:p>
            <a:pPr lvl="0"/>
            <a:r>
              <a:rPr lang="en-IN" sz="2000" dirty="0"/>
              <a:t>Marker clustering improves map readability when multiple launches occur at the same site. </a:t>
            </a:r>
          </a:p>
          <a:p>
            <a:pPr lvl="0"/>
            <a:r>
              <a:rPr lang="en-IN" sz="2000" dirty="0"/>
              <a:t>The visualization supports geographic analysis and helps compare launch outcomes across the launch site.</a:t>
            </a:r>
            <a:endParaRPr lang="en-IN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31602F-9F6D-8A49-4FE0-53D3025FC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" y="1397875"/>
            <a:ext cx="6537434" cy="468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851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697E-E9ED-A44D-FEBB-F5AA6CFBC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61241"/>
          </a:xfrm>
        </p:spPr>
        <p:txBody>
          <a:bodyPr/>
          <a:lstStyle/>
          <a:p>
            <a:pPr algn="ctr"/>
            <a:r>
              <a:rPr lang="en-IN" dirty="0"/>
              <a:t>Payload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804D26-1F0B-5B1C-791A-130630574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22300"/>
            <a:ext cx="7420302" cy="337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E8BA3-6A6E-E744-C144-36D5F640DA76}"/>
              </a:ext>
            </a:extLst>
          </p:cNvPr>
          <p:cNvSpPr txBox="1"/>
          <p:nvPr/>
        </p:nvSpPr>
        <p:spPr>
          <a:xfrm>
            <a:off x="241738" y="1460938"/>
            <a:ext cx="68947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Payload vs Launch Success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292C6-04FE-466A-2AA9-2884D4A0E718}"/>
              </a:ext>
            </a:extLst>
          </p:cNvPr>
          <p:cNvSpPr txBox="1"/>
          <p:nvPr/>
        </p:nvSpPr>
        <p:spPr>
          <a:xfrm>
            <a:off x="7420302" y="1460938"/>
            <a:ext cx="4771697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 influences launch success differently across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Lower payloads generally show higher success rates.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Scatter plot helps identify relationships between payload, booster version, and landing outcome.</a:t>
            </a:r>
          </a:p>
          <a:p>
            <a:endParaRPr lang="en-IN" sz="2400" b="1" dirty="0"/>
          </a:p>
          <a:p>
            <a:pPr algn="ctr"/>
            <a:r>
              <a:rPr lang="en-IN" sz="2000" b="1" dirty="0"/>
              <a:t>GitHub Repository:</a:t>
            </a:r>
          </a:p>
          <a:p>
            <a:pPr algn="ctr"/>
            <a:endParaRPr lang="en-IN" sz="24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65568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097407" cy="1198179"/>
          </a:xfrm>
        </p:spPr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4595" y="1198180"/>
            <a:ext cx="5633544" cy="4803228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Key Takeaways</a:t>
            </a:r>
          </a:p>
          <a:p>
            <a:pPr lvl="0"/>
            <a:r>
              <a:rPr lang="en-IN" sz="2200" dirty="0"/>
              <a:t>The analysis identified several factors that influence SpaceX Falcon 9 landing success. </a:t>
            </a:r>
          </a:p>
          <a:p>
            <a:pPr lvl="0"/>
            <a:r>
              <a:rPr lang="en-IN" sz="2200" dirty="0"/>
              <a:t>Flight Number showed a positive relationship with landing success. </a:t>
            </a:r>
          </a:p>
          <a:p>
            <a:pPr lvl="0"/>
            <a:r>
              <a:rPr lang="en-IN" sz="2200" dirty="0"/>
              <a:t>Payload mass, orbit type, and launch site were key factors influencing landing success. </a:t>
            </a:r>
          </a:p>
          <a:p>
            <a:pPr lvl="0"/>
            <a:r>
              <a:rPr lang="en-IN" sz="2200" dirty="0"/>
              <a:t>The project successfully combined </a:t>
            </a:r>
            <a:r>
              <a:rPr lang="en-IN" sz="2200" b="1" dirty="0"/>
              <a:t>SQL, Python, Plotly Dash, and Folium</a:t>
            </a:r>
            <a:r>
              <a:rPr lang="en-IN" sz="2200" dirty="0"/>
              <a:t> to analyze Falcon 9 launch data and support predictive insights.</a:t>
            </a:r>
          </a:p>
          <a:p>
            <a:pPr lvl="0"/>
            <a:r>
              <a:rPr lang="en-IN" sz="2200" b="1" dirty="0"/>
              <a:t>Future Work:</a:t>
            </a:r>
            <a:r>
              <a:rPr lang="en-IN" sz="2200" dirty="0"/>
              <a:t> Incorporate weather conditions and real-time launch data to further improve prediction accuracy.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27835" y="1082566"/>
            <a:ext cx="6264164" cy="4288220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200" dirty="0"/>
              <a:t>Landing success rates improved significantly over time, reaching their highest levels by 2019 and remaining consistently high thereafter.</a:t>
            </a:r>
          </a:p>
          <a:p>
            <a:r>
              <a:rPr lang="en-IN" sz="2200" dirty="0"/>
              <a:t>Historical launch data provides valuable insights into Falcon 9 landing success and supports data-driven decision-making.</a:t>
            </a:r>
          </a:p>
          <a:p>
            <a:r>
              <a:rPr lang="en-IN" sz="2200" dirty="0"/>
              <a:t>The Random Forest classifier achieved the best prediction performance among the evaluated machine learning models.</a:t>
            </a:r>
          </a:p>
          <a:p>
            <a:r>
              <a:rPr lang="en-IN" sz="2400" dirty="0"/>
              <a:t>Combining SQL analysis, EDA, Folium mapping, Plotly Dash, and machine learning provided a comprehensive understanding of Falcon 9 landing success.</a:t>
            </a:r>
            <a:endParaRPr lang="en-IN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7F8652-3473-2E34-080F-29094B28A091}"/>
              </a:ext>
            </a:extLst>
          </p:cNvPr>
          <p:cNvSpPr txBox="1"/>
          <p:nvPr/>
        </p:nvSpPr>
        <p:spPr>
          <a:xfrm>
            <a:off x="3678621" y="5623034"/>
            <a:ext cx="65689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1AAAE-35F9-B79F-6905-4E8B93B93625}"/>
              </a:ext>
            </a:extLst>
          </p:cNvPr>
          <p:cNvSpPr txBox="1"/>
          <p:nvPr/>
        </p:nvSpPr>
        <p:spPr>
          <a:xfrm>
            <a:off x="0" y="-12312"/>
            <a:ext cx="12192000" cy="7817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pPr algn="ctr"/>
            <a:r>
              <a:rPr lang="en-US" sz="5600" dirty="0"/>
              <a:t>Thank You!</a:t>
            </a:r>
          </a:p>
          <a:p>
            <a:endParaRPr lang="en-US" dirty="0"/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  <a:p>
            <a:pPr algn="ctr"/>
            <a:endParaRPr lang="en-IN" sz="3000" b="1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algn="ctr"/>
            <a:r>
              <a:rPr lang="en-IN" sz="2800" b="1" dirty="0"/>
              <a:t>Questions?</a:t>
            </a:r>
            <a:endParaRPr lang="en-IN" sz="2800" dirty="0"/>
          </a:p>
          <a:p>
            <a:r>
              <a:rPr lang="en-IN" dirty="0"/>
              <a:t>                                                                           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411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f80a141d-92ca-4d3d-9308-f7e7b1d44ce8"/>
    <ds:schemaRef ds:uri="http://purl.org/dc/elements/1.1/"/>
    <ds:schemaRef ds:uri="155be751-a274-42e8-93fb-f39d3b9bccc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2325</TotalTime>
  <Words>2615</Words>
  <Application>Microsoft Office PowerPoint</Application>
  <PresentationFormat>Widescreen</PresentationFormat>
  <Paragraphs>345</Paragraphs>
  <Slides>36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Introduction</vt:lpstr>
      <vt:lpstr>Executive Summary</vt:lpstr>
      <vt:lpstr>Methodology</vt:lpstr>
      <vt:lpstr>Data Collection using SpaceX API</vt:lpstr>
      <vt:lpstr>Data Collection using Wikipedia Web Scraping </vt:lpstr>
      <vt:lpstr> Data Wrangling</vt:lpstr>
      <vt:lpstr>EDA using Visualizations</vt:lpstr>
      <vt:lpstr>EDA using SQL</vt:lpstr>
      <vt:lpstr>EDA Using SQL Queries (Part 1)</vt:lpstr>
      <vt:lpstr>EDA Using SQL Queries (Part 2)</vt:lpstr>
      <vt:lpstr>EDA Using SQL Queries (Part 3)</vt:lpstr>
      <vt:lpstr>Interactive Visual Analytics (Folium &amp; Plotly Dash)</vt:lpstr>
      <vt:lpstr>Predictive Analysis</vt:lpstr>
      <vt:lpstr>Results</vt:lpstr>
      <vt:lpstr>Flight Number vs. Launch Site</vt:lpstr>
      <vt:lpstr>Payload Mass vs. Launch Site</vt:lpstr>
      <vt:lpstr>Flight Number vs. Orbit</vt:lpstr>
      <vt:lpstr>Success Rate by Orbit 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Interactive Dashboard (Plotly Dash)</vt:lpstr>
      <vt:lpstr>Launch Site Analysis</vt:lpstr>
      <vt:lpstr>Interactive Launch Site Map (Folium)</vt:lpstr>
      <vt:lpstr>Interactive Marker Cluster Analysis</vt:lpstr>
      <vt:lpstr>Payload Analysis</vt:lpstr>
      <vt:lpstr>Conclusion </vt:lpstr>
      <vt:lpstr>GITHUB REPOSITORY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177</cp:revision>
  <dcterms:created xsi:type="dcterms:W3CDTF">2024-10-30T05:40:03Z</dcterms:created>
  <dcterms:modified xsi:type="dcterms:W3CDTF">2026-08-03T23:03:20Z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